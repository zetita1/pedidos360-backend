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 "Buenas tardes. En esta etapa incorporamos RabbitMQ a Pedidos360: el sistema que ya teniamos, con identidad en Azure y trafico por AWS, ahora resuelve de forma asincrona todo lo que el usuario no necesita esperar. La idea que voy a sostener es que la mensajeria esta desacoplada: si falla, el pedido igual se guarda."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"Antes, confirmar un pedido hacia todo de corrido: descontar stock, generar el documento y avisarle al cliente. Si la generacion del documento fallaba, se caia la confirmacion completa. Ahora el microservicio de pedidos publica un evento y responde de inmediato; el aviso y el ticket los generan consumidores aparte, con reintentos. Lo importante: no cambiamos la logica del pedido, la mensajeria se agrego al 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"Esta es la arquitectura con la mensajeria dentro. La identidad sigue en Entra External ID y todo el trafico sigue entrando por el API Gateway de AWS, que valida el JWT. Lo nuevo esta detras: cuando ms-pedidos guarda un cambio, publica un evento en RabbitMQ y responde de inmediato. El broker es un cluster de dos nodos. Tiene dos exchanges: uno topic para los hechos de dominio y uno direct para los comandos. Del otro lado, ms-notificaciones consume con tres consumidores agrupados por dominio. RabbitMQ escucha solo dentro de la instancia: no expone ningun puerto nuevo a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"El broker no es un contenedor suelto: son dos nodos en cluster, levantados con un solo docker compose. Se descubren entre ellos por configuracion declarativa, classic_config, asi que no hay que ejecutar join_cluster a mano; comparten la cookie de Erlang, que es lo que les permite hablarse, y si se pierden de vista resuelven la particion solos con autoheal. Aqui esta el cluster_status: los dos nodos aparecen en Running Nodes. Los microservicios se conectan a los dos con spring.rabbitmq.addresses, asi que si uno cae el cliente reintenta contra el otro."
Comando para mostrarlo en vivo: docker exec pedidos360-rabbit1 rabbitmqctl cluster_status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"Tenemos dos exchanges y la diferencia no es decorativa. El topic, pedidos360.eventos, lleva los hechos de dominio: enruta por patron y el mismo hecho puede llegar a varias colas; por ahi van pedido creado, confirmado y cambio de estado. El direct, pedidos360.comandos, lleva ordenes: enruta por coincidencia exacta de la routing key, porque hay un unico responsable de ejecutarla. Por ahi va la anulacion hacia auditoria. Si eso fuera topic, manana alguien enlaza otra cola al patron y la operacion se registra dos veces."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"Cada caso de uso tiene su propia cola, y cada cola tiene dos acompanantes: una cola de espera para los reintentos y una DLQ para lo que no se pudo procesar. Son nueve colas en total y las declara la aplicacion al arrancar, no se crean a mano. Separarlas importa: si falla la generacion de tickets, los avisos al cliente siguen saliendo, y la auditoria no depende de ninguno de los 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"Todos los nombres de colas, exchanges y routing keys estan en el application.yml, bajo pedidos360.mensajeria, y los lee una sola clase de propiedades. La topologia se declara en beans de Queue, Exchange y Binding, uno por cada ruta de mensajeria, con su nombre y su comentario: diecinueve beans en total. El codigo de negocio no sabe nada de esto: pide la cola por su nombre logico. Cambiar una cola es editar una linea del yml."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10 s: "El ACK es manual: el consumidor decide. Si todo salio bien, confirma con basicAck y el mensaje sale de la cola. Si el error es recuperable, por ejemplo la base no responde, el mensaje se reenvia a la cola de espera, que lo devuelve a los cinco segundos; al tercer intento se descarta a la DLQ con el motivo en la cabecera. Y si el error es no recuperable, por ejemplo un evento sin numero de pedido, va directo a la DLQ sin gastar reintentos, porque reintentarlo daria siempre lo mismo. El reencolado automatico esta desactivado a proposito: un mensaje nunca vuelve en bucle a la misma cola. Ademas los consumidores son idempotentes: guardan el id del evento, asi que una entrega repetida no duplica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"Esto es la mensajeria corriendo. El script publica los cuatro eventos validos, que se consumen y generan el aviso, el ticket y el registro de auditoria, y dos eventos invalidos a proposito: uno sin numero de pedido y una anulacion sin responsable. Los dos terminan en la DLQ de su propia cola, con el motivo en el log, y ningun consumidor se cae. Fijense en que las colas principales quedan en cero: todo lo valido se proceso."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"El tercer microservicio administra el broker por REST. Expone colas, exchanges, bindings y la topologia, con verbos y rutas que siguen el diseno REST: POST colas para crear, DELETE colas con el nombre para eliminar. Toda la conversacion con RabbitMQ esta encapsulada en RabbitAdminService: los controladores llaman metodos de alto nivel y no saben nada de RabbitAdmin ni de argumentos de dead letter. La entrada se valida con DTO anotados: un nombre vacio responde 400 antes de tocar el broker. Y la topologia que usa la aplicacion esta protegida: intentar borrarla responde 409, para no dejar el sistema sin mensajeria por un clic."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"En la nube es el mismo archivo: dentro de la instancia EC2, docker compose levanta los dos nodos, y el cluster_status se ve igual que en local. El broker escucha solo en localhost dentro de la instancia, asi que no abrimos ningun puerto nuevo a internet; para ver la consola usamos un tunel SSH. El frontend sigue publicado en Amplify y el backend detras del API Gateway, que valida el JWT: la mensajeria no cambio nada de eso."
Antes de presentar: Start Lab, encender la instancia, docker compose up -d y comprobar /health.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"Un repaso rapido de lo que ya estaba, porque la pauta lo pide y sigue funcionando igual. El tenant de Entra External ID con sus usuarios y roles; el login con Authorization Code y PKCE, donde se ve el code challenge con S256; y el API Gateway con su autorizador JWT, que rechaza lo invalido antes de que llegue al EC2. La mensajeria se monto encima de eso sin tocarlo: los consumidores no exponen escritura por HTTP, solo dejan consultar lo que generaron."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"En resumen: la mensajeria quedo desacoplada, el pedido responde solo y el resto viaja por la cola; ningun mensaje se pierde, porque el ACK es manual y lo que falla termina en su DLQ con el motivo; y toda la configuracion vive en un solo lugar. ¿Preguntas?"
Respuestas cortas:
- ¿Por que un cluster? Disponibilidad: si un nodo cae, el cliente reintenta contra el otro.
- ¿Topic o direct? Topic difunde un hecho; direct entrega una orden a un unico responsable.
- ¿Y si el consumidor falla siempre? Tres intentos y a la DLQ, que queda para revisar o reprocesar.
- ¿Se pueden duplicar los avisos? No: cada consumidor guarda el eventoId y descarta el repetido.
- ¿Quien puede crear colas? Solo el rol Pedidos.Admin, y la topologia del sistema esta protegida.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joshu\AppData\Local\Temp\claude\C--Users-joshu-Desktop-CloudDevRamo\d162bf51-ad36-4a2b-981d-7f5a95d9a76d\scratchpad\ppt4\capas\s1.png">    </p:cNvPr>
          <p:cNvPicPr>
            <a:picLocks noChangeAspect="1"/>
          </p:cNvPicPr>
          <p:nvPr/>
        </p:nvPicPr>
        <p:blipFill>
          <a:blip r:embed="rId2"/>
          <a:stretch>
            <a:fillRect/>
          </a:stretch>
        </p:blipFill>
        <p:spPr>
          <a:xfrm>
            <a:off x="0" y="0"/>
            <a:ext cx="12191695" cy="6858000"/>
          </a:xfrm>
          <a:prstGeom prst="rect">
            <a:avLst/>
          </a:prstGeom>
        </p:spPr>
      </p:pic>
      <p:sp>
        <p:nvSpPr>
          <p:cNvPr id="3" name="Text 0"/>
          <p:cNvSpPr txBox="1"/>
          <p:nvPr/>
        </p:nvSpPr>
        <p:spPr>
          <a:xfrm>
            <a:off x="731520" y="640080"/>
            <a:ext cx="6583680" cy="1188720"/>
          </a:xfrm>
          <a:prstGeom prst="rect">
            <a:avLst/>
          </a:prstGeom>
          <a:noFill/>
          <a:ln/>
        </p:spPr>
        <p:txBody>
          <a:bodyPr wrap="square" lIns="0" tIns="0" rIns="0" bIns="0" rtlCol="0" anchor="t"/>
          <a:lstStyle/>
          <a:p>
            <a:pPr indent="0" marL="0">
              <a:buNone/>
            </a:pPr>
            <a:r>
              <a:rPr lang="en-US" sz="7400" dirty="0">
                <a:solidFill>
                  <a:srgbClr val="1B2B4B"/>
                </a:solidFill>
                <a:latin typeface="Ink Free" pitchFamily="34" charset="0"/>
                <a:ea typeface="Ink Free" pitchFamily="34" charset="-122"/>
                <a:cs typeface="Ink Free" pitchFamily="34" charset="-120"/>
              </a:rPr>
              <a:t>Pedidos360</a:t>
            </a:r>
            <a:endParaRPr lang="en-US" sz="7400" dirty="0"/>
          </a:p>
        </p:txBody>
      </p:sp>
      <p:sp>
        <p:nvSpPr>
          <p:cNvPr id="4" name="Text 1"/>
          <p:cNvSpPr txBox="1"/>
          <p:nvPr/>
        </p:nvSpPr>
        <p:spPr>
          <a:xfrm>
            <a:off x="731520" y="2057400"/>
            <a:ext cx="6766560" cy="548640"/>
          </a:xfrm>
          <a:prstGeom prst="rect">
            <a:avLst/>
          </a:prstGeom>
          <a:noFill/>
          <a:ln/>
        </p:spPr>
        <p:txBody>
          <a:bodyPr wrap="square" lIns="0" tIns="0" rIns="0" bIns="0" rtlCol="0" anchor="ctr"/>
          <a:lstStyle/>
          <a:p>
            <a:pPr indent="0" marL="0">
              <a:buNone/>
            </a:pPr>
            <a:r>
              <a:rPr lang="en-US" sz="2600" dirty="0">
                <a:solidFill>
                  <a:srgbClr val="1B2B4B"/>
                </a:solidFill>
                <a:latin typeface="Ink Free" pitchFamily="34" charset="0"/>
                <a:ea typeface="Ink Free" pitchFamily="34" charset="-122"/>
                <a:cs typeface="Ink Free" pitchFamily="34" charset="-120"/>
              </a:rPr>
              <a:t>mensajeria asincrona con </a:t>
            </a:r>
            <a:pPr indent="0" marL="0">
              <a:buNone/>
            </a:pPr>
            <a:r>
              <a:rPr lang="en-US" sz="2600" b="1" dirty="0">
                <a:solidFill>
                  <a:srgbClr val="C24E00"/>
                </a:solidFill>
                <a:latin typeface="Ink Free" pitchFamily="34" charset="0"/>
                <a:ea typeface="Ink Free" pitchFamily="34" charset="-122"/>
                <a:cs typeface="Ink Free" pitchFamily="34" charset="-120"/>
              </a:rPr>
              <a:t>RabbitMQ</a:t>
            </a:r>
            <a:pPr indent="0" marL="0">
              <a:buNone/>
            </a:pPr>
            <a:r>
              <a:rPr lang="en-US" sz="2600" dirty="0">
                <a:solidFill>
                  <a:srgbClr val="1B2B4B"/>
                </a:solidFill>
                <a:latin typeface="Ink Free" pitchFamily="34" charset="0"/>
                <a:ea typeface="Ink Free" pitchFamily="34" charset="-122"/>
                <a:cs typeface="Ink Free" pitchFamily="34" charset="-120"/>
              </a:rPr>
              <a:t> en cluster</a:t>
            </a:r>
            <a:endParaRPr lang="en-US" sz="2600" dirty="0"/>
          </a:p>
        </p:txBody>
      </p:sp>
      <p:sp>
        <p:nvSpPr>
          <p:cNvPr id="5" name="Text 2"/>
          <p:cNvSpPr txBox="1"/>
          <p:nvPr/>
        </p:nvSpPr>
        <p:spPr>
          <a:xfrm>
            <a:off x="731520" y="2743200"/>
            <a:ext cx="6217920" cy="731520"/>
          </a:xfrm>
          <a:prstGeom prst="rect">
            <a:avLst/>
          </a:prstGeom>
          <a:noFill/>
          <a:ln/>
        </p:spPr>
        <p:txBody>
          <a:bodyPr wrap="square" lIns="0" tIns="0" rIns="0" bIns="0" rtlCol="0" anchor="t"/>
          <a:lstStyle/>
          <a:p>
            <a:pPr indent="0" marL="0">
              <a:buNone/>
            </a:pPr>
            <a:r>
              <a:rPr lang="en-US" sz="1250" dirty="0">
                <a:solidFill>
                  <a:srgbClr val="5B6578"/>
                </a:solidFill>
                <a:latin typeface="Segoe UI" pitchFamily="34" charset="0"/>
                <a:ea typeface="Segoe UI" pitchFamily="34" charset="-122"/>
                <a:cs typeface="Segoe UI" pitchFamily="34" charset="-120"/>
              </a:rPr>
              <a:t>Dos nodos en cluster · exchanges topic y direct · tres colas con su DLQ · ACK manual con reintentos · microservicio administrador</a:t>
            </a:r>
            <a:endParaRPr lang="en-US" sz="1250" dirty="0"/>
          </a:p>
        </p:txBody>
      </p:sp>
      <p:sp>
        <p:nvSpPr>
          <p:cNvPr id="6" name="Shape 3"/>
          <p:cNvSpPr/>
          <p:nvPr/>
        </p:nvSpPr>
        <p:spPr>
          <a:xfrm rot="120000">
            <a:off x="7360920" y="777240"/>
            <a:ext cx="4206240" cy="2834640"/>
          </a:xfrm>
          <a:prstGeom prst="rect">
            <a:avLst/>
          </a:prstGeom>
          <a:solidFill>
            <a:srgbClr val="FFFFFF"/>
          </a:solidFill>
          <a:ln w="6350">
            <a:solidFill>
              <a:srgbClr val="D9D9D9"/>
            </a:solidFill>
            <a:prstDash val="solid"/>
          </a:ln>
          <a:effectLst>
            <a:outerShdw sx="100000" sy="100000" kx="0" ky="0" algn="bl" rotWithShape="0" blurRad="101600" dist="50800" dir="3600000">
              <a:srgbClr val="000000">
                <a:alpha val="28000"/>
              </a:srgbClr>
            </a:outerShdw>
          </a:effectLst>
        </p:spPr>
      </p:sp>
      <p:sp>
        <p:nvSpPr>
          <p:cNvPr id="7" name="Shape 4"/>
          <p:cNvSpPr/>
          <p:nvPr/>
        </p:nvSpPr>
        <p:spPr>
          <a:xfrm rot="-240000">
            <a:off x="9052560" y="621792"/>
            <a:ext cx="868680" cy="274320"/>
          </a:xfrm>
          <a:prstGeom prst="rect">
            <a:avLst/>
          </a:prstGeom>
          <a:solidFill>
            <a:srgbClr val="FFB787">
              <a:alpha val="75000"/>
            </a:srgbClr>
          </a:solidFill>
          <a:ln w="12700">
            <a:solidFill>
              <a:srgbClr val="FFB787">
                <a:alpha val="0"/>
              </a:srgbClr>
            </a:solidFill>
            <a:prstDash val="solid"/>
          </a:ln>
        </p:spPr>
      </p:sp>
      <p:sp>
        <p:nvSpPr>
          <p:cNvPr id="8" name="Text 5"/>
          <p:cNvSpPr txBox="1"/>
          <p:nvPr/>
        </p:nvSpPr>
        <p:spPr>
          <a:xfrm rot="120000">
            <a:off x="7635240" y="932688"/>
            <a:ext cx="3703320" cy="2560320"/>
          </a:xfrm>
          <a:prstGeom prst="rect">
            <a:avLst/>
          </a:prstGeom>
          <a:noFill/>
          <a:ln/>
        </p:spPr>
        <p:txBody>
          <a:bodyPr wrap="square" lIns="0" tIns="0" rIns="0" bIns="0" rtlCol="0" anchor="t"/>
          <a:lstStyle/>
          <a:p>
            <a:pPr indent="0" marL="0">
              <a:buNone/>
            </a:pPr>
            <a:r>
              <a:rPr lang="en-US" sz="1700" dirty="0">
                <a:solidFill>
                  <a:srgbClr val="D6453D"/>
                </a:solidFill>
                <a:latin typeface="Ink Free" pitchFamily="34" charset="0"/>
                <a:ea typeface="Ink Free" pitchFamily="34" charset="-122"/>
                <a:cs typeface="Ink Free" pitchFamily="34" charset="-120"/>
              </a:rPr>
              <a:t>Evaluación Parcial N°4 · Presentación</a:t>
            </a:r>
            <a:endParaRPr lang="en-US" sz="1700" dirty="0"/>
          </a:p>
          <a:p>
            <a:pPr indent="0" marL="0">
              <a:buNone/>
            </a:pPr>
            <a:r>
              <a:rPr lang="en-US" sz="1000" dirty="0">
                <a:solidFill>
                  <a:srgbClr val="5B6578"/>
                </a:solidFill>
                <a:latin typeface="Segoe UI" pitchFamily="34" charset="0"/>
                <a:ea typeface="Segoe UI" pitchFamily="34" charset="-122"/>
                <a:cs typeface="Segoe UI" pitchFamily="34" charset="-120"/>
              </a:rPr>
              <a:t>Asignatura</a:t>
            </a:r>
            <a:endParaRPr lang="en-US" sz="1700" dirty="0"/>
          </a:p>
          <a:p>
            <a:pPr indent="0" marL="0">
              <a:buNone/>
            </a:pPr>
            <a:r>
              <a:rPr lang="en-US" sz="1300" b="1" dirty="0">
                <a:solidFill>
                  <a:srgbClr val="1B2B4B"/>
                </a:solidFill>
                <a:latin typeface="Segoe UI" pitchFamily="34" charset="0"/>
                <a:ea typeface="Segoe UI" pitchFamily="34" charset="-122"/>
                <a:cs typeface="Segoe UI" pitchFamily="34" charset="-120"/>
              </a:rPr>
              <a:t>Desarrollo Cloud Native I (DSY1107)</a:t>
            </a:r>
            <a:endParaRPr lang="en-US" sz="1700" dirty="0"/>
          </a:p>
          <a:p>
            <a:pPr indent="0" marL="0">
              <a:buNone/>
            </a:pPr>
            <a:r>
              <a:rPr lang="en-US" sz="1000" dirty="0">
                <a:solidFill>
                  <a:srgbClr val="5B6578"/>
                </a:solidFill>
                <a:latin typeface="Segoe UI" pitchFamily="34" charset="0"/>
                <a:ea typeface="Segoe UI" pitchFamily="34" charset="-122"/>
                <a:cs typeface="Segoe UI" pitchFamily="34" charset="-120"/>
              </a:rPr>
              <a:t>Sección</a:t>
            </a:r>
            <a:endParaRPr lang="en-US" sz="1700" dirty="0"/>
          </a:p>
          <a:p>
            <a:pPr indent="0" marL="0">
              <a:buNone/>
            </a:pPr>
            <a:r>
              <a:rPr lang="en-US" sz="1300" b="1" dirty="0">
                <a:solidFill>
                  <a:srgbClr val="1B2B4B"/>
                </a:solidFill>
                <a:latin typeface="Segoe UI" pitchFamily="34" charset="0"/>
                <a:ea typeface="Segoe UI" pitchFamily="34" charset="-122"/>
                <a:cs typeface="Segoe UI" pitchFamily="34" charset="-120"/>
              </a:rPr>
              <a:t>005V</a:t>
            </a:r>
            <a:endParaRPr lang="en-US" sz="1700" dirty="0"/>
          </a:p>
          <a:p>
            <a:pPr indent="0" marL="0">
              <a:buNone/>
            </a:pPr>
            <a:r>
              <a:rPr lang="en-US" sz="1000" dirty="0">
                <a:solidFill>
                  <a:srgbClr val="5B6578"/>
                </a:solidFill>
                <a:latin typeface="Segoe UI" pitchFamily="34" charset="0"/>
                <a:ea typeface="Segoe UI" pitchFamily="34" charset="-122"/>
                <a:cs typeface="Segoe UI" pitchFamily="34" charset="-120"/>
              </a:rPr>
              <a:t>Profesor</a:t>
            </a:r>
            <a:endParaRPr lang="en-US" sz="1700" dirty="0"/>
          </a:p>
          <a:p>
            <a:pPr indent="0" marL="0">
              <a:buNone/>
            </a:pPr>
            <a:r>
              <a:rPr lang="en-US" sz="1300" b="1" dirty="0">
                <a:solidFill>
                  <a:srgbClr val="1B2B4B"/>
                </a:solidFill>
                <a:latin typeface="Segoe UI" pitchFamily="34" charset="0"/>
                <a:ea typeface="Segoe UI" pitchFamily="34" charset="-122"/>
                <a:cs typeface="Segoe UI" pitchFamily="34" charset="-120"/>
              </a:rPr>
              <a:t>Ricardo Alberto Aravena Videla</a:t>
            </a:r>
            <a:endParaRPr lang="en-US" sz="1700" dirty="0"/>
          </a:p>
          <a:p>
            <a:pPr indent="0" marL="0">
              <a:buNone/>
            </a:pPr>
            <a:r>
              <a:rPr lang="en-US" sz="1000" dirty="0">
                <a:solidFill>
                  <a:srgbClr val="5B6578"/>
                </a:solidFill>
                <a:latin typeface="Segoe UI" pitchFamily="34" charset="0"/>
                <a:ea typeface="Segoe UI" pitchFamily="34" charset="-122"/>
                <a:cs typeface="Segoe UI" pitchFamily="34" charset="-120"/>
              </a:rPr>
              <a:t>Integrantes</a:t>
            </a:r>
            <a:endParaRPr lang="en-US" sz="1700" dirty="0"/>
          </a:p>
          <a:p>
            <a:pPr indent="0" marL="0">
              <a:buNone/>
            </a:pPr>
            <a:r>
              <a:rPr lang="en-US" sz="1300" b="1" dirty="0">
                <a:solidFill>
                  <a:srgbClr val="1B2B4B"/>
                </a:solidFill>
                <a:latin typeface="Segoe UI" pitchFamily="34" charset="0"/>
                <a:ea typeface="Segoe UI" pitchFamily="34" charset="-122"/>
                <a:cs typeface="Segoe UI" pitchFamily="34" charset="-120"/>
              </a:rPr>
              <a:t>Joshua Mardones · Sofía Troncoso</a:t>
            </a:r>
            <a:endParaRPr lang="en-US" sz="1700" dirty="0"/>
          </a:p>
        </p:txBody>
      </p:sp>
      <p:sp>
        <p:nvSpPr>
          <p:cNvPr id="9" name="Text 6"/>
          <p:cNvSpPr txBox="1"/>
          <p:nvPr/>
        </p:nvSpPr>
        <p:spPr>
          <a:xfrm>
            <a:off x="1005840" y="6400800"/>
            <a:ext cx="1828800" cy="365760"/>
          </a:xfrm>
          <a:prstGeom prst="rect">
            <a:avLst/>
          </a:prstGeom>
          <a:noFill/>
          <a:ln/>
        </p:spPr>
        <p:txBody>
          <a:bodyPr wrap="square" lIns="0" tIns="0" rIns="0" bIns="0" rtlCol="0" anchor="t"/>
          <a:lstStyle/>
          <a:p>
            <a:pPr indent="0" marL="0">
              <a:buNone/>
            </a:pPr>
            <a:r>
              <a:rPr lang="en-US" sz="1500" dirty="0">
                <a:solidFill>
                  <a:srgbClr val="C24E00"/>
                </a:solidFill>
                <a:latin typeface="Ink Free" pitchFamily="34" charset="0"/>
                <a:ea typeface="Ink Free" pitchFamily="34" charset="-122"/>
                <a:cs typeface="Ink Free" pitchFamily="34" charset="-120"/>
              </a:rPr>
              <a:t>RabbitMQ</a:t>
            </a:r>
            <a:endParaRPr lang="en-US" sz="1500" dirty="0"/>
          </a:p>
        </p:txBody>
      </p:sp>
      <p:sp>
        <p:nvSpPr>
          <p:cNvPr id="10" name="Text 7"/>
          <p:cNvSpPr txBox="1"/>
          <p:nvPr/>
        </p:nvSpPr>
        <p:spPr>
          <a:xfrm>
            <a:off x="9966960" y="6355080"/>
            <a:ext cx="1828800" cy="365760"/>
          </a:xfrm>
          <a:prstGeom prst="rect">
            <a:avLst/>
          </a:prstGeom>
          <a:noFill/>
          <a:ln/>
        </p:spPr>
        <p:txBody>
          <a:bodyPr wrap="square" lIns="0" tIns="0" rIns="0" bIns="0" rtlCol="0" anchor="t"/>
          <a:lstStyle/>
          <a:p>
            <a:pPr algn="r" indent="0" marL="0">
              <a:buNone/>
            </a:pPr>
            <a:r>
              <a:rPr lang="en-US" sz="1500" dirty="0">
                <a:solidFill>
                  <a:srgbClr val="B85F00"/>
                </a:solidFill>
                <a:latin typeface="Ink Free" pitchFamily="34" charset="0"/>
                <a:ea typeface="Ink Free" pitchFamily="34" charset="-122"/>
                <a:cs typeface="Ink Free" pitchFamily="34" charset="-120"/>
              </a:rPr>
              <a:t>sobre AWS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0607040" y="6419088"/>
            <a:ext cx="1005840" cy="292608"/>
          </a:xfrm>
          <a:prstGeom prst="rect">
            <a:avLst/>
          </a:prstGeom>
          <a:noFill/>
          <a:ln/>
        </p:spPr>
        <p:txBody>
          <a:bodyPr wrap="square" lIns="0" tIns="0" rIns="0" bIns="0" rtlCol="0" anchor="ctr"/>
          <a:lstStyle/>
          <a:p>
            <a:pPr algn="r" indent="0" marL="0">
              <a:buNone/>
            </a:pPr>
            <a:r>
              <a:rPr lang="en-US" sz="1100" dirty="0">
                <a:solidFill>
                  <a:srgbClr val="5B6578"/>
                </a:solidFill>
                <a:latin typeface="Ink Free" pitchFamily="34" charset="0"/>
                <a:ea typeface="Ink Free" pitchFamily="34" charset="-122"/>
                <a:cs typeface="Ink Free" pitchFamily="34" charset="-120"/>
              </a:rPr>
              <a:t>2 / 13</a:t>
            </a:r>
            <a:endParaRPr lang="en-US" sz="1100" dirty="0"/>
          </a:p>
        </p:txBody>
      </p:sp>
      <p:sp>
        <p:nvSpPr>
          <p:cNvPr id="3" name="Text 1"/>
          <p:cNvSpPr txBox="1"/>
          <p:nvPr/>
        </p:nvSpPr>
        <p:spPr>
          <a:xfrm>
            <a:off x="640080" y="256032"/>
            <a:ext cx="6400800" cy="320040"/>
          </a:xfrm>
          <a:prstGeom prst="rect">
            <a:avLst/>
          </a:prstGeom>
          <a:noFill/>
          <a:ln/>
        </p:spPr>
        <p:txBody>
          <a:bodyPr wrap="square" lIns="0" tIns="0" rIns="0" bIns="0" rtlCol="0" anchor="t"/>
          <a:lstStyle/>
          <a:p>
            <a:pPr indent="0" marL="0">
              <a:buNone/>
            </a:pPr>
            <a:r>
              <a:rPr lang="en-US" sz="1500" dirty="0">
                <a:solidFill>
                  <a:srgbClr val="C24E00"/>
                </a:solidFill>
                <a:latin typeface="Ink Free" pitchFamily="34" charset="0"/>
                <a:ea typeface="Ink Free" pitchFamily="34" charset="-122"/>
                <a:cs typeface="Ink Free" pitchFamily="34" charset="-120"/>
              </a:rPr>
              <a:t>El problema</a:t>
            </a:r>
            <a:endParaRPr lang="en-US" sz="1500" dirty="0"/>
          </a:p>
        </p:txBody>
      </p:sp>
      <p:sp>
        <p:nvSpPr>
          <p:cNvPr id="4" name="Text 2"/>
          <p:cNvSpPr txBox="1"/>
          <p:nvPr/>
        </p:nvSpPr>
        <p:spPr>
          <a:xfrm>
            <a:off x="640080" y="530352"/>
            <a:ext cx="8778240" cy="685800"/>
          </a:xfrm>
          <a:prstGeom prst="rect">
            <a:avLst/>
          </a:prstGeom>
          <a:noFill/>
          <a:ln/>
        </p:spPr>
        <p:txBody>
          <a:bodyPr wrap="square" lIns="0" tIns="0" rIns="0" bIns="0" rtlCol="0" anchor="t"/>
          <a:lstStyle/>
          <a:p>
            <a:pPr indent="0" marL="0">
              <a:buNone/>
            </a:pPr>
            <a:r>
              <a:rPr lang="en-US" sz="3400" dirty="0">
                <a:solidFill>
                  <a:srgbClr val="1B2B4B"/>
                </a:solidFill>
                <a:latin typeface="Ink Free" pitchFamily="34" charset="0"/>
                <a:ea typeface="Ink Free" pitchFamily="34" charset="-122"/>
                <a:cs typeface="Ink Free" pitchFamily="34" charset="-120"/>
              </a:rPr>
              <a:t>Confirmar un pedido hacia demasiado</a:t>
            </a:r>
            <a:endParaRPr lang="en-US" sz="3400" dirty="0"/>
          </a:p>
        </p:txBody>
      </p:sp>
      <p:sp>
        <p:nvSpPr>
          <p:cNvPr id="5" name="Text 3"/>
          <p:cNvSpPr txBox="1"/>
          <p:nvPr/>
        </p:nvSpPr>
        <p:spPr>
          <a:xfrm>
            <a:off x="640080" y="1207008"/>
            <a:ext cx="8778240" cy="365760"/>
          </a:xfrm>
          <a:prstGeom prst="rect">
            <a:avLst/>
          </a:prstGeom>
          <a:noFill/>
          <a:ln/>
        </p:spPr>
        <p:txBody>
          <a:bodyPr wrap="square" lIns="0" tIns="0" rIns="0" bIns="0" rtlCol="0" anchor="t"/>
          <a:lstStyle/>
          <a:p>
            <a:pPr indent="0" marL="0">
              <a:buNone/>
            </a:pPr>
            <a:r>
              <a:rPr lang="en-US" sz="1300" dirty="0">
                <a:solidFill>
                  <a:srgbClr val="5B6578"/>
                </a:solidFill>
                <a:latin typeface="Segoe UI" pitchFamily="34" charset="0"/>
                <a:ea typeface="Segoe UI" pitchFamily="34" charset="-122"/>
                <a:cs typeface="Segoe UI" pitchFamily="34" charset="-120"/>
              </a:rPr>
              <a:t>Antes: todo en la misma transaccion. Ahora: el pedido responde y el resto viaja por la cola</a:t>
            </a:r>
            <a:endParaRPr lang="en-US" sz="1300" dirty="0"/>
          </a:p>
        </p:txBody>
      </p:sp>
      <p:pic>
        <p:nvPicPr>
          <p:cNvPr id="6" name="Image 0" descr="C:\Users\joshu\AppData\Local\Temp\claude\C--Users-joshu-Desktop-CloudDevRamo\d162bf51-ad36-4a2b-981d-7f5a95d9a76d\scratchpad\ppt4\capas\s2.png">    </p:cNvPr>
          <p:cNvPicPr>
            <a:picLocks noChangeAspect="1"/>
          </p:cNvPicPr>
          <p:nvPr/>
        </p:nvPicPr>
        <p:blipFill>
          <a:blip r:embed="rId2"/>
          <a:stretch>
            <a:fillRect/>
          </a:stretch>
        </p:blipFill>
        <p:spPr>
          <a:xfrm>
            <a:off x="0" y="0"/>
            <a:ext cx="12191695" cy="6858000"/>
          </a:xfrm>
          <a:prstGeom prst="rect">
            <a:avLst/>
          </a:prstGeom>
        </p:spPr>
      </p:pic>
      <p:sp>
        <p:nvSpPr>
          <p:cNvPr id="7" name="Text 4"/>
          <p:cNvSpPr txBox="1"/>
          <p:nvPr/>
        </p:nvSpPr>
        <p:spPr>
          <a:xfrm>
            <a:off x="914400" y="2212848"/>
            <a:ext cx="4572000" cy="365760"/>
          </a:xfrm>
          <a:prstGeom prst="rect">
            <a:avLst/>
          </a:prstGeom>
          <a:noFill/>
          <a:ln/>
        </p:spPr>
        <p:txBody>
          <a:bodyPr wrap="square" lIns="0" tIns="0" rIns="0" bIns="0" rtlCol="0" anchor="t"/>
          <a:lstStyle/>
          <a:p>
            <a:pPr indent="0" marL="0">
              <a:buNone/>
            </a:pPr>
            <a:r>
              <a:rPr lang="en-US" sz="1900" dirty="0">
                <a:solidFill>
                  <a:srgbClr val="D6453D"/>
                </a:solidFill>
                <a:latin typeface="Ink Free" pitchFamily="34" charset="0"/>
                <a:ea typeface="Ink Free" pitchFamily="34" charset="-122"/>
                <a:cs typeface="Ink Free" pitchFamily="34" charset="-120"/>
              </a:rPr>
              <a:t>ANTES · todo sincrono</a:t>
            </a:r>
            <a:endParaRPr lang="en-US" sz="1900" dirty="0"/>
          </a:p>
        </p:txBody>
      </p:sp>
      <p:sp>
        <p:nvSpPr>
          <p:cNvPr id="8" name="Text 5"/>
          <p:cNvSpPr txBox="1"/>
          <p:nvPr/>
        </p:nvSpPr>
        <p:spPr>
          <a:xfrm>
            <a:off x="914400" y="2697480"/>
            <a:ext cx="4572000" cy="1005840"/>
          </a:xfrm>
          <a:prstGeom prst="rect">
            <a:avLst/>
          </a:prstGeom>
          <a:noFill/>
          <a:ln/>
        </p:spPr>
        <p:txBody>
          <a:bodyPr wrap="square" lIns="0" tIns="0" rIns="0" bIns="0" rtlCol="0" anchor="ctr"/>
          <a:lstStyle/>
          <a:p>
            <a:pPr indent="0" marL="0">
              <a:buNone/>
            </a:pPr>
            <a:r>
              <a:rPr lang="en-US" sz="1250" dirty="0">
                <a:solidFill>
                  <a:srgbClr val="1B2B4B"/>
                </a:solidFill>
                <a:latin typeface="Segoe UI" pitchFamily="34" charset="0"/>
                <a:ea typeface="Segoe UI" pitchFamily="34" charset="-122"/>
                <a:cs typeface="Segoe UI" pitchFamily="34" charset="-120"/>
              </a:rPr>
              <a:t>confirmar pedido →  descontar stock  →  generar documento  →  avisar al cliente</a:t>
            </a:r>
            <a:endParaRPr lang="en-US" sz="1250" dirty="0"/>
          </a:p>
          <a:p>
            <a:pPr indent="0" marL="0">
              <a:buNone/>
            </a:pPr>
            <a:r>
              <a:rPr lang="en-US" sz="1250" b="1" dirty="0">
                <a:solidFill>
                  <a:srgbClr val="1B2B4B"/>
                </a:solidFill>
                <a:latin typeface="Segoe UI" pitchFamily="34" charset="0"/>
                <a:ea typeface="Segoe UI" pitchFamily="34" charset="-122"/>
                <a:cs typeface="Segoe UI" pitchFamily="34" charset="-120"/>
              </a:rPr>
              <a:t>Si el documento fallaba, se caia la confirmacion completa.</a:t>
            </a:r>
            <a:endParaRPr lang="en-US" sz="1250" dirty="0"/>
          </a:p>
        </p:txBody>
      </p:sp>
      <p:sp>
        <p:nvSpPr>
          <p:cNvPr id="9" name="Text 6"/>
          <p:cNvSpPr txBox="1"/>
          <p:nvPr/>
        </p:nvSpPr>
        <p:spPr>
          <a:xfrm>
            <a:off x="6675120" y="2212848"/>
            <a:ext cx="4572000" cy="365760"/>
          </a:xfrm>
          <a:prstGeom prst="rect">
            <a:avLst/>
          </a:prstGeom>
          <a:noFill/>
          <a:ln/>
        </p:spPr>
        <p:txBody>
          <a:bodyPr wrap="square" lIns="0" tIns="0" rIns="0" bIns="0" rtlCol="0" anchor="t"/>
          <a:lstStyle/>
          <a:p>
            <a:pPr indent="0" marL="0">
              <a:buNone/>
            </a:pPr>
            <a:r>
              <a:rPr lang="en-US" sz="1900" dirty="0">
                <a:solidFill>
                  <a:srgbClr val="1E8A57"/>
                </a:solidFill>
                <a:latin typeface="Ink Free" pitchFamily="34" charset="0"/>
                <a:ea typeface="Ink Free" pitchFamily="34" charset="-122"/>
                <a:cs typeface="Ink Free" pitchFamily="34" charset="-120"/>
              </a:rPr>
              <a:t>AHORA · desacoplado</a:t>
            </a:r>
            <a:endParaRPr lang="en-US" sz="1900" dirty="0"/>
          </a:p>
        </p:txBody>
      </p:sp>
      <p:sp>
        <p:nvSpPr>
          <p:cNvPr id="10" name="Text 7"/>
          <p:cNvSpPr txBox="1"/>
          <p:nvPr/>
        </p:nvSpPr>
        <p:spPr>
          <a:xfrm>
            <a:off x="6675120" y="2697480"/>
            <a:ext cx="4572000" cy="1005840"/>
          </a:xfrm>
          <a:prstGeom prst="rect">
            <a:avLst/>
          </a:prstGeom>
          <a:noFill/>
          <a:ln/>
        </p:spPr>
        <p:txBody>
          <a:bodyPr wrap="square" lIns="0" tIns="0" rIns="0" bIns="0" rtlCol="0" anchor="ctr"/>
          <a:lstStyle/>
          <a:p>
            <a:pPr indent="0" marL="0">
              <a:buNone/>
            </a:pPr>
            <a:r>
              <a:rPr lang="en-US" sz="1250" dirty="0">
                <a:solidFill>
                  <a:srgbClr val="1B2B4B"/>
                </a:solidFill>
                <a:latin typeface="Segoe UI" pitchFamily="34" charset="0"/>
                <a:ea typeface="Segoe UI" pitchFamily="34" charset="-122"/>
                <a:cs typeface="Segoe UI" pitchFamily="34" charset="-120"/>
              </a:rPr>
              <a:t>confirmar pedido →  publica evento  →  responde 200</a:t>
            </a:r>
            <a:endParaRPr lang="en-US" sz="1250" dirty="0"/>
          </a:p>
          <a:p>
            <a:pPr indent="0" marL="0">
              <a:buNone/>
            </a:pPr>
            <a:r>
              <a:rPr lang="en-US" sz="1250" b="1" dirty="0">
                <a:solidFill>
                  <a:srgbClr val="1B2B4B"/>
                </a:solidFill>
                <a:latin typeface="Segoe UI" pitchFamily="34" charset="0"/>
                <a:ea typeface="Segoe UI" pitchFamily="34" charset="-122"/>
                <a:cs typeface="Segoe UI" pitchFamily="34" charset="-120"/>
              </a:rPr>
              <a:t>El aviso y el ticket los generan los consumidores, a su ritmo y con reintentos.</a:t>
            </a:r>
            <a:endParaRPr lang="en-US" sz="1250" dirty="0"/>
          </a:p>
        </p:txBody>
      </p:sp>
      <p:sp>
        <p:nvSpPr>
          <p:cNvPr id="11" name="Shape 8"/>
          <p:cNvSpPr/>
          <p:nvPr/>
        </p:nvSpPr>
        <p:spPr>
          <a:xfrm rot="72000">
            <a:off x="731520" y="4297680"/>
            <a:ext cx="4937760" cy="1371600"/>
          </a:xfrm>
          <a:prstGeom prst="rect">
            <a:avLst/>
          </a:prstGeom>
          <a:solidFill>
            <a:srgbClr val="FFEB7A"/>
          </a:solidFill>
          <a:ln w="12700">
            <a:solidFill>
              <a:srgbClr val="FFEB7A"/>
            </a:solidFill>
            <a:prstDash val="solid"/>
          </a:ln>
          <a:effectLst>
            <a:outerShdw sx="100000" sy="100000" kx="0" ky="0" algn="bl" rotWithShape="0" blurRad="101600" dist="50800" dir="3000000">
              <a:srgbClr val="000000">
                <a:alpha val="30000"/>
              </a:srgbClr>
            </a:outerShdw>
          </a:effectLst>
        </p:spPr>
      </p:sp>
      <p:sp>
        <p:nvSpPr>
          <p:cNvPr id="12" name="Text 9"/>
          <p:cNvSpPr txBox="1"/>
          <p:nvPr/>
        </p:nvSpPr>
        <p:spPr>
          <a:xfrm rot="72000">
            <a:off x="896112" y="4407408"/>
            <a:ext cx="4608576" cy="1152144"/>
          </a:xfrm>
          <a:prstGeom prst="rect">
            <a:avLst/>
          </a:prstGeom>
          <a:noFill/>
          <a:ln/>
        </p:spPr>
        <p:txBody>
          <a:bodyPr wrap="square" lIns="0" tIns="0" rIns="0" bIns="0" rtlCol="0" anchor="t"/>
          <a:lstStyle/>
          <a:p>
            <a:pPr indent="0" marL="0">
              <a:buNone/>
            </a:pPr>
            <a:r>
              <a:rPr lang="en-US" sz="1600" b="1" dirty="0">
                <a:solidFill>
                  <a:srgbClr val="3B2F12"/>
                </a:solidFill>
                <a:latin typeface="Ink Free" pitchFamily="34" charset="0"/>
                <a:ea typeface="Ink Free" pitchFamily="34" charset="-122"/>
                <a:cs typeface="Ink Free" pitchFamily="34" charset="-120"/>
              </a:rPr>
              <a:t>Idea fuerza</a:t>
            </a:r>
            <a:endParaRPr lang="en-US" sz="1600" dirty="0"/>
          </a:p>
          <a:p>
            <a:pPr indent="0" marL="0">
              <a:spcAft>
                <a:spcPts val="200"/>
              </a:spcAft>
              <a:buNone/>
            </a:pPr>
            <a:r>
              <a:rPr lang="en-US" sz="1400" dirty="0">
                <a:solidFill>
                  <a:srgbClr val="2E2A1E"/>
                </a:solidFill>
                <a:latin typeface="Ink Free" pitchFamily="34" charset="0"/>
                <a:ea typeface="Ink Free" pitchFamily="34" charset="-122"/>
                <a:cs typeface="Ink Free" pitchFamily="34" charset="-120"/>
              </a:rPr>
              <a:t>La mensajeria no cambio la logica del pedido:</a:t>
            </a:r>
            <a:endParaRPr lang="en-US" sz="1600" dirty="0"/>
          </a:p>
          <a:p>
            <a:pPr indent="0" marL="0">
              <a:spcAft>
                <a:spcPts val="200"/>
              </a:spcAft>
              <a:buNone/>
            </a:pPr>
            <a:r>
              <a:rPr lang="en-US" sz="1400" dirty="0">
                <a:solidFill>
                  <a:srgbClr val="2E2A1E"/>
                </a:solidFill>
                <a:latin typeface="Ink Free" pitchFamily="34" charset="0"/>
                <a:ea typeface="Ink Free" pitchFamily="34" charset="-122"/>
                <a:cs typeface="Ink Free" pitchFamily="34" charset="-120"/>
              </a:rPr>
              <a:t>se agrego al lado, no al medio.</a:t>
            </a:r>
            <a:endParaRPr lang="en-US" sz="1600" dirty="0"/>
          </a:p>
        </p:txBody>
      </p:sp>
      <p:sp>
        <p:nvSpPr>
          <p:cNvPr id="13" name="Shape 10"/>
          <p:cNvSpPr/>
          <p:nvPr/>
        </p:nvSpPr>
        <p:spPr>
          <a:xfrm rot="-72000">
            <a:off x="6492240" y="4297680"/>
            <a:ext cx="4937760" cy="1371600"/>
          </a:xfrm>
          <a:prstGeom prst="rect">
            <a:avLst/>
          </a:prstGeom>
          <a:solidFill>
            <a:srgbClr val="FFD9BF"/>
          </a:solidFill>
          <a:ln w="12700">
            <a:solidFill>
              <a:srgbClr val="FFD9BF"/>
            </a:solidFill>
            <a:prstDash val="solid"/>
          </a:ln>
          <a:effectLst>
            <a:outerShdw sx="100000" sy="100000" kx="0" ky="0" algn="bl" rotWithShape="0" blurRad="101600" dist="50800" dir="3000000">
              <a:srgbClr val="000000">
                <a:alpha val="30000"/>
              </a:srgbClr>
            </a:outerShdw>
          </a:effectLst>
        </p:spPr>
      </p:sp>
      <p:sp>
        <p:nvSpPr>
          <p:cNvPr id="14" name="Text 11"/>
          <p:cNvSpPr txBox="1"/>
          <p:nvPr/>
        </p:nvSpPr>
        <p:spPr>
          <a:xfrm rot="-72000">
            <a:off x="6656832" y="4407408"/>
            <a:ext cx="4608576" cy="1152144"/>
          </a:xfrm>
          <a:prstGeom prst="rect">
            <a:avLst/>
          </a:prstGeom>
          <a:noFill/>
          <a:ln/>
        </p:spPr>
        <p:txBody>
          <a:bodyPr wrap="square" lIns="0" tIns="0" rIns="0" bIns="0" rtlCol="0" anchor="t"/>
          <a:lstStyle/>
          <a:p>
            <a:pPr indent="0" marL="0">
              <a:buNone/>
            </a:pPr>
            <a:r>
              <a:rPr lang="en-US" sz="1600" b="1" dirty="0">
                <a:solidFill>
                  <a:srgbClr val="3B2F12"/>
                </a:solidFill>
                <a:latin typeface="Ink Free" pitchFamily="34" charset="0"/>
                <a:ea typeface="Ink Free" pitchFamily="34" charset="-122"/>
                <a:cs typeface="Ink Free" pitchFamily="34" charset="-120"/>
              </a:rPr>
              <a:t>Lo que se agrego</a:t>
            </a:r>
            <a:endParaRPr lang="en-US" sz="1600" dirty="0"/>
          </a:p>
          <a:p>
            <a:pPr indent="0" marL="0">
              <a:spcAft>
                <a:spcPts val="200"/>
              </a:spcAft>
              <a:buNone/>
            </a:pPr>
            <a:r>
              <a:rPr lang="en-US" sz="1400" dirty="0">
                <a:solidFill>
                  <a:srgbClr val="2E2A1E"/>
                </a:solidFill>
                <a:latin typeface="Ink Free" pitchFamily="34" charset="0"/>
                <a:ea typeface="Ink Free" pitchFamily="34" charset="-122"/>
                <a:cs typeface="Ink Free" pitchFamily="34" charset="-120"/>
              </a:rPr>
              <a:t>2 nodos en cluster · 2 exchanges (topic y direct)</a:t>
            </a:r>
            <a:endParaRPr lang="en-US" sz="1600" dirty="0"/>
          </a:p>
          <a:p>
            <a:pPr indent="0" marL="0">
              <a:spcAft>
                <a:spcPts val="200"/>
              </a:spcAft>
              <a:buNone/>
            </a:pPr>
            <a:r>
              <a:rPr lang="en-US" sz="1400" dirty="0">
                <a:solidFill>
                  <a:srgbClr val="2E2A1E"/>
                </a:solidFill>
                <a:latin typeface="Ink Free" pitchFamily="34" charset="0"/>
                <a:ea typeface="Ink Free" pitchFamily="34" charset="-122"/>
                <a:cs typeface="Ink Free" pitchFamily="34" charset="-120"/>
              </a:rPr>
              <a:t>3 colas con su DLQ · 1 microservicio administrador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0607040" y="6419088"/>
            <a:ext cx="1005840" cy="292608"/>
          </a:xfrm>
          <a:prstGeom prst="rect">
            <a:avLst/>
          </a:prstGeom>
          <a:noFill/>
          <a:ln/>
        </p:spPr>
        <p:txBody>
          <a:bodyPr wrap="square" lIns="0" tIns="0" rIns="0" bIns="0" rtlCol="0" anchor="ctr"/>
          <a:lstStyle/>
          <a:p>
            <a:pPr algn="r" indent="0" marL="0">
              <a:buNone/>
            </a:pPr>
            <a:r>
              <a:rPr lang="en-US" sz="1100" dirty="0">
                <a:solidFill>
                  <a:srgbClr val="5B6578"/>
                </a:solidFill>
                <a:latin typeface="Ink Free" pitchFamily="34" charset="0"/>
                <a:ea typeface="Ink Free" pitchFamily="34" charset="-122"/>
                <a:cs typeface="Ink Free" pitchFamily="34" charset="-120"/>
              </a:rPr>
              <a:t>3 / 13</a:t>
            </a:r>
            <a:endParaRPr lang="en-US" sz="1100" dirty="0"/>
          </a:p>
        </p:txBody>
      </p:sp>
      <p:sp>
        <p:nvSpPr>
          <p:cNvPr id="3" name="Text 1"/>
          <p:cNvSpPr txBox="1"/>
          <p:nvPr/>
        </p:nvSpPr>
        <p:spPr>
          <a:xfrm>
            <a:off x="640080" y="256032"/>
            <a:ext cx="6400800" cy="320040"/>
          </a:xfrm>
          <a:prstGeom prst="rect">
            <a:avLst/>
          </a:prstGeom>
          <a:noFill/>
          <a:ln/>
        </p:spPr>
        <p:txBody>
          <a:bodyPr wrap="square" lIns="0" tIns="0" rIns="0" bIns="0" rtlCol="0" anchor="t"/>
          <a:lstStyle/>
          <a:p>
            <a:pPr indent="0" marL="0">
              <a:buNone/>
            </a:pPr>
            <a:r>
              <a:rPr lang="en-US" sz="1500" dirty="0">
                <a:solidFill>
                  <a:srgbClr val="C24E00"/>
                </a:solidFill>
                <a:latin typeface="Ink Free" pitchFamily="34" charset="0"/>
                <a:ea typeface="Ink Free" pitchFamily="34" charset="-122"/>
                <a:cs typeface="Ink Free" pitchFamily="34" charset="-120"/>
              </a:rPr>
              <a:t>Arquitectura</a:t>
            </a:r>
            <a:endParaRPr lang="en-US" sz="1500" dirty="0"/>
          </a:p>
        </p:txBody>
      </p:sp>
      <p:sp>
        <p:nvSpPr>
          <p:cNvPr id="4" name="Text 2"/>
          <p:cNvSpPr txBox="1"/>
          <p:nvPr/>
        </p:nvSpPr>
        <p:spPr>
          <a:xfrm>
            <a:off x="640080" y="530352"/>
            <a:ext cx="8778240" cy="685800"/>
          </a:xfrm>
          <a:prstGeom prst="rect">
            <a:avLst/>
          </a:prstGeom>
          <a:noFill/>
          <a:ln/>
        </p:spPr>
        <p:txBody>
          <a:bodyPr wrap="square" lIns="0" tIns="0" rIns="0" bIns="0" rtlCol="0" anchor="t"/>
          <a:lstStyle/>
          <a:p>
            <a:pPr indent="0" marL="0">
              <a:buNone/>
            </a:pPr>
            <a:r>
              <a:rPr lang="en-US" sz="3400" dirty="0">
                <a:solidFill>
                  <a:srgbClr val="1B2B4B"/>
                </a:solidFill>
                <a:latin typeface="Ink Free" pitchFamily="34" charset="0"/>
                <a:ea typeface="Ink Free" pitchFamily="34" charset="-122"/>
                <a:cs typeface="Ink Free" pitchFamily="34" charset="-120"/>
              </a:rPr>
              <a:t>Donde entra RabbitMQ</a:t>
            </a:r>
            <a:endParaRPr lang="en-US" sz="3400" dirty="0"/>
          </a:p>
        </p:txBody>
      </p:sp>
      <p:sp>
        <p:nvSpPr>
          <p:cNvPr id="5" name="Text 3"/>
          <p:cNvSpPr txBox="1"/>
          <p:nvPr/>
        </p:nvSpPr>
        <p:spPr>
          <a:xfrm>
            <a:off x="640080" y="1207008"/>
            <a:ext cx="8778240" cy="365760"/>
          </a:xfrm>
          <a:prstGeom prst="rect">
            <a:avLst/>
          </a:prstGeom>
          <a:noFill/>
          <a:ln/>
        </p:spPr>
        <p:txBody>
          <a:bodyPr wrap="square" lIns="0" tIns="0" rIns="0" bIns="0" rtlCol="0" anchor="t"/>
          <a:lstStyle/>
          <a:p>
            <a:pPr indent="0" marL="0">
              <a:buNone/>
            </a:pPr>
            <a:r>
              <a:rPr lang="en-US" sz="1300" dirty="0">
                <a:solidFill>
                  <a:srgbClr val="5B6578"/>
                </a:solidFill>
                <a:latin typeface="Segoe UI" pitchFamily="34" charset="0"/>
                <a:ea typeface="Segoe UI" pitchFamily="34" charset="-122"/>
                <a:cs typeface="Segoe UI" pitchFamily="34" charset="-120"/>
              </a:rPr>
              <a:t>El gateway y el IDaaS siguen igual: la mensajeria vive detras, entre los microservicios</a:t>
            </a:r>
            <a:endParaRPr lang="en-US" sz="1300" dirty="0"/>
          </a:p>
        </p:txBody>
      </p:sp>
      <p:pic>
        <p:nvPicPr>
          <p:cNvPr id="6" name="Image 0" descr="C:\Users\joshu\AppData\Local\Temp\claude\C--Users-joshu-Desktop-CloudDevRamo\d162bf51-ad36-4a2b-981d-7f5a95d9a76d\scratchpad\ppt4\capas\s3.png">    </p:cNvPr>
          <p:cNvPicPr>
            <a:picLocks noChangeAspect="1"/>
          </p:cNvPicPr>
          <p:nvPr/>
        </p:nvPicPr>
        <p:blipFill>
          <a:blip r:embed="rId2"/>
          <a:stretch>
            <a:fillRect/>
          </a:stretch>
        </p:blipFill>
        <p:spPr>
          <a:xfrm>
            <a:off x="0" y="0"/>
            <a:ext cx="12191695" cy="6858000"/>
          </a:xfrm>
          <a:prstGeom prst="rect">
            <a:avLst/>
          </a:prstGeom>
        </p:spPr>
      </p:pic>
      <p:sp>
        <p:nvSpPr>
          <p:cNvPr id="7" name="Text 4"/>
          <p:cNvSpPr txBox="1"/>
          <p:nvPr/>
        </p:nvSpPr>
        <p:spPr>
          <a:xfrm>
            <a:off x="868680" y="2304288"/>
            <a:ext cx="2103120" cy="365760"/>
          </a:xfrm>
          <a:prstGeom prst="rect">
            <a:avLst/>
          </a:prstGeom>
          <a:noFill/>
          <a:ln/>
        </p:spPr>
        <p:txBody>
          <a:bodyPr wrap="square" lIns="0" tIns="0" rIns="0" bIns="0" rtlCol="0" anchor="t"/>
          <a:lstStyle/>
          <a:p>
            <a:pPr indent="0" marL="0">
              <a:buNone/>
            </a:pPr>
            <a:r>
              <a:rPr lang="en-US" sz="1500" dirty="0">
                <a:solidFill>
                  <a:srgbClr val="0063B1"/>
                </a:solidFill>
                <a:latin typeface="Ink Free" pitchFamily="34" charset="0"/>
                <a:ea typeface="Ink Free" pitchFamily="34" charset="-122"/>
                <a:cs typeface="Ink Free" pitchFamily="34" charset="-120"/>
              </a:rPr>
              <a:t>Entra External ID</a:t>
            </a:r>
            <a:endParaRPr lang="en-US" sz="1500" dirty="0"/>
          </a:p>
        </p:txBody>
      </p:sp>
      <p:sp>
        <p:nvSpPr>
          <p:cNvPr id="8" name="Text 5"/>
          <p:cNvSpPr txBox="1"/>
          <p:nvPr/>
        </p:nvSpPr>
        <p:spPr>
          <a:xfrm>
            <a:off x="868680" y="2697480"/>
            <a:ext cx="2103120" cy="365760"/>
          </a:xfrm>
          <a:prstGeom prst="rect">
            <a:avLst/>
          </a:prstGeom>
          <a:noFill/>
          <a:ln/>
        </p:spPr>
        <p:txBody>
          <a:bodyPr wrap="square" lIns="0" tIns="0" rIns="0" bIns="0" rtlCol="0" anchor="t"/>
          <a:lstStyle/>
          <a:p>
            <a:pPr indent="0" marL="0">
              <a:buNone/>
            </a:pPr>
            <a:r>
              <a:rPr lang="en-US" sz="1100" dirty="0">
                <a:solidFill>
                  <a:srgbClr val="5B6578"/>
                </a:solidFill>
                <a:latin typeface="Segoe UI" pitchFamily="34" charset="0"/>
                <a:ea typeface="Segoe UI" pitchFamily="34" charset="-122"/>
                <a:cs typeface="Segoe UI" pitchFamily="34" charset="-120"/>
              </a:rPr>
              <a:t>emite el JWT</a:t>
            </a:r>
            <a:endParaRPr lang="en-US" sz="1100" dirty="0"/>
          </a:p>
        </p:txBody>
      </p:sp>
      <p:sp>
        <p:nvSpPr>
          <p:cNvPr id="9" name="Text 6"/>
          <p:cNvSpPr txBox="1"/>
          <p:nvPr/>
        </p:nvSpPr>
        <p:spPr>
          <a:xfrm>
            <a:off x="868680" y="3950208"/>
            <a:ext cx="2103120" cy="365760"/>
          </a:xfrm>
          <a:prstGeom prst="rect">
            <a:avLst/>
          </a:prstGeom>
          <a:noFill/>
          <a:ln/>
        </p:spPr>
        <p:txBody>
          <a:bodyPr wrap="square" lIns="0" tIns="0" rIns="0" bIns="0" rtlCol="0" anchor="t"/>
          <a:lstStyle/>
          <a:p>
            <a:pPr indent="0" marL="0">
              <a:buNone/>
            </a:pPr>
            <a:r>
              <a:rPr lang="en-US" sz="1500" dirty="0">
                <a:solidFill>
                  <a:srgbClr val="B85F00"/>
                </a:solidFill>
                <a:latin typeface="Ink Free" pitchFamily="34" charset="0"/>
                <a:ea typeface="Ink Free" pitchFamily="34" charset="-122"/>
                <a:cs typeface="Ink Free" pitchFamily="34" charset="-120"/>
              </a:rPr>
              <a:t>AWS API Gateway</a:t>
            </a:r>
            <a:endParaRPr lang="en-US" sz="1500" dirty="0"/>
          </a:p>
        </p:txBody>
      </p:sp>
      <p:sp>
        <p:nvSpPr>
          <p:cNvPr id="10" name="Text 7"/>
          <p:cNvSpPr txBox="1"/>
          <p:nvPr/>
        </p:nvSpPr>
        <p:spPr>
          <a:xfrm>
            <a:off x="868680" y="4343400"/>
            <a:ext cx="2103120" cy="365760"/>
          </a:xfrm>
          <a:prstGeom prst="rect">
            <a:avLst/>
          </a:prstGeom>
          <a:noFill/>
          <a:ln/>
        </p:spPr>
        <p:txBody>
          <a:bodyPr wrap="square" lIns="0" tIns="0" rIns="0" bIns="0" rtlCol="0" anchor="t"/>
          <a:lstStyle/>
          <a:p>
            <a:pPr indent="0" marL="0">
              <a:buNone/>
            </a:pPr>
            <a:r>
              <a:rPr lang="en-US" sz="1100" dirty="0">
                <a:solidFill>
                  <a:srgbClr val="5B6578"/>
                </a:solidFill>
                <a:latin typeface="Segoe UI" pitchFamily="34" charset="0"/>
                <a:ea typeface="Segoe UI" pitchFamily="34" charset="-122"/>
                <a:cs typeface="Segoe UI" pitchFamily="34" charset="-120"/>
              </a:rPr>
              <a:t>valida el JWT</a:t>
            </a:r>
            <a:endParaRPr lang="en-US" sz="1100" dirty="0"/>
          </a:p>
        </p:txBody>
      </p:sp>
      <p:sp>
        <p:nvSpPr>
          <p:cNvPr id="11" name="Text 8"/>
          <p:cNvSpPr txBox="1"/>
          <p:nvPr/>
        </p:nvSpPr>
        <p:spPr>
          <a:xfrm>
            <a:off x="3931920" y="3035808"/>
            <a:ext cx="2103120" cy="365760"/>
          </a:xfrm>
          <a:prstGeom prst="rect">
            <a:avLst/>
          </a:prstGeom>
          <a:noFill/>
          <a:ln/>
        </p:spPr>
        <p:txBody>
          <a:bodyPr wrap="square" lIns="0" tIns="0" rIns="0" bIns="0" rtlCol="0" anchor="t"/>
          <a:lstStyle/>
          <a:p>
            <a:pPr indent="0" marL="0">
              <a:buNone/>
            </a:pPr>
            <a:r>
              <a:rPr lang="en-US" sz="1700" dirty="0">
                <a:solidFill>
                  <a:srgbClr val="1B2B4B"/>
                </a:solidFill>
                <a:latin typeface="Ink Free" pitchFamily="34" charset="0"/>
                <a:ea typeface="Ink Free" pitchFamily="34" charset="-122"/>
                <a:cs typeface="Ink Free" pitchFamily="34" charset="-120"/>
              </a:rPr>
              <a:t>ms-pedidos</a:t>
            </a:r>
            <a:endParaRPr lang="en-US" sz="1700" dirty="0"/>
          </a:p>
        </p:txBody>
      </p:sp>
      <p:sp>
        <p:nvSpPr>
          <p:cNvPr id="12" name="Text 9"/>
          <p:cNvSpPr txBox="1"/>
          <p:nvPr/>
        </p:nvSpPr>
        <p:spPr>
          <a:xfrm>
            <a:off x="3931920" y="3429000"/>
            <a:ext cx="2103120" cy="548640"/>
          </a:xfrm>
          <a:prstGeom prst="rect">
            <a:avLst/>
          </a:prstGeom>
          <a:noFill/>
          <a:ln/>
        </p:spPr>
        <p:txBody>
          <a:bodyPr wrap="square" lIns="0" tIns="0" rIns="0" bIns="0" rtlCol="0" anchor="t"/>
          <a:lstStyle/>
          <a:p>
            <a:pPr indent="0" marL="0">
              <a:buNone/>
            </a:pPr>
            <a:r>
              <a:rPr lang="en-US" sz="1100" dirty="0">
                <a:solidFill>
                  <a:srgbClr val="5B6578"/>
                </a:solidFill>
                <a:latin typeface="Segoe UI" pitchFamily="34" charset="0"/>
                <a:ea typeface="Segoe UI" pitchFamily="34" charset="-122"/>
                <a:cs typeface="Segoe UI" pitchFamily="34" charset="-120"/>
              </a:rPr>
              <a:t>publica el evento</a:t>
            </a:r>
            <a:endParaRPr lang="en-US" sz="1100" dirty="0"/>
          </a:p>
          <a:p>
            <a:pPr indent="0" marL="0">
              <a:buNone/>
            </a:pPr>
            <a:r>
              <a:rPr lang="en-US" sz="1100" dirty="0">
                <a:solidFill>
                  <a:srgbClr val="5B6578"/>
                </a:solidFill>
                <a:latin typeface="Segoe UI" pitchFamily="34" charset="0"/>
                <a:ea typeface="Segoe UI" pitchFamily="34" charset="-122"/>
                <a:cs typeface="Segoe UI" pitchFamily="34" charset="-120"/>
              </a:rPr>
              <a:t>y responde</a:t>
            </a:r>
            <a:endParaRPr lang="en-US" sz="1100" dirty="0"/>
          </a:p>
        </p:txBody>
      </p:sp>
      <p:sp>
        <p:nvSpPr>
          <p:cNvPr id="13" name="Text 10"/>
          <p:cNvSpPr txBox="1"/>
          <p:nvPr/>
        </p:nvSpPr>
        <p:spPr>
          <a:xfrm>
            <a:off x="7040880" y="2029968"/>
            <a:ext cx="4206240" cy="365760"/>
          </a:xfrm>
          <a:prstGeom prst="rect">
            <a:avLst/>
          </a:prstGeom>
          <a:noFill/>
          <a:ln/>
        </p:spPr>
        <p:txBody>
          <a:bodyPr wrap="square" lIns="0" tIns="0" rIns="0" bIns="0" rtlCol="0" anchor="t"/>
          <a:lstStyle/>
          <a:p>
            <a:pPr indent="0" marL="0">
              <a:buNone/>
            </a:pPr>
            <a:r>
              <a:rPr lang="en-US" sz="1700" dirty="0">
                <a:solidFill>
                  <a:srgbClr val="C24E00"/>
                </a:solidFill>
                <a:latin typeface="Ink Free" pitchFamily="34" charset="0"/>
                <a:ea typeface="Ink Free" pitchFamily="34" charset="-122"/>
                <a:cs typeface="Ink Free" pitchFamily="34" charset="-120"/>
              </a:rPr>
              <a:t>RabbitMQ · cluster rabbit1 + rabbit2</a:t>
            </a:r>
            <a:endParaRPr lang="en-US" sz="1700" dirty="0"/>
          </a:p>
        </p:txBody>
      </p:sp>
      <p:sp>
        <p:nvSpPr>
          <p:cNvPr id="14" name="Text 11"/>
          <p:cNvSpPr txBox="1"/>
          <p:nvPr/>
        </p:nvSpPr>
        <p:spPr>
          <a:xfrm>
            <a:off x="7040880" y="2487168"/>
            <a:ext cx="4206240" cy="1188720"/>
          </a:xfrm>
          <a:prstGeom prst="rect">
            <a:avLst/>
          </a:prstGeom>
          <a:noFill/>
          <a:ln/>
        </p:spPr>
        <p:txBody>
          <a:bodyPr wrap="square" lIns="0" tIns="0" rIns="0" bIns="0" rtlCol="0" anchor="ctr"/>
          <a:lstStyle/>
          <a:p>
            <a:pPr indent="0" marL="0">
              <a:buNone/>
            </a:pPr>
            <a:r>
              <a:rPr lang="en-US" sz="1200" b="1" dirty="0">
                <a:solidFill>
                  <a:srgbClr val="C24E00"/>
                </a:solidFill>
                <a:latin typeface="Segoe UI" pitchFamily="34" charset="0"/>
                <a:ea typeface="Segoe UI" pitchFamily="34" charset="-122"/>
                <a:cs typeface="Segoe UI" pitchFamily="34" charset="-120"/>
              </a:rPr>
              <a:t>topic  </a:t>
            </a:r>
            <a:pPr indent="0" marL="0">
              <a:buNone/>
            </a:pPr>
            <a:r>
              <a:rPr lang="en-US" sz="1200" dirty="0">
                <a:solidFill>
                  <a:srgbClr val="1B2B4B"/>
                </a:solidFill>
                <a:latin typeface="Segoe UI" pitchFamily="34" charset="0"/>
                <a:ea typeface="Segoe UI" pitchFamily="34" charset="-122"/>
                <a:cs typeface="Segoe UI" pitchFamily="34" charset="-120"/>
              </a:rPr>
              <a:t>pedidos360.eventos  →  notificaciones · documentos</a:t>
            </a:r>
            <a:endParaRPr lang="en-US" sz="1200" dirty="0"/>
          </a:p>
          <a:p>
            <a:pPr indent="0" marL="0">
              <a:buNone/>
            </a:pPr>
            <a:r>
              <a:rPr lang="en-US" sz="1200" b="1" dirty="0">
                <a:solidFill>
                  <a:srgbClr val="C24E00"/>
                </a:solidFill>
                <a:latin typeface="Segoe UI" pitchFamily="34" charset="0"/>
                <a:ea typeface="Segoe UI" pitchFamily="34" charset="-122"/>
                <a:cs typeface="Segoe UI" pitchFamily="34" charset="-120"/>
              </a:rPr>
              <a:t>direct </a:t>
            </a:r>
            <a:pPr indent="0" marL="0">
              <a:buNone/>
            </a:pPr>
            <a:r>
              <a:rPr lang="en-US" sz="1200" dirty="0">
                <a:solidFill>
                  <a:srgbClr val="1B2B4B"/>
                </a:solidFill>
                <a:latin typeface="Segoe UI" pitchFamily="34" charset="0"/>
                <a:ea typeface="Segoe UI" pitchFamily="34" charset="-122"/>
                <a:cs typeface="Segoe UI" pitchFamily="34" charset="-120"/>
              </a:rPr>
              <a:t>pedidos360.comandos →  auditoria</a:t>
            </a:r>
            <a:endParaRPr lang="en-US" sz="1200" dirty="0"/>
          </a:p>
          <a:p>
            <a:pPr indent="0" marL="0">
              <a:buNone/>
            </a:pPr>
            <a:r>
              <a:rPr lang="en-US" sz="1200" i="1" dirty="0">
                <a:solidFill>
                  <a:srgbClr val="5B6578"/>
                </a:solidFill>
                <a:latin typeface="Segoe UI" pitchFamily="34" charset="0"/>
                <a:ea typeface="Segoe UI" pitchFamily="34" charset="-122"/>
                <a:cs typeface="Segoe UI" pitchFamily="34" charset="-120"/>
              </a:rPr>
              <a:t>cada cola con su .retry y su .dlq</a:t>
            </a:r>
            <a:endParaRPr lang="en-US" sz="1200" dirty="0"/>
          </a:p>
        </p:txBody>
      </p:sp>
      <p:sp>
        <p:nvSpPr>
          <p:cNvPr id="15" name="Text 12"/>
          <p:cNvSpPr txBox="1"/>
          <p:nvPr/>
        </p:nvSpPr>
        <p:spPr>
          <a:xfrm>
            <a:off x="7040880" y="4224528"/>
            <a:ext cx="4206240" cy="365760"/>
          </a:xfrm>
          <a:prstGeom prst="rect">
            <a:avLst/>
          </a:prstGeom>
          <a:noFill/>
          <a:ln/>
        </p:spPr>
        <p:txBody>
          <a:bodyPr wrap="square" lIns="0" tIns="0" rIns="0" bIns="0" rtlCol="0" anchor="t"/>
          <a:lstStyle/>
          <a:p>
            <a:pPr indent="0" marL="0">
              <a:buNone/>
            </a:pPr>
            <a:r>
              <a:rPr lang="en-US" sz="1700" dirty="0">
                <a:solidFill>
                  <a:srgbClr val="1E8A57"/>
                </a:solidFill>
                <a:latin typeface="Ink Free" pitchFamily="34" charset="0"/>
                <a:ea typeface="Ink Free" pitchFamily="34" charset="-122"/>
                <a:cs typeface="Ink Free" pitchFamily="34" charset="-120"/>
              </a:rPr>
              <a:t>ms-notificaciones</a:t>
            </a:r>
            <a:endParaRPr lang="en-US" sz="1700" dirty="0"/>
          </a:p>
        </p:txBody>
      </p:sp>
      <p:sp>
        <p:nvSpPr>
          <p:cNvPr id="16" name="Text 13"/>
          <p:cNvSpPr txBox="1"/>
          <p:nvPr/>
        </p:nvSpPr>
        <p:spPr>
          <a:xfrm>
            <a:off x="7040880" y="4617720"/>
            <a:ext cx="4206240" cy="731520"/>
          </a:xfrm>
          <a:prstGeom prst="rect">
            <a:avLst/>
          </a:prstGeom>
          <a:noFill/>
          <a:ln/>
        </p:spPr>
        <p:txBody>
          <a:bodyPr wrap="square" lIns="0" tIns="0" rIns="0" bIns="0" rtlCol="0" anchor="t"/>
          <a:lstStyle/>
          <a:p>
            <a:pPr indent="0" marL="0">
              <a:buNone/>
            </a:pPr>
            <a:r>
              <a:rPr lang="en-US" sz="1150" dirty="0">
                <a:solidFill>
                  <a:srgbClr val="1B2B4B"/>
                </a:solidFill>
                <a:latin typeface="Segoe UI" pitchFamily="34" charset="0"/>
                <a:ea typeface="Segoe UI" pitchFamily="34" charset="-122"/>
                <a:cs typeface="Segoe UI" pitchFamily="34" charset="-120"/>
              </a:rPr>
              <a:t>tres consumidores agrupados por dominio: avisos, documentos y auditoria</a:t>
            </a:r>
            <a:endParaRPr lang="en-US" sz="1150" dirty="0"/>
          </a:p>
        </p:txBody>
      </p:sp>
      <p:sp>
        <p:nvSpPr>
          <p:cNvPr id="17" name="Shape 14"/>
          <p:cNvSpPr/>
          <p:nvPr/>
        </p:nvSpPr>
        <p:spPr>
          <a:xfrm rot="72000">
            <a:off x="731520" y="5303520"/>
            <a:ext cx="5486400" cy="1005840"/>
          </a:xfrm>
          <a:prstGeom prst="rect">
            <a:avLst/>
          </a:prstGeom>
          <a:solidFill>
            <a:srgbClr val="FFEB7A"/>
          </a:solidFill>
          <a:ln w="12700">
            <a:solidFill>
              <a:srgbClr val="FFEB7A"/>
            </a:solidFill>
            <a:prstDash val="solid"/>
          </a:ln>
          <a:effectLst>
            <a:outerShdw sx="100000" sy="100000" kx="0" ky="0" algn="bl" rotWithShape="0" blurRad="101600" dist="50800" dir="3000000">
              <a:srgbClr val="000000">
                <a:alpha val="30000"/>
              </a:srgbClr>
            </a:outerShdw>
          </a:effectLst>
        </p:spPr>
      </p:sp>
      <p:sp>
        <p:nvSpPr>
          <p:cNvPr id="18" name="Text 15"/>
          <p:cNvSpPr txBox="1"/>
          <p:nvPr/>
        </p:nvSpPr>
        <p:spPr>
          <a:xfrm rot="72000">
            <a:off x="896112" y="5413248"/>
            <a:ext cx="5157216" cy="786384"/>
          </a:xfrm>
          <a:prstGeom prst="rect">
            <a:avLst/>
          </a:prstGeom>
          <a:noFill/>
          <a:ln/>
        </p:spPr>
        <p:txBody>
          <a:bodyPr wrap="square" lIns="0" tIns="0" rIns="0" bIns="0" rtlCol="0" anchor="t"/>
          <a:lstStyle/>
          <a:p>
            <a:pPr indent="0" marL="0">
              <a:buNone/>
            </a:pPr>
            <a:r>
              <a:rPr lang="en-US" sz="1600" b="1" dirty="0">
                <a:solidFill>
                  <a:srgbClr val="3B2F12"/>
                </a:solidFill>
                <a:latin typeface="Ink Free" pitchFamily="34" charset="0"/>
                <a:ea typeface="Ink Free" pitchFamily="34" charset="-122"/>
                <a:cs typeface="Ink Free" pitchFamily="34" charset="-120"/>
              </a:rPr>
              <a:t>Decir</a:t>
            </a:r>
            <a:endParaRPr lang="en-US" sz="1600" dirty="0"/>
          </a:p>
          <a:p>
            <a:pPr indent="0" marL="0">
              <a:spcAft>
                <a:spcPts val="200"/>
              </a:spcAft>
              <a:buNone/>
            </a:pPr>
            <a:r>
              <a:rPr lang="en-US" sz="1400" dirty="0">
                <a:solidFill>
                  <a:srgbClr val="2E2A1E"/>
                </a:solidFill>
                <a:latin typeface="Ink Free" pitchFamily="34" charset="0"/>
                <a:ea typeface="Ink Free" pitchFamily="34" charset="-122"/>
                <a:cs typeface="Ink Free" pitchFamily="34" charset="-120"/>
              </a:rPr>
              <a:t>El token sigue validandose igual; RabbitMQ no abre ninguna puerta nueva al exterior.</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0607040" y="6419088"/>
            <a:ext cx="1005840" cy="292608"/>
          </a:xfrm>
          <a:prstGeom prst="rect">
            <a:avLst/>
          </a:prstGeom>
          <a:noFill/>
          <a:ln/>
        </p:spPr>
        <p:txBody>
          <a:bodyPr wrap="square" lIns="0" tIns="0" rIns="0" bIns="0" rtlCol="0" anchor="ctr"/>
          <a:lstStyle/>
          <a:p>
            <a:pPr algn="r" indent="0" marL="0">
              <a:buNone/>
            </a:pPr>
            <a:r>
              <a:rPr lang="en-US" sz="1100" dirty="0">
                <a:solidFill>
                  <a:srgbClr val="5B6578"/>
                </a:solidFill>
                <a:latin typeface="Ink Free" pitchFamily="34" charset="0"/>
                <a:ea typeface="Ink Free" pitchFamily="34" charset="-122"/>
                <a:cs typeface="Ink Free" pitchFamily="34" charset="-120"/>
              </a:rPr>
              <a:t>4 / 13</a:t>
            </a:r>
            <a:endParaRPr lang="en-US" sz="1100" dirty="0"/>
          </a:p>
        </p:txBody>
      </p:sp>
      <p:sp>
        <p:nvSpPr>
          <p:cNvPr id="3" name="Text 1"/>
          <p:cNvSpPr txBox="1"/>
          <p:nvPr/>
        </p:nvSpPr>
        <p:spPr>
          <a:xfrm>
            <a:off x="640080" y="256032"/>
            <a:ext cx="6400800" cy="320040"/>
          </a:xfrm>
          <a:prstGeom prst="rect">
            <a:avLst/>
          </a:prstGeom>
          <a:noFill/>
          <a:ln/>
        </p:spPr>
        <p:txBody>
          <a:bodyPr wrap="square" lIns="0" tIns="0" rIns="0" bIns="0" rtlCol="0" anchor="t"/>
          <a:lstStyle/>
          <a:p>
            <a:pPr indent="0" marL="0">
              <a:buNone/>
            </a:pPr>
            <a:r>
              <a:rPr lang="en-US" sz="1500" dirty="0">
                <a:solidFill>
                  <a:srgbClr val="C24E00"/>
                </a:solidFill>
                <a:latin typeface="Ink Free" pitchFamily="34" charset="0"/>
                <a:ea typeface="Ink Free" pitchFamily="34" charset="-122"/>
                <a:cs typeface="Ink Free" pitchFamily="34" charset="-120"/>
              </a:rPr>
              <a:t>Infraestructura</a:t>
            </a:r>
            <a:endParaRPr lang="en-US" sz="1500" dirty="0"/>
          </a:p>
        </p:txBody>
      </p:sp>
      <p:sp>
        <p:nvSpPr>
          <p:cNvPr id="4" name="Text 2"/>
          <p:cNvSpPr txBox="1"/>
          <p:nvPr/>
        </p:nvSpPr>
        <p:spPr>
          <a:xfrm>
            <a:off x="640080" y="530352"/>
            <a:ext cx="8778240" cy="685800"/>
          </a:xfrm>
          <a:prstGeom prst="rect">
            <a:avLst/>
          </a:prstGeom>
          <a:noFill/>
          <a:ln/>
        </p:spPr>
        <p:txBody>
          <a:bodyPr wrap="square" lIns="0" tIns="0" rIns="0" bIns="0" rtlCol="0" anchor="t"/>
          <a:lstStyle/>
          <a:p>
            <a:pPr indent="0" marL="0">
              <a:buNone/>
            </a:pPr>
            <a:r>
              <a:rPr lang="en-US" sz="3400" dirty="0">
                <a:solidFill>
                  <a:srgbClr val="1B2B4B"/>
                </a:solidFill>
                <a:latin typeface="Ink Free" pitchFamily="34" charset="0"/>
                <a:ea typeface="Ink Free" pitchFamily="34" charset="-122"/>
                <a:cs typeface="Ink Free" pitchFamily="34" charset="-120"/>
              </a:rPr>
              <a:t>Dos nodos en cluster con docker compose</a:t>
            </a:r>
            <a:endParaRPr lang="en-US" sz="3400" dirty="0"/>
          </a:p>
        </p:txBody>
      </p:sp>
      <p:sp>
        <p:nvSpPr>
          <p:cNvPr id="5" name="Text 3"/>
          <p:cNvSpPr txBox="1"/>
          <p:nvPr/>
        </p:nvSpPr>
        <p:spPr>
          <a:xfrm>
            <a:off x="640080" y="1207008"/>
            <a:ext cx="8778240" cy="365760"/>
          </a:xfrm>
          <a:prstGeom prst="rect">
            <a:avLst/>
          </a:prstGeom>
          <a:noFill/>
          <a:ln/>
        </p:spPr>
        <p:txBody>
          <a:bodyPr wrap="square" lIns="0" tIns="0" rIns="0" bIns="0" rtlCol="0" anchor="t"/>
          <a:lstStyle/>
          <a:p>
            <a:pPr indent="0" marL="0">
              <a:buNone/>
            </a:pPr>
            <a:r>
              <a:rPr lang="en-US" sz="1300" dirty="0">
                <a:solidFill>
                  <a:srgbClr val="5B6578"/>
                </a:solidFill>
                <a:latin typeface="Segoe UI" pitchFamily="34" charset="0"/>
                <a:ea typeface="Segoe UI" pitchFamily="34" charset="-122"/>
                <a:cs typeface="Segoe UI" pitchFamily="34" charset="-120"/>
              </a:rPr>
              <a:t>rabbit1 y rabbit2 se descubren solos por configuracion declarativa, sin join_cluster a mano</a:t>
            </a:r>
            <a:endParaRPr lang="en-US" sz="1300" dirty="0"/>
          </a:p>
        </p:txBody>
      </p:sp>
      <p:sp>
        <p:nvSpPr>
          <p:cNvPr id="6" name="Text 4"/>
          <p:cNvSpPr txBox="1"/>
          <p:nvPr/>
        </p:nvSpPr>
        <p:spPr>
          <a:xfrm>
            <a:off x="10323576" y="402336"/>
            <a:ext cx="1207008" cy="603504"/>
          </a:xfrm>
          <a:prstGeom prst="rect">
            <a:avLst/>
          </a:prstGeom>
          <a:noFill/>
          <a:ln/>
        </p:spPr>
        <p:txBody>
          <a:bodyPr wrap="square" lIns="0" tIns="0" rIns="0" bIns="0" rtlCol="0" anchor="ctr"/>
          <a:lstStyle/>
          <a:p>
            <a:pPr algn="ctr" indent="0" marL="0">
              <a:buNone/>
            </a:pPr>
            <a:r>
              <a:rPr lang="en-US" sz="3000" dirty="0">
                <a:solidFill>
                  <a:srgbClr val="D6453D"/>
                </a:solidFill>
                <a:latin typeface="Ink Free" pitchFamily="34" charset="0"/>
                <a:ea typeface="Ink Free" pitchFamily="34" charset="-122"/>
                <a:cs typeface="Ink Free" pitchFamily="34" charset="-120"/>
              </a:rPr>
              <a:t>✓</a:t>
            </a:r>
            <a:endParaRPr lang="en-US" sz="3000" dirty="0"/>
          </a:p>
        </p:txBody>
      </p:sp>
      <p:sp>
        <p:nvSpPr>
          <p:cNvPr id="7" name="Text 5"/>
          <p:cNvSpPr txBox="1"/>
          <p:nvPr/>
        </p:nvSpPr>
        <p:spPr>
          <a:xfrm>
            <a:off x="9418320" y="1188720"/>
            <a:ext cx="2926080" cy="310896"/>
          </a:xfrm>
          <a:prstGeom prst="rect">
            <a:avLst/>
          </a:prstGeom>
          <a:noFill/>
          <a:ln/>
        </p:spPr>
        <p:txBody>
          <a:bodyPr wrap="square" lIns="0" tIns="0" rIns="0" bIns="0" rtlCol="0" anchor="t"/>
          <a:lstStyle/>
          <a:p>
            <a:pPr algn="ctr" indent="0" marL="0">
              <a:buNone/>
            </a:pPr>
            <a:r>
              <a:rPr lang="en-US" sz="1250" dirty="0">
                <a:solidFill>
                  <a:srgbClr val="D6453D"/>
                </a:solidFill>
                <a:latin typeface="Ink Free" pitchFamily="34" charset="0"/>
                <a:ea typeface="Ink Free" pitchFamily="34" charset="-122"/>
                <a:cs typeface="Ink Free" pitchFamily="34" charset="-120"/>
              </a:rPr>
              <a:t>pauta: cluster de dos nodos</a:t>
            </a:r>
            <a:endParaRPr lang="en-US" sz="1250" dirty="0"/>
          </a:p>
        </p:txBody>
      </p:sp>
      <p:pic>
        <p:nvPicPr>
          <p:cNvPr id="8" name="Image 0" descr="C:\Users\joshu\AppData\Local\Temp\claude\C--Users-joshu-Desktop-CloudDevRamo\d162bf51-ad36-4a2b-981d-7f5a95d9a76d\scratchpad\ppt4\capas\s4.png">    </p:cNvPr>
          <p:cNvPicPr>
            <a:picLocks noChangeAspect="1"/>
          </p:cNvPicPr>
          <p:nvPr/>
        </p:nvPicPr>
        <p:blipFill>
          <a:blip r:embed="rId2"/>
          <a:stretch>
            <a:fillRect/>
          </a:stretch>
        </p:blipFill>
        <p:spPr>
          <a:xfrm>
            <a:off x="0" y="0"/>
            <a:ext cx="12191695" cy="6858000"/>
          </a:xfrm>
          <a:prstGeom prst="rect">
            <a:avLst/>
          </a:prstGeom>
        </p:spPr>
      </p:pic>
      <p:sp>
        <p:nvSpPr>
          <p:cNvPr id="9" name="Text 6"/>
          <p:cNvSpPr txBox="1"/>
          <p:nvPr/>
        </p:nvSpPr>
        <p:spPr>
          <a:xfrm>
            <a:off x="914400" y="2176272"/>
            <a:ext cx="2103120" cy="365760"/>
          </a:xfrm>
          <a:prstGeom prst="rect">
            <a:avLst/>
          </a:prstGeom>
          <a:noFill/>
          <a:ln/>
        </p:spPr>
        <p:txBody>
          <a:bodyPr wrap="square" lIns="0" tIns="0" rIns="0" bIns="0" rtlCol="0" anchor="t"/>
          <a:lstStyle/>
          <a:p>
            <a:pPr indent="0" marL="0">
              <a:buNone/>
            </a:pPr>
            <a:r>
              <a:rPr lang="en-US" sz="1800" dirty="0">
                <a:solidFill>
                  <a:srgbClr val="C24E00"/>
                </a:solidFill>
                <a:latin typeface="Ink Free" pitchFamily="34" charset="0"/>
                <a:ea typeface="Ink Free" pitchFamily="34" charset="-122"/>
                <a:cs typeface="Ink Free" pitchFamily="34" charset="-120"/>
              </a:rPr>
              <a:t>rabbit1</a:t>
            </a:r>
            <a:endParaRPr lang="en-US" sz="1800" dirty="0"/>
          </a:p>
        </p:txBody>
      </p:sp>
      <p:sp>
        <p:nvSpPr>
          <p:cNvPr id="10" name="Text 7"/>
          <p:cNvSpPr txBox="1"/>
          <p:nvPr/>
        </p:nvSpPr>
        <p:spPr>
          <a:xfrm>
            <a:off x="914400" y="2578608"/>
            <a:ext cx="2103120" cy="365760"/>
          </a:xfrm>
          <a:prstGeom prst="rect">
            <a:avLst/>
          </a:prstGeom>
          <a:noFill/>
          <a:ln/>
        </p:spPr>
        <p:txBody>
          <a:bodyPr wrap="square" lIns="0" tIns="0" rIns="0" bIns="0" rtlCol="0" anchor="t"/>
          <a:lstStyle/>
          <a:p>
            <a:pPr indent="0" marL="0">
              <a:buNone/>
            </a:pPr>
            <a:r>
              <a:rPr lang="en-US" sz="1050" dirty="0">
                <a:solidFill>
                  <a:srgbClr val="5B6578"/>
                </a:solidFill>
                <a:latin typeface="Segoe UI" pitchFamily="34" charset="0"/>
                <a:ea typeface="Segoe UI" pitchFamily="34" charset="-122"/>
                <a:cs typeface="Segoe UI" pitchFamily="34" charset="-120"/>
              </a:rPr>
              <a:t>AMQP 5672 · consola 15672</a:t>
            </a:r>
            <a:endParaRPr lang="en-US" sz="1050" dirty="0"/>
          </a:p>
        </p:txBody>
      </p:sp>
      <p:sp>
        <p:nvSpPr>
          <p:cNvPr id="11" name="Text 8"/>
          <p:cNvSpPr txBox="1"/>
          <p:nvPr/>
        </p:nvSpPr>
        <p:spPr>
          <a:xfrm>
            <a:off x="914400" y="3547872"/>
            <a:ext cx="2103120" cy="365760"/>
          </a:xfrm>
          <a:prstGeom prst="rect">
            <a:avLst/>
          </a:prstGeom>
          <a:noFill/>
          <a:ln/>
        </p:spPr>
        <p:txBody>
          <a:bodyPr wrap="square" lIns="0" tIns="0" rIns="0" bIns="0" rtlCol="0" anchor="t"/>
          <a:lstStyle/>
          <a:p>
            <a:pPr indent="0" marL="0">
              <a:buNone/>
            </a:pPr>
            <a:r>
              <a:rPr lang="en-US" sz="1800" dirty="0">
                <a:solidFill>
                  <a:srgbClr val="C24E00"/>
                </a:solidFill>
                <a:latin typeface="Ink Free" pitchFamily="34" charset="0"/>
                <a:ea typeface="Ink Free" pitchFamily="34" charset="-122"/>
                <a:cs typeface="Ink Free" pitchFamily="34" charset="-120"/>
              </a:rPr>
              <a:t>rabbit2</a:t>
            </a:r>
            <a:endParaRPr lang="en-US" sz="1800" dirty="0"/>
          </a:p>
        </p:txBody>
      </p:sp>
      <p:sp>
        <p:nvSpPr>
          <p:cNvPr id="12" name="Text 9"/>
          <p:cNvSpPr txBox="1"/>
          <p:nvPr/>
        </p:nvSpPr>
        <p:spPr>
          <a:xfrm>
            <a:off x="914400" y="3950208"/>
            <a:ext cx="2103120" cy="365760"/>
          </a:xfrm>
          <a:prstGeom prst="rect">
            <a:avLst/>
          </a:prstGeom>
          <a:noFill/>
          <a:ln/>
        </p:spPr>
        <p:txBody>
          <a:bodyPr wrap="square" lIns="0" tIns="0" rIns="0" bIns="0" rtlCol="0" anchor="t"/>
          <a:lstStyle/>
          <a:p>
            <a:pPr indent="0" marL="0">
              <a:buNone/>
            </a:pPr>
            <a:r>
              <a:rPr lang="en-US" sz="1050" dirty="0">
                <a:solidFill>
                  <a:srgbClr val="5B6578"/>
                </a:solidFill>
                <a:latin typeface="Segoe UI" pitchFamily="34" charset="0"/>
                <a:ea typeface="Segoe UI" pitchFamily="34" charset="-122"/>
                <a:cs typeface="Segoe UI" pitchFamily="34" charset="-120"/>
              </a:rPr>
              <a:t>AMQP 5673 · consola 15673</a:t>
            </a:r>
            <a:endParaRPr lang="en-US" sz="1050" dirty="0"/>
          </a:p>
        </p:txBody>
      </p:sp>
      <p:sp>
        <p:nvSpPr>
          <p:cNvPr id="13" name="Text 10"/>
          <p:cNvSpPr txBox="1"/>
          <p:nvPr/>
        </p:nvSpPr>
        <p:spPr>
          <a:xfrm>
            <a:off x="2057400" y="3154680"/>
            <a:ext cx="2286000" cy="320040"/>
          </a:xfrm>
          <a:prstGeom prst="rect">
            <a:avLst/>
          </a:prstGeom>
          <a:noFill/>
          <a:ln/>
        </p:spPr>
        <p:txBody>
          <a:bodyPr wrap="square" lIns="0" tIns="0" rIns="0" bIns="0" rtlCol="0" anchor="t"/>
          <a:lstStyle/>
          <a:p>
            <a:pPr indent="0" marL="0">
              <a:buNone/>
            </a:pPr>
            <a:r>
              <a:rPr lang="en-US" sz="1200" dirty="0">
                <a:solidFill>
                  <a:srgbClr val="5B6578"/>
                </a:solidFill>
                <a:latin typeface="Ink Free" pitchFamily="34" charset="0"/>
                <a:ea typeface="Ink Free" pitchFamily="34" charset="-122"/>
                <a:cs typeface="Ink Free" pitchFamily="34" charset="-120"/>
              </a:rPr>
              <a:t>misma cookie de Erlang</a:t>
            </a:r>
            <a:endParaRPr lang="en-US" sz="1200" dirty="0"/>
          </a:p>
        </p:txBody>
      </p:sp>
      <p:sp>
        <p:nvSpPr>
          <p:cNvPr id="14" name="Shape 11"/>
          <p:cNvSpPr/>
          <p:nvPr/>
        </p:nvSpPr>
        <p:spPr>
          <a:xfrm>
            <a:off x="3383280" y="2057400"/>
            <a:ext cx="4114800" cy="3017520"/>
          </a:xfrm>
          <a:prstGeom prst="roundRect">
            <a:avLst>
              <a:gd name="adj" fmla="val 2424"/>
            </a:avLst>
          </a:prstGeom>
          <a:solidFill>
            <a:srgbClr val="10182B"/>
          </a:solidFill>
          <a:ln w="12700">
            <a:solidFill>
              <a:srgbClr val="2A3A5C"/>
            </a:solidFill>
            <a:prstDash val="solid"/>
          </a:ln>
        </p:spPr>
      </p:sp>
      <p:sp>
        <p:nvSpPr>
          <p:cNvPr id="15" name="Text 12"/>
          <p:cNvSpPr txBox="1"/>
          <p:nvPr/>
        </p:nvSpPr>
        <p:spPr>
          <a:xfrm>
            <a:off x="3566160" y="2185416"/>
            <a:ext cx="3749040" cy="2761488"/>
          </a:xfrm>
          <a:prstGeom prst="rect">
            <a:avLst/>
          </a:prstGeom>
          <a:noFill/>
          <a:ln/>
        </p:spPr>
        <p:txBody>
          <a:bodyPr wrap="square" lIns="0" tIns="0" rIns="0" bIns="0" rtlCol="0" anchor="t"/>
          <a:lstStyle/>
          <a:p>
            <a:pPr indent="0" marL="0">
              <a:buNone/>
            </a:pPr>
            <a:r>
              <a:rPr lang="en-US" sz="1150" dirty="0">
                <a:solidFill>
                  <a:srgbClr val="D8E2F2"/>
                </a:solidFill>
                <a:latin typeface="Consolas" pitchFamily="34" charset="0"/>
                <a:ea typeface="Consolas" pitchFamily="34" charset="-122"/>
                <a:cs typeface="Consolas" pitchFamily="34" charset="-120"/>
              </a:rPr>
              <a:t>$ docker compose -f infra/rabbitmq/docker-compose.yml up -d</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 docker exec pedidos360-rabbit1 rabbitmqctl cluster_status</a:t>
            </a:r>
            <a:endParaRPr lang="en-US" sz="1150" dirty="0"/>
          </a:p>
          <a:p>
            <a:pPr indent="0" marL="0">
              <a:buNone/>
            </a:pPr>
            <a:endParaRPr lang="en-US" sz="1150" dirty="0"/>
          </a:p>
          <a:p>
            <a:pPr indent="0" marL="0">
              <a:buNone/>
            </a:pPr>
            <a:r>
              <a:rPr lang="en-US" sz="1150" dirty="0">
                <a:solidFill>
                  <a:srgbClr val="9FB6D9"/>
                </a:solidFill>
                <a:latin typeface="Consolas" pitchFamily="34" charset="0"/>
                <a:ea typeface="Consolas" pitchFamily="34" charset="-122"/>
                <a:cs typeface="Consolas" pitchFamily="34" charset="-120"/>
              </a:rPr>
              <a:t>Disk Nodes</a:t>
            </a:r>
            <a:endParaRPr lang="en-US" sz="1150" dirty="0"/>
          </a:p>
          <a:p>
            <a:pPr indent="0" marL="0">
              <a:buNone/>
            </a:pPr>
            <a:r>
              <a:rPr lang="en-US" sz="1150" dirty="0">
                <a:solidFill>
                  <a:srgbClr val="7EE2B0"/>
                </a:solidFill>
                <a:latin typeface="Consolas" pitchFamily="34" charset="0"/>
                <a:ea typeface="Consolas" pitchFamily="34" charset="-122"/>
                <a:cs typeface="Consolas" pitchFamily="34" charset="-120"/>
              </a:rPr>
              <a:t>rabbit@rabbit1</a:t>
            </a:r>
            <a:endParaRPr lang="en-US" sz="1150" dirty="0"/>
          </a:p>
          <a:p>
            <a:pPr indent="0" marL="0">
              <a:buNone/>
            </a:pPr>
            <a:r>
              <a:rPr lang="en-US" sz="1150" dirty="0">
                <a:solidFill>
                  <a:srgbClr val="7EE2B0"/>
                </a:solidFill>
                <a:latin typeface="Consolas" pitchFamily="34" charset="0"/>
                <a:ea typeface="Consolas" pitchFamily="34" charset="-122"/>
                <a:cs typeface="Consolas" pitchFamily="34" charset="-120"/>
              </a:rPr>
              <a:t>rabbit@rabbit2</a:t>
            </a:r>
            <a:endParaRPr lang="en-US" sz="1150" dirty="0"/>
          </a:p>
          <a:p>
            <a:pPr indent="0" marL="0">
              <a:buNone/>
            </a:pPr>
            <a:endParaRPr lang="en-US" sz="1150" dirty="0"/>
          </a:p>
          <a:p>
            <a:pPr indent="0" marL="0">
              <a:buNone/>
            </a:pPr>
            <a:r>
              <a:rPr lang="en-US" sz="1150" dirty="0">
                <a:solidFill>
                  <a:srgbClr val="9FB6D9"/>
                </a:solidFill>
                <a:latin typeface="Consolas" pitchFamily="34" charset="0"/>
                <a:ea typeface="Consolas" pitchFamily="34" charset="-122"/>
                <a:cs typeface="Consolas" pitchFamily="34" charset="-120"/>
              </a:rPr>
              <a:t>Running Nodes</a:t>
            </a:r>
            <a:endParaRPr lang="en-US" sz="1150" dirty="0"/>
          </a:p>
          <a:p>
            <a:pPr indent="0" marL="0">
              <a:buNone/>
            </a:pPr>
            <a:r>
              <a:rPr lang="en-US" sz="1150" dirty="0">
                <a:solidFill>
                  <a:srgbClr val="7EE2B0"/>
                </a:solidFill>
                <a:latin typeface="Consolas" pitchFamily="34" charset="0"/>
                <a:ea typeface="Consolas" pitchFamily="34" charset="-122"/>
                <a:cs typeface="Consolas" pitchFamily="34" charset="-120"/>
              </a:rPr>
              <a:t>rabbit@rabbit1</a:t>
            </a:r>
            <a:endParaRPr lang="en-US" sz="1150" dirty="0"/>
          </a:p>
          <a:p>
            <a:pPr indent="0" marL="0">
              <a:buNone/>
            </a:pPr>
            <a:r>
              <a:rPr lang="en-US" sz="1150" dirty="0">
                <a:solidFill>
                  <a:srgbClr val="7EE2B0"/>
                </a:solidFill>
                <a:latin typeface="Consolas" pitchFamily="34" charset="0"/>
                <a:ea typeface="Consolas" pitchFamily="34" charset="-122"/>
                <a:cs typeface="Consolas" pitchFamily="34" charset="-120"/>
              </a:rPr>
              <a:t>rabbit@rabbit2</a:t>
            </a:r>
            <a:endParaRPr lang="en-US" sz="1150" dirty="0"/>
          </a:p>
          <a:p>
            <a:pPr indent="0" marL="0">
              <a:buNone/>
            </a:pPr>
            <a:endParaRPr lang="en-US" sz="1150" dirty="0"/>
          </a:p>
          <a:p>
            <a:pPr indent="0" marL="0">
              <a:buNone/>
            </a:pPr>
            <a:r>
              <a:rPr lang="en-US" sz="1150" dirty="0">
                <a:solidFill>
                  <a:srgbClr val="9FB6D9"/>
                </a:solidFill>
                <a:latin typeface="Consolas" pitchFamily="34" charset="0"/>
                <a:ea typeface="Consolas" pitchFamily="34" charset="-122"/>
                <a:cs typeface="Consolas" pitchFamily="34" charset="-120"/>
              </a:rPr>
              <a:t>Versions: RabbitMQ 3.13.7 on Erlang 26.2.5.16</a:t>
            </a:r>
            <a:endParaRPr lang="en-US" sz="1150" dirty="0"/>
          </a:p>
        </p:txBody>
      </p:sp>
      <p:sp>
        <p:nvSpPr>
          <p:cNvPr id="16" name="Shape 13"/>
          <p:cNvSpPr/>
          <p:nvPr/>
        </p:nvSpPr>
        <p:spPr>
          <a:xfrm rot="-60000">
            <a:off x="7699248" y="2075688"/>
            <a:ext cx="3895344" cy="1693527"/>
          </a:xfrm>
          <a:prstGeom prst="rect">
            <a:avLst/>
          </a:prstGeom>
          <a:solidFill>
            <a:srgbClr val="FFFFFF"/>
          </a:solidFill>
          <a:ln w="6350">
            <a:solidFill>
              <a:srgbClr val="D9D9D9"/>
            </a:solidFill>
            <a:prstDash val="solid"/>
          </a:ln>
          <a:effectLst>
            <a:outerShdw sx="100000" sy="100000" kx="0" ky="0" algn="bl" rotWithShape="0" blurRad="88900" dist="38100" dir="3600000">
              <a:srgbClr val="000000">
                <a:alpha val="28000"/>
              </a:srgbClr>
            </a:outerShdw>
          </a:effectLst>
        </p:spPr>
      </p:sp>
      <p:pic>
        <p:nvPicPr>
          <p:cNvPr id="17" name="Image 1" descr="C:\Users\joshu\Desktop\CloudDevRamo\docs\evidencia\rabbit-01-cluster.png">    </p:cNvPr>
          <p:cNvPicPr>
            <a:picLocks noChangeAspect="1"/>
          </p:cNvPicPr>
          <p:nvPr/>
        </p:nvPicPr>
        <p:blipFill>
          <a:blip r:embed="rId3"/>
          <a:stretch>
            <a:fillRect/>
          </a:stretch>
        </p:blipFill>
        <p:spPr>
          <a:xfrm rot="-60000">
            <a:off x="7772400" y="2148840"/>
            <a:ext cx="3749040" cy="1547223"/>
          </a:xfrm>
          <a:prstGeom prst="rect">
            <a:avLst/>
          </a:prstGeom>
        </p:spPr>
      </p:pic>
      <p:sp>
        <p:nvSpPr>
          <p:cNvPr id="18" name="Shape 14"/>
          <p:cNvSpPr/>
          <p:nvPr/>
        </p:nvSpPr>
        <p:spPr>
          <a:xfrm rot="-240000">
            <a:off x="9235440" y="1965960"/>
            <a:ext cx="822960" cy="246888"/>
          </a:xfrm>
          <a:prstGeom prst="rect">
            <a:avLst/>
          </a:prstGeom>
          <a:solidFill>
            <a:srgbClr val="FFB787">
              <a:alpha val="75000"/>
            </a:srgbClr>
          </a:solidFill>
          <a:ln w="12700">
            <a:solidFill>
              <a:srgbClr val="FFB787">
                <a:alpha val="0"/>
              </a:srgbClr>
            </a:solidFill>
            <a:prstDash val="solid"/>
          </a:ln>
        </p:spPr>
      </p:sp>
      <p:sp>
        <p:nvSpPr>
          <p:cNvPr id="19" name="Text 15"/>
          <p:cNvSpPr txBox="1"/>
          <p:nvPr/>
        </p:nvSpPr>
        <p:spPr>
          <a:xfrm>
            <a:off x="7772400" y="3840480"/>
            <a:ext cx="3749040" cy="320040"/>
          </a:xfrm>
          <a:prstGeom prst="rect">
            <a:avLst/>
          </a:prstGeom>
          <a:noFill/>
          <a:ln/>
        </p:spPr>
        <p:txBody>
          <a:bodyPr wrap="square" lIns="0" tIns="0" rIns="0" bIns="0" rtlCol="0" anchor="t"/>
          <a:lstStyle/>
          <a:p>
            <a:pPr indent="0" marL="0">
              <a:buNone/>
            </a:pPr>
            <a:r>
              <a:rPr lang="en-US" sz="1300" dirty="0">
                <a:solidFill>
                  <a:srgbClr val="5B6578"/>
                </a:solidFill>
                <a:latin typeface="Ink Free" pitchFamily="34" charset="0"/>
                <a:ea typeface="Ink Free" pitchFamily="34" charset="-122"/>
                <a:cs typeface="Ink Free" pitchFamily="34" charset="-120"/>
              </a:rPr>
              <a:t>los dos nodos, en verde</a:t>
            </a:r>
            <a:endParaRPr lang="en-US" sz="1300" dirty="0"/>
          </a:p>
        </p:txBody>
      </p:sp>
      <p:sp>
        <p:nvSpPr>
          <p:cNvPr id="20" name="Shape 16"/>
          <p:cNvSpPr/>
          <p:nvPr/>
        </p:nvSpPr>
        <p:spPr>
          <a:xfrm rot="90000">
            <a:off x="7680960" y="4343400"/>
            <a:ext cx="3840480" cy="1920240"/>
          </a:xfrm>
          <a:prstGeom prst="rect">
            <a:avLst/>
          </a:prstGeom>
          <a:solidFill>
            <a:srgbClr val="FFD9BF"/>
          </a:solidFill>
          <a:ln w="12700">
            <a:solidFill>
              <a:srgbClr val="FFD9BF"/>
            </a:solidFill>
            <a:prstDash val="solid"/>
          </a:ln>
          <a:effectLst>
            <a:outerShdw sx="100000" sy="100000" kx="0" ky="0" algn="bl" rotWithShape="0" blurRad="101600" dist="50800" dir="3000000">
              <a:srgbClr val="000000">
                <a:alpha val="30000"/>
              </a:srgbClr>
            </a:outerShdw>
          </a:effectLst>
        </p:spPr>
      </p:sp>
      <p:sp>
        <p:nvSpPr>
          <p:cNvPr id="21" name="Text 17"/>
          <p:cNvSpPr txBox="1"/>
          <p:nvPr/>
        </p:nvSpPr>
        <p:spPr>
          <a:xfrm rot="90000">
            <a:off x="7845552" y="4453128"/>
            <a:ext cx="3511296" cy="1700784"/>
          </a:xfrm>
          <a:prstGeom prst="rect">
            <a:avLst/>
          </a:prstGeom>
          <a:noFill/>
          <a:ln/>
        </p:spPr>
        <p:txBody>
          <a:bodyPr wrap="square" lIns="0" tIns="0" rIns="0" bIns="0" rtlCol="0" anchor="t"/>
          <a:lstStyle/>
          <a:p>
            <a:pPr indent="0" marL="0">
              <a:buNone/>
            </a:pPr>
            <a:r>
              <a:rPr lang="en-US" sz="1600" b="1" dirty="0">
                <a:solidFill>
                  <a:srgbClr val="3B2F12"/>
                </a:solidFill>
                <a:latin typeface="Ink Free" pitchFamily="34" charset="0"/>
                <a:ea typeface="Ink Free" pitchFamily="34" charset="-122"/>
                <a:cs typeface="Ink Free" pitchFamily="34" charset="-120"/>
              </a:rPr>
              <a:t>Decir</a:t>
            </a:r>
            <a:endParaRPr lang="en-US" sz="1600" dirty="0"/>
          </a:p>
          <a:p>
            <a:pPr indent="0" marL="0">
              <a:spcAft>
                <a:spcPts val="200"/>
              </a:spcAft>
              <a:buNone/>
            </a:pPr>
            <a:r>
              <a:rPr lang="en-US" sz="1400" dirty="0">
                <a:solidFill>
                  <a:srgbClr val="2E2A1E"/>
                </a:solidFill>
                <a:latin typeface="Ink Free" pitchFamily="34" charset="0"/>
                <a:ea typeface="Ink Free" pitchFamily="34" charset="-122"/>
                <a:cs typeface="Ink Free" pitchFamily="34" charset="-120"/>
              </a:rPr>
              <a:t>Un solo archivo levanta los dos nodos.</a:t>
            </a:r>
            <a:endParaRPr lang="en-US" sz="1600" dirty="0"/>
          </a:p>
          <a:p>
            <a:pPr indent="0" marL="0">
              <a:spcAft>
                <a:spcPts val="200"/>
              </a:spcAft>
              <a:buNone/>
            </a:pPr>
            <a:r>
              <a:rPr lang="en-US" sz="1400" dirty="0">
                <a:solidFill>
                  <a:srgbClr val="2E2A1E"/>
                </a:solidFill>
                <a:latin typeface="Ink Free" pitchFamily="34" charset="0"/>
                <a:ea typeface="Ink Free" pitchFamily="34" charset="-122"/>
                <a:cs typeface="Ink Free" pitchFamily="34" charset="-120"/>
              </a:rPr>
              <a:t>classic_config: cada nodo sabe quien es su par.</a:t>
            </a:r>
            <a:endParaRPr lang="en-US" sz="1600" dirty="0"/>
          </a:p>
          <a:p>
            <a:pPr indent="0" marL="0">
              <a:spcAft>
                <a:spcPts val="200"/>
              </a:spcAft>
              <a:buNone/>
            </a:pPr>
            <a:r>
              <a:rPr lang="en-US" sz="1400" dirty="0">
                <a:solidFill>
                  <a:srgbClr val="2E2A1E"/>
                </a:solidFill>
                <a:latin typeface="Ink Free" pitchFamily="34" charset="0"/>
                <a:ea typeface="Ink Free" pitchFamily="34" charset="-122"/>
                <a:cs typeface="Ink Free" pitchFamily="34" charset="-120"/>
              </a:rPr>
              <a:t>Los microservicios apuntan a los dos, asi que</a:t>
            </a:r>
            <a:endParaRPr lang="en-US" sz="1600" dirty="0"/>
          </a:p>
          <a:p>
            <a:pPr indent="0" marL="0">
              <a:spcAft>
                <a:spcPts val="200"/>
              </a:spcAft>
              <a:buNone/>
            </a:pPr>
            <a:r>
              <a:rPr lang="en-US" sz="1400" dirty="0">
                <a:solidFill>
                  <a:srgbClr val="2E2A1E"/>
                </a:solidFill>
                <a:latin typeface="Ink Free" pitchFamily="34" charset="0"/>
                <a:ea typeface="Ink Free" pitchFamily="34" charset="-122"/>
                <a:cs typeface="Ink Free" pitchFamily="34" charset="-120"/>
              </a:rPr>
              <a:t>si uno cae el cliente reintenta contra el otro.</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0607040" y="6419088"/>
            <a:ext cx="1005840" cy="292608"/>
          </a:xfrm>
          <a:prstGeom prst="rect">
            <a:avLst/>
          </a:prstGeom>
          <a:noFill/>
          <a:ln/>
        </p:spPr>
        <p:txBody>
          <a:bodyPr wrap="square" lIns="0" tIns="0" rIns="0" bIns="0" rtlCol="0" anchor="ctr"/>
          <a:lstStyle/>
          <a:p>
            <a:pPr algn="r" indent="0" marL="0">
              <a:buNone/>
            </a:pPr>
            <a:r>
              <a:rPr lang="en-US" sz="1100" dirty="0">
                <a:solidFill>
                  <a:srgbClr val="5B6578"/>
                </a:solidFill>
                <a:latin typeface="Ink Free" pitchFamily="34" charset="0"/>
                <a:ea typeface="Ink Free" pitchFamily="34" charset="-122"/>
                <a:cs typeface="Ink Free" pitchFamily="34" charset="-120"/>
              </a:rPr>
              <a:t>5 / 13</a:t>
            </a:r>
            <a:endParaRPr lang="en-US" sz="1100" dirty="0"/>
          </a:p>
        </p:txBody>
      </p:sp>
      <p:sp>
        <p:nvSpPr>
          <p:cNvPr id="3" name="Text 1"/>
          <p:cNvSpPr txBox="1"/>
          <p:nvPr/>
        </p:nvSpPr>
        <p:spPr>
          <a:xfrm>
            <a:off x="640080" y="256032"/>
            <a:ext cx="6400800" cy="320040"/>
          </a:xfrm>
          <a:prstGeom prst="rect">
            <a:avLst/>
          </a:prstGeom>
          <a:noFill/>
          <a:ln/>
        </p:spPr>
        <p:txBody>
          <a:bodyPr wrap="square" lIns="0" tIns="0" rIns="0" bIns="0" rtlCol="0" anchor="t"/>
          <a:lstStyle/>
          <a:p>
            <a:pPr indent="0" marL="0">
              <a:buNone/>
            </a:pPr>
            <a:r>
              <a:rPr lang="en-US" sz="1500" dirty="0">
                <a:solidFill>
                  <a:srgbClr val="C24E00"/>
                </a:solidFill>
                <a:latin typeface="Ink Free" pitchFamily="34" charset="0"/>
                <a:ea typeface="Ink Free" pitchFamily="34" charset="-122"/>
                <a:cs typeface="Ink Free" pitchFamily="34" charset="-120"/>
              </a:rPr>
              <a:t>Topologia</a:t>
            </a:r>
            <a:endParaRPr lang="en-US" sz="1500" dirty="0"/>
          </a:p>
        </p:txBody>
      </p:sp>
      <p:sp>
        <p:nvSpPr>
          <p:cNvPr id="4" name="Text 2"/>
          <p:cNvSpPr txBox="1"/>
          <p:nvPr/>
        </p:nvSpPr>
        <p:spPr>
          <a:xfrm>
            <a:off x="640080" y="530352"/>
            <a:ext cx="8778240" cy="685800"/>
          </a:xfrm>
          <a:prstGeom prst="rect">
            <a:avLst/>
          </a:prstGeom>
          <a:noFill/>
          <a:ln/>
        </p:spPr>
        <p:txBody>
          <a:bodyPr wrap="square" lIns="0" tIns="0" rIns="0" bIns="0" rtlCol="0" anchor="t"/>
          <a:lstStyle/>
          <a:p>
            <a:pPr indent="0" marL="0">
              <a:buNone/>
            </a:pPr>
            <a:r>
              <a:rPr lang="en-US" sz="3400" dirty="0">
                <a:solidFill>
                  <a:srgbClr val="1B2B4B"/>
                </a:solidFill>
                <a:latin typeface="Ink Free" pitchFamily="34" charset="0"/>
                <a:ea typeface="Ink Free" pitchFamily="34" charset="-122"/>
                <a:cs typeface="Ink Free" pitchFamily="34" charset="-120"/>
              </a:rPr>
              <a:t>Dos exchanges, porque son dos cosas distintas</a:t>
            </a:r>
            <a:endParaRPr lang="en-US" sz="3400" dirty="0"/>
          </a:p>
        </p:txBody>
      </p:sp>
      <p:sp>
        <p:nvSpPr>
          <p:cNvPr id="5" name="Text 3"/>
          <p:cNvSpPr txBox="1"/>
          <p:nvPr/>
        </p:nvSpPr>
        <p:spPr>
          <a:xfrm>
            <a:off x="640080" y="1207008"/>
            <a:ext cx="8778240" cy="365760"/>
          </a:xfrm>
          <a:prstGeom prst="rect">
            <a:avLst/>
          </a:prstGeom>
          <a:noFill/>
          <a:ln/>
        </p:spPr>
        <p:txBody>
          <a:bodyPr wrap="square" lIns="0" tIns="0" rIns="0" bIns="0" rtlCol="0" anchor="t"/>
          <a:lstStyle/>
          <a:p>
            <a:pPr indent="0" marL="0">
              <a:buNone/>
            </a:pPr>
            <a:r>
              <a:rPr lang="en-US" sz="1300" dirty="0">
                <a:solidFill>
                  <a:srgbClr val="5B6578"/>
                </a:solidFill>
                <a:latin typeface="Segoe UI" pitchFamily="34" charset="0"/>
                <a:ea typeface="Segoe UI" pitchFamily="34" charset="-122"/>
                <a:cs typeface="Segoe UI" pitchFamily="34" charset="-120"/>
              </a:rPr>
              <a:t>topic para hechos que pueden interesarle a varios; direct para ordenes con un unico responsable</a:t>
            </a:r>
            <a:endParaRPr lang="en-US" sz="1300" dirty="0"/>
          </a:p>
        </p:txBody>
      </p:sp>
      <p:sp>
        <p:nvSpPr>
          <p:cNvPr id="6" name="Text 4"/>
          <p:cNvSpPr txBox="1"/>
          <p:nvPr/>
        </p:nvSpPr>
        <p:spPr>
          <a:xfrm>
            <a:off x="10323576" y="402336"/>
            <a:ext cx="1207008" cy="603504"/>
          </a:xfrm>
          <a:prstGeom prst="rect">
            <a:avLst/>
          </a:prstGeom>
          <a:noFill/>
          <a:ln/>
        </p:spPr>
        <p:txBody>
          <a:bodyPr wrap="square" lIns="0" tIns="0" rIns="0" bIns="0" rtlCol="0" anchor="ctr"/>
          <a:lstStyle/>
          <a:p>
            <a:pPr algn="ctr" indent="0" marL="0">
              <a:buNone/>
            </a:pPr>
            <a:r>
              <a:rPr lang="en-US" sz="3000" dirty="0">
                <a:solidFill>
                  <a:srgbClr val="D6453D"/>
                </a:solidFill>
                <a:latin typeface="Ink Free" pitchFamily="34" charset="0"/>
                <a:ea typeface="Ink Free" pitchFamily="34" charset="-122"/>
                <a:cs typeface="Ink Free" pitchFamily="34" charset="-120"/>
              </a:rPr>
              <a:t>✓</a:t>
            </a:r>
            <a:endParaRPr lang="en-US" sz="3000" dirty="0"/>
          </a:p>
        </p:txBody>
      </p:sp>
      <p:sp>
        <p:nvSpPr>
          <p:cNvPr id="7" name="Text 5"/>
          <p:cNvSpPr txBox="1"/>
          <p:nvPr/>
        </p:nvSpPr>
        <p:spPr>
          <a:xfrm>
            <a:off x="9418320" y="1188720"/>
            <a:ext cx="2926080" cy="310896"/>
          </a:xfrm>
          <a:prstGeom prst="rect">
            <a:avLst/>
          </a:prstGeom>
          <a:noFill/>
          <a:ln/>
        </p:spPr>
        <p:txBody>
          <a:bodyPr wrap="square" lIns="0" tIns="0" rIns="0" bIns="0" rtlCol="0" anchor="t"/>
          <a:lstStyle/>
          <a:p>
            <a:pPr algn="ctr" indent="0" marL="0">
              <a:buNone/>
            </a:pPr>
            <a:r>
              <a:rPr lang="en-US" sz="1250" dirty="0">
                <a:solidFill>
                  <a:srgbClr val="D6453D"/>
                </a:solidFill>
                <a:latin typeface="Ink Free" pitchFamily="34" charset="0"/>
                <a:ea typeface="Ink Free" pitchFamily="34" charset="-122"/>
                <a:cs typeface="Ink Free" pitchFamily="34" charset="-120"/>
              </a:rPr>
              <a:t>pauta: exchanges direct y topic</a:t>
            </a:r>
            <a:endParaRPr lang="en-US" sz="1250" dirty="0"/>
          </a:p>
        </p:txBody>
      </p:sp>
      <p:pic>
        <p:nvPicPr>
          <p:cNvPr id="8" name="Image 0" descr="C:\Users\joshu\AppData\Local\Temp\claude\C--Users-joshu-Desktop-CloudDevRamo\d162bf51-ad36-4a2b-981d-7f5a95d9a76d\scratchpad\ppt4\capas\s5.png">    </p:cNvPr>
          <p:cNvPicPr>
            <a:picLocks noChangeAspect="1"/>
          </p:cNvPicPr>
          <p:nvPr/>
        </p:nvPicPr>
        <p:blipFill>
          <a:blip r:embed="rId2"/>
          <a:stretch>
            <a:fillRect/>
          </a:stretch>
        </p:blipFill>
        <p:spPr>
          <a:xfrm>
            <a:off x="0" y="0"/>
            <a:ext cx="12191695" cy="6858000"/>
          </a:xfrm>
          <a:prstGeom prst="rect">
            <a:avLst/>
          </a:prstGeom>
        </p:spPr>
      </p:pic>
      <p:sp>
        <p:nvSpPr>
          <p:cNvPr id="9" name="Text 6"/>
          <p:cNvSpPr txBox="1"/>
          <p:nvPr/>
        </p:nvSpPr>
        <p:spPr>
          <a:xfrm>
            <a:off x="914400" y="2212848"/>
            <a:ext cx="4754880" cy="365760"/>
          </a:xfrm>
          <a:prstGeom prst="rect">
            <a:avLst/>
          </a:prstGeom>
          <a:noFill/>
          <a:ln/>
        </p:spPr>
        <p:txBody>
          <a:bodyPr wrap="square" lIns="0" tIns="0" rIns="0" bIns="0" rtlCol="0" anchor="t"/>
          <a:lstStyle/>
          <a:p>
            <a:pPr indent="0" marL="0">
              <a:buNone/>
            </a:pPr>
            <a:r>
              <a:rPr lang="en-US" sz="1800" dirty="0">
                <a:solidFill>
                  <a:srgbClr val="C24E00"/>
                </a:solidFill>
                <a:latin typeface="Ink Free" pitchFamily="34" charset="0"/>
                <a:ea typeface="Ink Free" pitchFamily="34" charset="-122"/>
                <a:cs typeface="Ink Free" pitchFamily="34" charset="-120"/>
              </a:rPr>
              <a:t>TOPIC · pedidos360.eventos</a:t>
            </a:r>
            <a:endParaRPr lang="en-US" sz="1800" dirty="0"/>
          </a:p>
        </p:txBody>
      </p:sp>
      <p:sp>
        <p:nvSpPr>
          <p:cNvPr id="10" name="Text 7"/>
          <p:cNvSpPr txBox="1"/>
          <p:nvPr/>
        </p:nvSpPr>
        <p:spPr>
          <a:xfrm>
            <a:off x="914400" y="2651760"/>
            <a:ext cx="4754880" cy="1143000"/>
          </a:xfrm>
          <a:prstGeom prst="rect">
            <a:avLst/>
          </a:prstGeom>
          <a:noFill/>
          <a:ln/>
        </p:spPr>
        <p:txBody>
          <a:bodyPr wrap="square" lIns="0" tIns="0" rIns="0" bIns="0" rtlCol="0" anchor="ctr"/>
          <a:lstStyle/>
          <a:p>
            <a:pPr indent="0" marL="0">
              <a:buNone/>
            </a:pPr>
            <a:r>
              <a:rPr lang="en-US" sz="1200" dirty="0">
                <a:solidFill>
                  <a:srgbClr val="1B2B4B"/>
                </a:solidFill>
                <a:latin typeface="Segoe UI" pitchFamily="34" charset="0"/>
                <a:ea typeface="Segoe UI" pitchFamily="34" charset="-122"/>
                <a:cs typeface="Segoe UI" pitchFamily="34" charset="-120"/>
              </a:rPr>
              <a:t>Hechos de dominio. Enruta por patron, y el mismo hecho puede llegar a varias colas.</a:t>
            </a:r>
            <a:endParaRPr lang="en-US" sz="1200" dirty="0"/>
          </a:p>
          <a:p>
            <a:pPr indent="0" marL="0">
              <a:buNone/>
            </a:pPr>
            <a:r>
              <a:rPr lang="en-US" sz="1050" dirty="0">
                <a:solidFill>
                  <a:srgbClr val="1B2B4B"/>
                </a:solidFill>
                <a:latin typeface="Consolas" pitchFamily="34" charset="0"/>
                <a:ea typeface="Consolas" pitchFamily="34" charset="-122"/>
                <a:cs typeface="Consolas" pitchFamily="34" charset="-120"/>
              </a:rPr>
              <a:t>pedido.creado · pedido.estado-cambiado  →  notificaciones</a:t>
            </a:r>
            <a:endParaRPr lang="en-US" sz="1200" dirty="0"/>
          </a:p>
          <a:p>
            <a:pPr indent="0" marL="0">
              <a:buNone/>
            </a:pPr>
            <a:r>
              <a:rPr lang="en-US" sz="1050" dirty="0">
                <a:solidFill>
                  <a:srgbClr val="1B2B4B"/>
                </a:solidFill>
                <a:latin typeface="Consolas" pitchFamily="34" charset="0"/>
                <a:ea typeface="Consolas" pitchFamily="34" charset="-122"/>
                <a:cs typeface="Consolas" pitchFamily="34" charset="-120"/>
              </a:rPr>
              <a:t>pedido.confirmado  →  documentos</a:t>
            </a:r>
            <a:endParaRPr lang="en-US" sz="1200" dirty="0"/>
          </a:p>
        </p:txBody>
      </p:sp>
      <p:sp>
        <p:nvSpPr>
          <p:cNvPr id="11" name="Text 8"/>
          <p:cNvSpPr txBox="1"/>
          <p:nvPr/>
        </p:nvSpPr>
        <p:spPr>
          <a:xfrm>
            <a:off x="6492240" y="2212848"/>
            <a:ext cx="4754880" cy="365760"/>
          </a:xfrm>
          <a:prstGeom prst="rect">
            <a:avLst/>
          </a:prstGeom>
          <a:noFill/>
          <a:ln/>
        </p:spPr>
        <p:txBody>
          <a:bodyPr wrap="square" lIns="0" tIns="0" rIns="0" bIns="0" rtlCol="0" anchor="t"/>
          <a:lstStyle/>
          <a:p>
            <a:pPr indent="0" marL="0">
              <a:buNone/>
            </a:pPr>
            <a:r>
              <a:rPr lang="en-US" sz="1800" dirty="0">
                <a:solidFill>
                  <a:srgbClr val="0063B1"/>
                </a:solidFill>
                <a:latin typeface="Ink Free" pitchFamily="34" charset="0"/>
                <a:ea typeface="Ink Free" pitchFamily="34" charset="-122"/>
                <a:cs typeface="Ink Free" pitchFamily="34" charset="-120"/>
              </a:rPr>
              <a:t>DIRECT · pedidos360.comandos</a:t>
            </a:r>
            <a:endParaRPr lang="en-US" sz="1800" dirty="0"/>
          </a:p>
        </p:txBody>
      </p:sp>
      <p:sp>
        <p:nvSpPr>
          <p:cNvPr id="12" name="Text 9"/>
          <p:cNvSpPr txBox="1"/>
          <p:nvPr/>
        </p:nvSpPr>
        <p:spPr>
          <a:xfrm>
            <a:off x="6492240" y="2651760"/>
            <a:ext cx="4754880" cy="1143000"/>
          </a:xfrm>
          <a:prstGeom prst="rect">
            <a:avLst/>
          </a:prstGeom>
          <a:noFill/>
          <a:ln/>
        </p:spPr>
        <p:txBody>
          <a:bodyPr wrap="square" lIns="0" tIns="0" rIns="0" bIns="0" rtlCol="0" anchor="ctr"/>
          <a:lstStyle/>
          <a:p>
            <a:pPr indent="0" marL="0">
              <a:buNone/>
            </a:pPr>
            <a:r>
              <a:rPr lang="en-US" sz="1200" dirty="0">
                <a:solidFill>
                  <a:srgbClr val="1B2B4B"/>
                </a:solidFill>
                <a:latin typeface="Segoe UI" pitchFamily="34" charset="0"/>
                <a:ea typeface="Segoe UI" pitchFamily="34" charset="-122"/>
                <a:cs typeface="Segoe UI" pitchFamily="34" charset="-120"/>
              </a:rPr>
              <a:t>Ordenes. Enruta por coincidencia exacta: un unico destinatario responsable.</a:t>
            </a:r>
            <a:endParaRPr lang="en-US" sz="1200" dirty="0"/>
          </a:p>
          <a:p>
            <a:pPr indent="0" marL="0">
              <a:buNone/>
            </a:pPr>
            <a:r>
              <a:rPr lang="en-US" sz="1050" dirty="0">
                <a:solidFill>
                  <a:srgbClr val="1B2B4B"/>
                </a:solidFill>
                <a:latin typeface="Consolas" pitchFamily="34" charset="0"/>
                <a:ea typeface="Consolas" pitchFamily="34" charset="-122"/>
                <a:cs typeface="Consolas" pitchFamily="34" charset="-120"/>
              </a:rPr>
              <a:t>auditoria.pedido-anulado  →  auditoria</a:t>
            </a:r>
            <a:endParaRPr lang="en-US" sz="1200" dirty="0"/>
          </a:p>
          <a:p>
            <a:pPr indent="0" marL="0">
              <a:buNone/>
            </a:pPr>
            <a:r>
              <a:rPr lang="en-US" sz="1200" i="1" dirty="0">
                <a:solidFill>
                  <a:srgbClr val="5B6578"/>
                </a:solidFill>
                <a:latin typeface="Segoe UI" pitchFamily="34" charset="0"/>
                <a:ea typeface="Segoe UI" pitchFamily="34" charset="-122"/>
                <a:cs typeface="Segoe UI" pitchFamily="34" charset="-120"/>
              </a:rPr>
              <a:t>Anular mueve dinero y stock: el registro debe quedar si o si.</a:t>
            </a:r>
            <a:endParaRPr lang="en-US" sz="1200" dirty="0"/>
          </a:p>
        </p:txBody>
      </p:sp>
      <p:sp>
        <p:nvSpPr>
          <p:cNvPr id="13" name="Shape 10"/>
          <p:cNvSpPr/>
          <p:nvPr/>
        </p:nvSpPr>
        <p:spPr>
          <a:xfrm rot="-48000">
            <a:off x="658368" y="4270248"/>
            <a:ext cx="7004304" cy="3116304"/>
          </a:xfrm>
          <a:prstGeom prst="rect">
            <a:avLst/>
          </a:prstGeom>
          <a:solidFill>
            <a:srgbClr val="FFFFFF"/>
          </a:solidFill>
          <a:ln w="6350">
            <a:solidFill>
              <a:srgbClr val="D9D9D9"/>
            </a:solidFill>
            <a:prstDash val="solid"/>
          </a:ln>
          <a:effectLst>
            <a:outerShdw sx="100000" sy="100000" kx="0" ky="0" algn="bl" rotWithShape="0" blurRad="88900" dist="38100" dir="3600000">
              <a:srgbClr val="000000">
                <a:alpha val="28000"/>
              </a:srgbClr>
            </a:outerShdw>
          </a:effectLst>
        </p:spPr>
      </p:sp>
      <p:pic>
        <p:nvPicPr>
          <p:cNvPr id="14" name="Image 1" descr="C:\Users\joshu\Desktop\CloudDevRamo\docs\evidencia\rabbit-02-exchanges.png">    </p:cNvPr>
          <p:cNvPicPr>
            <a:picLocks noChangeAspect="1"/>
          </p:cNvPicPr>
          <p:nvPr/>
        </p:nvPicPr>
        <p:blipFill>
          <a:blip r:embed="rId3"/>
          <a:stretch>
            <a:fillRect/>
          </a:stretch>
        </p:blipFill>
        <p:spPr>
          <a:xfrm rot="-48000">
            <a:off x="731520" y="4343400"/>
            <a:ext cx="6858000" cy="2970000"/>
          </a:xfrm>
          <a:prstGeom prst="rect">
            <a:avLst/>
          </a:prstGeom>
        </p:spPr>
      </p:pic>
      <p:sp>
        <p:nvSpPr>
          <p:cNvPr id="15" name="Shape 11"/>
          <p:cNvSpPr/>
          <p:nvPr/>
        </p:nvSpPr>
        <p:spPr>
          <a:xfrm rot="-228000">
            <a:off x="3749040" y="4160520"/>
            <a:ext cx="822960" cy="246888"/>
          </a:xfrm>
          <a:prstGeom prst="rect">
            <a:avLst/>
          </a:prstGeom>
          <a:solidFill>
            <a:srgbClr val="FFB787">
              <a:alpha val="75000"/>
            </a:srgbClr>
          </a:solidFill>
          <a:ln w="12700">
            <a:solidFill>
              <a:srgbClr val="FFB787">
                <a:alpha val="0"/>
              </a:srgbClr>
            </a:solidFill>
            <a:prstDash val="solid"/>
          </a:ln>
        </p:spPr>
      </p:sp>
      <p:sp>
        <p:nvSpPr>
          <p:cNvPr id="16" name="Shape 12"/>
          <p:cNvSpPr/>
          <p:nvPr/>
        </p:nvSpPr>
        <p:spPr>
          <a:xfrm rot="90000">
            <a:off x="7772400" y="4297680"/>
            <a:ext cx="3749040" cy="1828800"/>
          </a:xfrm>
          <a:prstGeom prst="rect">
            <a:avLst/>
          </a:prstGeom>
          <a:solidFill>
            <a:srgbClr val="CFE5FA"/>
          </a:solidFill>
          <a:ln w="12700">
            <a:solidFill>
              <a:srgbClr val="CFE5FA"/>
            </a:solidFill>
            <a:prstDash val="solid"/>
          </a:ln>
          <a:effectLst>
            <a:outerShdw sx="100000" sy="100000" kx="0" ky="0" algn="bl" rotWithShape="0" blurRad="101600" dist="50800" dir="3000000">
              <a:srgbClr val="000000">
                <a:alpha val="30000"/>
              </a:srgbClr>
            </a:outerShdw>
          </a:effectLst>
        </p:spPr>
      </p:sp>
      <p:sp>
        <p:nvSpPr>
          <p:cNvPr id="17" name="Text 13"/>
          <p:cNvSpPr txBox="1"/>
          <p:nvPr/>
        </p:nvSpPr>
        <p:spPr>
          <a:xfrm rot="90000">
            <a:off x="7936992" y="4407408"/>
            <a:ext cx="3419856" cy="1609344"/>
          </a:xfrm>
          <a:prstGeom prst="rect">
            <a:avLst/>
          </a:prstGeom>
          <a:noFill/>
          <a:ln/>
        </p:spPr>
        <p:txBody>
          <a:bodyPr wrap="square" lIns="0" tIns="0" rIns="0" bIns="0" rtlCol="0" anchor="t"/>
          <a:lstStyle/>
          <a:p>
            <a:pPr indent="0" marL="0">
              <a:buNone/>
            </a:pPr>
            <a:r>
              <a:rPr lang="en-US" sz="1600" b="1" dirty="0">
                <a:solidFill>
                  <a:srgbClr val="3B2F12"/>
                </a:solidFill>
                <a:latin typeface="Ink Free" pitchFamily="34" charset="0"/>
                <a:ea typeface="Ink Free" pitchFamily="34" charset="-122"/>
                <a:cs typeface="Ink Free" pitchFamily="34" charset="-120"/>
              </a:rPr>
              <a:t>Si preguntan</a:t>
            </a:r>
            <a:endParaRPr lang="en-US" sz="1600" dirty="0"/>
          </a:p>
          <a:p>
            <a:pPr indent="0" marL="0">
              <a:spcAft>
                <a:spcPts val="200"/>
              </a:spcAft>
              <a:buNone/>
            </a:pPr>
            <a:r>
              <a:rPr lang="en-US" sz="1400" dirty="0">
                <a:solidFill>
                  <a:srgbClr val="2E2A1E"/>
                </a:solidFill>
                <a:latin typeface="Ink Free" pitchFamily="34" charset="0"/>
                <a:ea typeface="Ink Free" pitchFamily="34" charset="-122"/>
                <a:cs typeface="Ink Free" pitchFamily="34" charset="-120"/>
              </a:rPr>
              <a:t>¿Por que no todo topic?</a:t>
            </a:r>
            <a:endParaRPr lang="en-US" sz="1600" dirty="0"/>
          </a:p>
          <a:p>
            <a:pPr indent="0" marL="0">
              <a:spcAft>
                <a:spcPts val="200"/>
              </a:spcAft>
              <a:buNone/>
            </a:pPr>
            <a:r>
              <a:rPr lang="en-US" sz="1400" dirty="0">
                <a:solidFill>
                  <a:srgbClr val="2E2A1E"/>
                </a:solidFill>
                <a:latin typeface="Ink Free" pitchFamily="34" charset="0"/>
                <a:ea typeface="Ink Free" pitchFamily="34" charset="-122"/>
                <a:cs typeface="Ink Free" pitchFamily="34" charset="-120"/>
              </a:rPr>
              <a:t>Porque un comando con destinatario unico no</a:t>
            </a:r>
            <a:endParaRPr lang="en-US" sz="1600" dirty="0"/>
          </a:p>
          <a:p>
            <a:pPr indent="0" marL="0">
              <a:spcAft>
                <a:spcPts val="200"/>
              </a:spcAft>
              <a:buNone/>
            </a:pPr>
            <a:r>
              <a:rPr lang="en-US" sz="1400" dirty="0">
                <a:solidFill>
                  <a:srgbClr val="2E2A1E"/>
                </a:solidFill>
                <a:latin typeface="Ink Free" pitchFamily="34" charset="0"/>
                <a:ea typeface="Ink Free" pitchFamily="34" charset="-122"/>
                <a:cs typeface="Ink Free" pitchFamily="34" charset="-120"/>
              </a:rPr>
              <a:t>debe difundirse: si manana alguien enlaza</a:t>
            </a:r>
            <a:endParaRPr lang="en-US" sz="1600" dirty="0"/>
          </a:p>
          <a:p>
            <a:pPr indent="0" marL="0">
              <a:spcAft>
                <a:spcPts val="200"/>
              </a:spcAft>
              <a:buNone/>
            </a:pPr>
            <a:r>
              <a:rPr lang="en-US" sz="1400" dirty="0">
                <a:solidFill>
                  <a:srgbClr val="2E2A1E"/>
                </a:solidFill>
                <a:latin typeface="Ink Free" pitchFamily="34" charset="0"/>
                <a:ea typeface="Ink Free" pitchFamily="34" charset="-122"/>
                <a:cs typeface="Ink Free" pitchFamily="34" charset="-120"/>
              </a:rPr>
              <a:t>otra cola al patron, se duplica la operacion.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0607040" y="6419088"/>
            <a:ext cx="1005840" cy="292608"/>
          </a:xfrm>
          <a:prstGeom prst="rect">
            <a:avLst/>
          </a:prstGeom>
          <a:noFill/>
          <a:ln/>
        </p:spPr>
        <p:txBody>
          <a:bodyPr wrap="square" lIns="0" tIns="0" rIns="0" bIns="0" rtlCol="0" anchor="ctr"/>
          <a:lstStyle/>
          <a:p>
            <a:pPr algn="r" indent="0" marL="0">
              <a:buNone/>
            </a:pPr>
            <a:r>
              <a:rPr lang="en-US" sz="1100" dirty="0">
                <a:solidFill>
                  <a:srgbClr val="5B6578"/>
                </a:solidFill>
                <a:latin typeface="Ink Free" pitchFamily="34" charset="0"/>
                <a:ea typeface="Ink Free" pitchFamily="34" charset="-122"/>
                <a:cs typeface="Ink Free" pitchFamily="34" charset="-120"/>
              </a:rPr>
              <a:t>6 / 13</a:t>
            </a:r>
            <a:endParaRPr lang="en-US" sz="1100" dirty="0"/>
          </a:p>
        </p:txBody>
      </p:sp>
      <p:sp>
        <p:nvSpPr>
          <p:cNvPr id="3" name="Text 1"/>
          <p:cNvSpPr txBox="1"/>
          <p:nvPr/>
        </p:nvSpPr>
        <p:spPr>
          <a:xfrm>
            <a:off x="640080" y="256032"/>
            <a:ext cx="6400800" cy="320040"/>
          </a:xfrm>
          <a:prstGeom prst="rect">
            <a:avLst/>
          </a:prstGeom>
          <a:noFill/>
          <a:ln/>
        </p:spPr>
        <p:txBody>
          <a:bodyPr wrap="square" lIns="0" tIns="0" rIns="0" bIns="0" rtlCol="0" anchor="t"/>
          <a:lstStyle/>
          <a:p>
            <a:pPr indent="0" marL="0">
              <a:buNone/>
            </a:pPr>
            <a:r>
              <a:rPr lang="en-US" sz="1500" dirty="0">
                <a:solidFill>
                  <a:srgbClr val="C24E00"/>
                </a:solidFill>
                <a:latin typeface="Ink Free" pitchFamily="34" charset="0"/>
                <a:ea typeface="Ink Free" pitchFamily="34" charset="-122"/>
                <a:cs typeface="Ink Free" pitchFamily="34" charset="-120"/>
              </a:rPr>
              <a:t>Topologia</a:t>
            </a:r>
            <a:endParaRPr lang="en-US" sz="1500" dirty="0"/>
          </a:p>
        </p:txBody>
      </p:sp>
      <p:sp>
        <p:nvSpPr>
          <p:cNvPr id="4" name="Text 2"/>
          <p:cNvSpPr txBox="1"/>
          <p:nvPr/>
        </p:nvSpPr>
        <p:spPr>
          <a:xfrm>
            <a:off x="640080" y="530352"/>
            <a:ext cx="8778240" cy="685800"/>
          </a:xfrm>
          <a:prstGeom prst="rect">
            <a:avLst/>
          </a:prstGeom>
          <a:noFill/>
          <a:ln/>
        </p:spPr>
        <p:txBody>
          <a:bodyPr wrap="square" lIns="0" tIns="0" rIns="0" bIns="0" rtlCol="0" anchor="t"/>
          <a:lstStyle/>
          <a:p>
            <a:pPr indent="0" marL="0">
              <a:buNone/>
            </a:pPr>
            <a:r>
              <a:rPr lang="en-US" sz="3400" dirty="0">
                <a:solidFill>
                  <a:srgbClr val="1B2B4B"/>
                </a:solidFill>
                <a:latin typeface="Ink Free" pitchFamily="34" charset="0"/>
                <a:ea typeface="Ink Free" pitchFamily="34" charset="-122"/>
                <a:cs typeface="Ink Free" pitchFamily="34" charset="-120"/>
              </a:rPr>
              <a:t>Tres colas, cada una con su DLQ</a:t>
            </a:r>
            <a:endParaRPr lang="en-US" sz="3400" dirty="0"/>
          </a:p>
        </p:txBody>
      </p:sp>
      <p:sp>
        <p:nvSpPr>
          <p:cNvPr id="5" name="Text 3"/>
          <p:cNvSpPr txBox="1"/>
          <p:nvPr/>
        </p:nvSpPr>
        <p:spPr>
          <a:xfrm>
            <a:off x="640080" y="1207008"/>
            <a:ext cx="8778240" cy="365760"/>
          </a:xfrm>
          <a:prstGeom prst="rect">
            <a:avLst/>
          </a:prstGeom>
          <a:noFill/>
          <a:ln/>
        </p:spPr>
        <p:txBody>
          <a:bodyPr wrap="square" lIns="0" tIns="0" rIns="0" bIns="0" rtlCol="0" anchor="t"/>
          <a:lstStyle/>
          <a:p>
            <a:pPr indent="0" marL="0">
              <a:buNone/>
            </a:pPr>
            <a:r>
              <a:rPr lang="en-US" sz="1300" dirty="0">
                <a:solidFill>
                  <a:srgbClr val="5B6578"/>
                </a:solidFill>
                <a:latin typeface="Segoe UI" pitchFamily="34" charset="0"/>
                <a:ea typeface="Segoe UI" pitchFamily="34" charset="-122"/>
                <a:cs typeface="Segoe UI" pitchFamily="34" charset="-120"/>
              </a:rPr>
              <a:t>Nueve colas en total: tres principales, tres de espera entre reintentos y tres de mensajes muertos</a:t>
            </a:r>
            <a:endParaRPr lang="en-US" sz="1300" dirty="0"/>
          </a:p>
        </p:txBody>
      </p:sp>
      <p:sp>
        <p:nvSpPr>
          <p:cNvPr id="6" name="Text 4"/>
          <p:cNvSpPr txBox="1"/>
          <p:nvPr/>
        </p:nvSpPr>
        <p:spPr>
          <a:xfrm>
            <a:off x="10323576" y="402336"/>
            <a:ext cx="1207008" cy="603504"/>
          </a:xfrm>
          <a:prstGeom prst="rect">
            <a:avLst/>
          </a:prstGeom>
          <a:noFill/>
          <a:ln/>
        </p:spPr>
        <p:txBody>
          <a:bodyPr wrap="square" lIns="0" tIns="0" rIns="0" bIns="0" rtlCol="0" anchor="ctr"/>
          <a:lstStyle/>
          <a:p>
            <a:pPr algn="ctr" indent="0" marL="0">
              <a:buNone/>
            </a:pPr>
            <a:r>
              <a:rPr lang="en-US" sz="3000" dirty="0">
                <a:solidFill>
                  <a:srgbClr val="D6453D"/>
                </a:solidFill>
                <a:latin typeface="Ink Free" pitchFamily="34" charset="0"/>
                <a:ea typeface="Ink Free" pitchFamily="34" charset="-122"/>
                <a:cs typeface="Ink Free" pitchFamily="34" charset="-120"/>
              </a:rPr>
              <a:t>✓</a:t>
            </a:r>
            <a:endParaRPr lang="en-US" sz="3000" dirty="0"/>
          </a:p>
        </p:txBody>
      </p:sp>
      <p:sp>
        <p:nvSpPr>
          <p:cNvPr id="7" name="Text 5"/>
          <p:cNvSpPr txBox="1"/>
          <p:nvPr/>
        </p:nvSpPr>
        <p:spPr>
          <a:xfrm>
            <a:off x="9418320" y="1188720"/>
            <a:ext cx="2926080" cy="310896"/>
          </a:xfrm>
          <a:prstGeom prst="rect">
            <a:avLst/>
          </a:prstGeom>
          <a:noFill/>
          <a:ln/>
        </p:spPr>
        <p:txBody>
          <a:bodyPr wrap="square" lIns="0" tIns="0" rIns="0" bIns="0" rtlCol="0" anchor="t"/>
          <a:lstStyle/>
          <a:p>
            <a:pPr algn="ctr" indent="0" marL="0">
              <a:buNone/>
            </a:pPr>
            <a:r>
              <a:rPr lang="en-US" sz="1250" dirty="0">
                <a:solidFill>
                  <a:srgbClr val="D6453D"/>
                </a:solidFill>
                <a:latin typeface="Ink Free" pitchFamily="34" charset="0"/>
                <a:ea typeface="Ink Free" pitchFamily="34" charset="-122"/>
                <a:cs typeface="Ink Free" pitchFamily="34" charset="-120"/>
              </a:rPr>
              <a:t>pauta: tres colas con DLQ</a:t>
            </a:r>
            <a:endParaRPr lang="en-US" sz="1250" dirty="0"/>
          </a:p>
        </p:txBody>
      </p:sp>
      <p:pic>
        <p:nvPicPr>
          <p:cNvPr id="8" name="Image 0" descr="C:\Users\joshu\AppData\Local\Temp\claude\C--Users-joshu-Desktop-CloudDevRamo\d162bf51-ad36-4a2b-981d-7f5a95d9a76d\scratchpad\ppt4\capas\s6.png">    </p:cNvPr>
          <p:cNvPicPr>
            <a:picLocks noChangeAspect="1"/>
          </p:cNvPicPr>
          <p:nvPr/>
        </p:nvPicPr>
        <p:blipFill>
          <a:blip r:embed="rId2"/>
          <a:stretch>
            <a:fillRect/>
          </a:stretch>
        </p:blipFill>
        <p:spPr>
          <a:xfrm>
            <a:off x="0" y="0"/>
            <a:ext cx="12191695" cy="6858000"/>
          </a:xfrm>
          <a:prstGeom prst="rect">
            <a:avLst/>
          </a:prstGeom>
        </p:spPr>
      </p:pic>
      <p:sp>
        <p:nvSpPr>
          <p:cNvPr id="9" name="Text 6"/>
          <p:cNvSpPr txBox="1"/>
          <p:nvPr/>
        </p:nvSpPr>
        <p:spPr>
          <a:xfrm>
            <a:off x="914400" y="2148840"/>
            <a:ext cx="2743200" cy="365760"/>
          </a:xfrm>
          <a:prstGeom prst="rect">
            <a:avLst/>
          </a:prstGeom>
          <a:noFill/>
          <a:ln/>
        </p:spPr>
        <p:txBody>
          <a:bodyPr wrap="square" lIns="0" tIns="0" rIns="0" bIns="0" rtlCol="0" anchor="t"/>
          <a:lstStyle/>
          <a:p>
            <a:pPr indent="0" marL="0">
              <a:buNone/>
            </a:pPr>
            <a:r>
              <a:rPr lang="en-US" sz="1500" dirty="0">
                <a:solidFill>
                  <a:srgbClr val="1B2B4B"/>
                </a:solidFill>
                <a:latin typeface="Ink Free" pitchFamily="34" charset="0"/>
                <a:ea typeface="Ink Free" pitchFamily="34" charset="-122"/>
                <a:cs typeface="Ink Free" pitchFamily="34" charset="-120"/>
              </a:rPr>
              <a:t>pedidos360.notificaciones</a:t>
            </a:r>
            <a:endParaRPr lang="en-US" sz="1500" dirty="0"/>
          </a:p>
        </p:txBody>
      </p:sp>
      <p:sp>
        <p:nvSpPr>
          <p:cNvPr id="10" name="Text 7"/>
          <p:cNvSpPr txBox="1"/>
          <p:nvPr/>
        </p:nvSpPr>
        <p:spPr>
          <a:xfrm>
            <a:off x="914400" y="2478024"/>
            <a:ext cx="3291840" cy="320040"/>
          </a:xfrm>
          <a:prstGeom prst="rect">
            <a:avLst/>
          </a:prstGeom>
          <a:noFill/>
          <a:ln/>
        </p:spPr>
        <p:txBody>
          <a:bodyPr wrap="square" lIns="0" tIns="0" rIns="0" bIns="0" rtlCol="0" anchor="t"/>
          <a:lstStyle/>
          <a:p>
            <a:pPr indent="0" marL="0">
              <a:buNone/>
            </a:pPr>
            <a:r>
              <a:rPr lang="en-US" sz="1050" dirty="0">
                <a:solidFill>
                  <a:srgbClr val="5B6578"/>
                </a:solidFill>
                <a:latin typeface="Segoe UI" pitchFamily="34" charset="0"/>
                <a:ea typeface="Segoe UI" pitchFamily="34" charset="-122"/>
                <a:cs typeface="Segoe UI" pitchFamily="34" charset="-120"/>
              </a:rPr>
              <a:t>avisos al cliente</a:t>
            </a:r>
            <a:endParaRPr lang="en-US" sz="1050" dirty="0"/>
          </a:p>
        </p:txBody>
      </p:sp>
      <p:sp>
        <p:nvSpPr>
          <p:cNvPr id="11" name="Text 8"/>
          <p:cNvSpPr txBox="1"/>
          <p:nvPr/>
        </p:nvSpPr>
        <p:spPr>
          <a:xfrm>
            <a:off x="4389120" y="2194560"/>
            <a:ext cx="914400" cy="320040"/>
          </a:xfrm>
          <a:prstGeom prst="rect">
            <a:avLst/>
          </a:prstGeom>
          <a:noFill/>
          <a:ln/>
        </p:spPr>
        <p:txBody>
          <a:bodyPr wrap="square" lIns="0" tIns="0" rIns="0" bIns="0" rtlCol="0" anchor="t"/>
          <a:lstStyle/>
          <a:p>
            <a:pPr indent="0" marL="0">
              <a:buNone/>
            </a:pPr>
            <a:r>
              <a:rPr lang="en-US" sz="1300" dirty="0">
                <a:solidFill>
                  <a:srgbClr val="C24E00"/>
                </a:solidFill>
                <a:latin typeface="Ink Free" pitchFamily="34" charset="0"/>
                <a:ea typeface="Ink Free" pitchFamily="34" charset="-122"/>
                <a:cs typeface="Ink Free" pitchFamily="34" charset="-120"/>
              </a:rPr>
              <a:t>topic</a:t>
            </a:r>
            <a:endParaRPr lang="en-US" sz="1300" dirty="0"/>
          </a:p>
        </p:txBody>
      </p:sp>
      <p:sp>
        <p:nvSpPr>
          <p:cNvPr id="12" name="Text 9"/>
          <p:cNvSpPr txBox="1"/>
          <p:nvPr/>
        </p:nvSpPr>
        <p:spPr>
          <a:xfrm>
            <a:off x="5120640" y="2194560"/>
            <a:ext cx="1188720" cy="320040"/>
          </a:xfrm>
          <a:prstGeom prst="rect">
            <a:avLst/>
          </a:prstGeom>
          <a:noFill/>
          <a:ln/>
        </p:spPr>
        <p:txBody>
          <a:bodyPr wrap="square" lIns="0" tIns="0" rIns="0" bIns="0" rtlCol="0" anchor="t"/>
          <a:lstStyle/>
          <a:p>
            <a:pPr indent="0" marL="0">
              <a:buNone/>
            </a:pPr>
            <a:r>
              <a:rPr lang="en-US" sz="1050" dirty="0">
                <a:solidFill>
                  <a:srgbClr val="1E8A57"/>
                </a:solidFill>
                <a:latin typeface="Segoe UI" pitchFamily="34" charset="0"/>
                <a:ea typeface="Segoe UI" pitchFamily="34" charset="-122"/>
                <a:cs typeface="Segoe UI" pitchFamily="34" charset="-120"/>
              </a:rPr>
              <a:t>+ .retry  + .dlq</a:t>
            </a:r>
            <a:endParaRPr lang="en-US" sz="1050" dirty="0"/>
          </a:p>
        </p:txBody>
      </p:sp>
      <p:sp>
        <p:nvSpPr>
          <p:cNvPr id="13" name="Text 10"/>
          <p:cNvSpPr txBox="1"/>
          <p:nvPr/>
        </p:nvSpPr>
        <p:spPr>
          <a:xfrm>
            <a:off x="914400" y="2880360"/>
            <a:ext cx="2743200" cy="365760"/>
          </a:xfrm>
          <a:prstGeom prst="rect">
            <a:avLst/>
          </a:prstGeom>
          <a:noFill/>
          <a:ln/>
        </p:spPr>
        <p:txBody>
          <a:bodyPr wrap="square" lIns="0" tIns="0" rIns="0" bIns="0" rtlCol="0" anchor="t"/>
          <a:lstStyle/>
          <a:p>
            <a:pPr indent="0" marL="0">
              <a:buNone/>
            </a:pPr>
            <a:r>
              <a:rPr lang="en-US" sz="1500" dirty="0">
                <a:solidFill>
                  <a:srgbClr val="1B2B4B"/>
                </a:solidFill>
                <a:latin typeface="Ink Free" pitchFamily="34" charset="0"/>
                <a:ea typeface="Ink Free" pitchFamily="34" charset="-122"/>
                <a:cs typeface="Ink Free" pitchFamily="34" charset="-120"/>
              </a:rPr>
              <a:t>pedidos360.documentos</a:t>
            </a:r>
            <a:endParaRPr lang="en-US" sz="1500" dirty="0"/>
          </a:p>
        </p:txBody>
      </p:sp>
      <p:sp>
        <p:nvSpPr>
          <p:cNvPr id="14" name="Text 11"/>
          <p:cNvSpPr txBox="1"/>
          <p:nvPr/>
        </p:nvSpPr>
        <p:spPr>
          <a:xfrm>
            <a:off x="914400" y="3209544"/>
            <a:ext cx="3291840" cy="320040"/>
          </a:xfrm>
          <a:prstGeom prst="rect">
            <a:avLst/>
          </a:prstGeom>
          <a:noFill/>
          <a:ln/>
        </p:spPr>
        <p:txBody>
          <a:bodyPr wrap="square" lIns="0" tIns="0" rIns="0" bIns="0" rtlCol="0" anchor="t"/>
          <a:lstStyle/>
          <a:p>
            <a:pPr indent="0" marL="0">
              <a:buNone/>
            </a:pPr>
            <a:r>
              <a:rPr lang="en-US" sz="1050" dirty="0">
                <a:solidFill>
                  <a:srgbClr val="5B6578"/>
                </a:solidFill>
                <a:latin typeface="Segoe UI" pitchFamily="34" charset="0"/>
                <a:ea typeface="Segoe UI" pitchFamily="34" charset="-122"/>
                <a:cs typeface="Segoe UI" pitchFamily="34" charset="-120"/>
              </a:rPr>
              <a:t>tickets de pedidos confirmados</a:t>
            </a:r>
            <a:endParaRPr lang="en-US" sz="1050" dirty="0"/>
          </a:p>
        </p:txBody>
      </p:sp>
      <p:sp>
        <p:nvSpPr>
          <p:cNvPr id="15" name="Text 12"/>
          <p:cNvSpPr txBox="1"/>
          <p:nvPr/>
        </p:nvSpPr>
        <p:spPr>
          <a:xfrm>
            <a:off x="4389120" y="2926080"/>
            <a:ext cx="914400" cy="320040"/>
          </a:xfrm>
          <a:prstGeom prst="rect">
            <a:avLst/>
          </a:prstGeom>
          <a:noFill/>
          <a:ln/>
        </p:spPr>
        <p:txBody>
          <a:bodyPr wrap="square" lIns="0" tIns="0" rIns="0" bIns="0" rtlCol="0" anchor="t"/>
          <a:lstStyle/>
          <a:p>
            <a:pPr indent="0" marL="0">
              <a:buNone/>
            </a:pPr>
            <a:r>
              <a:rPr lang="en-US" sz="1300" dirty="0">
                <a:solidFill>
                  <a:srgbClr val="C24E00"/>
                </a:solidFill>
                <a:latin typeface="Ink Free" pitchFamily="34" charset="0"/>
                <a:ea typeface="Ink Free" pitchFamily="34" charset="-122"/>
                <a:cs typeface="Ink Free" pitchFamily="34" charset="-120"/>
              </a:rPr>
              <a:t>topic</a:t>
            </a:r>
            <a:endParaRPr lang="en-US" sz="1300" dirty="0"/>
          </a:p>
        </p:txBody>
      </p:sp>
      <p:sp>
        <p:nvSpPr>
          <p:cNvPr id="16" name="Text 13"/>
          <p:cNvSpPr txBox="1"/>
          <p:nvPr/>
        </p:nvSpPr>
        <p:spPr>
          <a:xfrm>
            <a:off x="5120640" y="2926080"/>
            <a:ext cx="1188720" cy="320040"/>
          </a:xfrm>
          <a:prstGeom prst="rect">
            <a:avLst/>
          </a:prstGeom>
          <a:noFill/>
          <a:ln/>
        </p:spPr>
        <p:txBody>
          <a:bodyPr wrap="square" lIns="0" tIns="0" rIns="0" bIns="0" rtlCol="0" anchor="t"/>
          <a:lstStyle/>
          <a:p>
            <a:pPr indent="0" marL="0">
              <a:buNone/>
            </a:pPr>
            <a:r>
              <a:rPr lang="en-US" sz="1050" dirty="0">
                <a:solidFill>
                  <a:srgbClr val="1E8A57"/>
                </a:solidFill>
                <a:latin typeface="Segoe UI" pitchFamily="34" charset="0"/>
                <a:ea typeface="Segoe UI" pitchFamily="34" charset="-122"/>
                <a:cs typeface="Segoe UI" pitchFamily="34" charset="-120"/>
              </a:rPr>
              <a:t>+ .retry  + .dlq</a:t>
            </a:r>
            <a:endParaRPr lang="en-US" sz="1050" dirty="0"/>
          </a:p>
        </p:txBody>
      </p:sp>
      <p:sp>
        <p:nvSpPr>
          <p:cNvPr id="17" name="Text 14"/>
          <p:cNvSpPr txBox="1"/>
          <p:nvPr/>
        </p:nvSpPr>
        <p:spPr>
          <a:xfrm>
            <a:off x="914400" y="3611880"/>
            <a:ext cx="2743200" cy="365760"/>
          </a:xfrm>
          <a:prstGeom prst="rect">
            <a:avLst/>
          </a:prstGeom>
          <a:noFill/>
          <a:ln/>
        </p:spPr>
        <p:txBody>
          <a:bodyPr wrap="square" lIns="0" tIns="0" rIns="0" bIns="0" rtlCol="0" anchor="t"/>
          <a:lstStyle/>
          <a:p>
            <a:pPr indent="0" marL="0">
              <a:buNone/>
            </a:pPr>
            <a:r>
              <a:rPr lang="en-US" sz="1500" dirty="0">
                <a:solidFill>
                  <a:srgbClr val="1B2B4B"/>
                </a:solidFill>
                <a:latin typeface="Ink Free" pitchFamily="34" charset="0"/>
                <a:ea typeface="Ink Free" pitchFamily="34" charset="-122"/>
                <a:cs typeface="Ink Free" pitchFamily="34" charset="-120"/>
              </a:rPr>
              <a:t>pedidos360.auditoria</a:t>
            </a:r>
            <a:endParaRPr lang="en-US" sz="1500" dirty="0"/>
          </a:p>
        </p:txBody>
      </p:sp>
      <p:sp>
        <p:nvSpPr>
          <p:cNvPr id="18" name="Text 15"/>
          <p:cNvSpPr txBox="1"/>
          <p:nvPr/>
        </p:nvSpPr>
        <p:spPr>
          <a:xfrm>
            <a:off x="914400" y="3941064"/>
            <a:ext cx="3291840" cy="320040"/>
          </a:xfrm>
          <a:prstGeom prst="rect">
            <a:avLst/>
          </a:prstGeom>
          <a:noFill/>
          <a:ln/>
        </p:spPr>
        <p:txBody>
          <a:bodyPr wrap="square" lIns="0" tIns="0" rIns="0" bIns="0" rtlCol="0" anchor="t"/>
          <a:lstStyle/>
          <a:p>
            <a:pPr indent="0" marL="0">
              <a:buNone/>
            </a:pPr>
            <a:r>
              <a:rPr lang="en-US" sz="1050" dirty="0">
                <a:solidFill>
                  <a:srgbClr val="5B6578"/>
                </a:solidFill>
                <a:latin typeface="Segoe UI" pitchFamily="34" charset="0"/>
                <a:ea typeface="Segoe UI" pitchFamily="34" charset="-122"/>
                <a:cs typeface="Segoe UI" pitchFamily="34" charset="-120"/>
              </a:rPr>
              <a:t>registro de anulaciones</a:t>
            </a:r>
            <a:endParaRPr lang="en-US" sz="1050" dirty="0"/>
          </a:p>
        </p:txBody>
      </p:sp>
      <p:sp>
        <p:nvSpPr>
          <p:cNvPr id="19" name="Text 16"/>
          <p:cNvSpPr txBox="1"/>
          <p:nvPr/>
        </p:nvSpPr>
        <p:spPr>
          <a:xfrm>
            <a:off x="4389120" y="3657600"/>
            <a:ext cx="914400" cy="320040"/>
          </a:xfrm>
          <a:prstGeom prst="rect">
            <a:avLst/>
          </a:prstGeom>
          <a:noFill/>
          <a:ln/>
        </p:spPr>
        <p:txBody>
          <a:bodyPr wrap="square" lIns="0" tIns="0" rIns="0" bIns="0" rtlCol="0" anchor="t"/>
          <a:lstStyle/>
          <a:p>
            <a:pPr indent="0" marL="0">
              <a:buNone/>
            </a:pPr>
            <a:r>
              <a:rPr lang="en-US" sz="1300" dirty="0">
                <a:solidFill>
                  <a:srgbClr val="0063B1"/>
                </a:solidFill>
                <a:latin typeface="Ink Free" pitchFamily="34" charset="0"/>
                <a:ea typeface="Ink Free" pitchFamily="34" charset="-122"/>
                <a:cs typeface="Ink Free" pitchFamily="34" charset="-120"/>
              </a:rPr>
              <a:t>direct</a:t>
            </a:r>
            <a:endParaRPr lang="en-US" sz="1300" dirty="0"/>
          </a:p>
        </p:txBody>
      </p:sp>
      <p:sp>
        <p:nvSpPr>
          <p:cNvPr id="20" name="Text 17"/>
          <p:cNvSpPr txBox="1"/>
          <p:nvPr/>
        </p:nvSpPr>
        <p:spPr>
          <a:xfrm>
            <a:off x="5120640" y="3657600"/>
            <a:ext cx="1188720" cy="320040"/>
          </a:xfrm>
          <a:prstGeom prst="rect">
            <a:avLst/>
          </a:prstGeom>
          <a:noFill/>
          <a:ln/>
        </p:spPr>
        <p:txBody>
          <a:bodyPr wrap="square" lIns="0" tIns="0" rIns="0" bIns="0" rtlCol="0" anchor="t"/>
          <a:lstStyle/>
          <a:p>
            <a:pPr indent="0" marL="0">
              <a:buNone/>
            </a:pPr>
            <a:r>
              <a:rPr lang="en-US" sz="1050" dirty="0">
                <a:solidFill>
                  <a:srgbClr val="1E8A57"/>
                </a:solidFill>
                <a:latin typeface="Segoe UI" pitchFamily="34" charset="0"/>
                <a:ea typeface="Segoe UI" pitchFamily="34" charset="-122"/>
                <a:cs typeface="Segoe UI" pitchFamily="34" charset="-120"/>
              </a:rPr>
              <a:t>+ .retry  + .dlq</a:t>
            </a:r>
            <a:endParaRPr lang="en-US" sz="1050" dirty="0"/>
          </a:p>
        </p:txBody>
      </p:sp>
      <p:sp>
        <p:nvSpPr>
          <p:cNvPr id="21" name="Shape 18"/>
          <p:cNvSpPr/>
          <p:nvPr/>
        </p:nvSpPr>
        <p:spPr>
          <a:xfrm rot="60000">
            <a:off x="6601968" y="1984248"/>
            <a:ext cx="4901184" cy="4306824"/>
          </a:xfrm>
          <a:prstGeom prst="rect">
            <a:avLst/>
          </a:prstGeom>
          <a:solidFill>
            <a:srgbClr val="FFFFFF"/>
          </a:solidFill>
          <a:ln w="6350">
            <a:solidFill>
              <a:srgbClr val="D9D9D9"/>
            </a:solidFill>
            <a:prstDash val="solid"/>
          </a:ln>
          <a:effectLst>
            <a:outerShdw sx="100000" sy="100000" kx="0" ky="0" algn="bl" rotWithShape="0" blurRad="88900" dist="38100" dir="3600000">
              <a:srgbClr val="000000">
                <a:alpha val="28000"/>
              </a:srgbClr>
            </a:outerShdw>
          </a:effectLst>
        </p:spPr>
      </p:sp>
      <p:pic>
        <p:nvPicPr>
          <p:cNvPr id="22" name="Image 1" descr="C:\Users\joshu\Desktop\CloudDevRamo\docs\evidencia\rabbit-03-colas.png">    </p:cNvPr>
          <p:cNvPicPr>
            <a:picLocks noChangeAspect="1"/>
          </p:cNvPicPr>
          <p:nvPr/>
        </p:nvPicPr>
        <p:blipFill>
          <a:blip r:embed="rId3"/>
          <a:stretch>
            <a:fillRect/>
          </a:stretch>
        </p:blipFill>
        <p:spPr>
          <a:xfrm rot="60000">
            <a:off x="6675120" y="2057400"/>
            <a:ext cx="4754880" cy="4160520"/>
          </a:xfrm>
          <a:prstGeom prst="rect">
            <a:avLst/>
          </a:prstGeom>
        </p:spPr>
      </p:pic>
      <p:sp>
        <p:nvSpPr>
          <p:cNvPr id="23" name="Shape 19"/>
          <p:cNvSpPr/>
          <p:nvPr/>
        </p:nvSpPr>
        <p:spPr>
          <a:xfrm rot="-120000">
            <a:off x="8641080" y="1874520"/>
            <a:ext cx="822960" cy="246888"/>
          </a:xfrm>
          <a:prstGeom prst="rect">
            <a:avLst/>
          </a:prstGeom>
          <a:solidFill>
            <a:srgbClr val="FFB787">
              <a:alpha val="75000"/>
            </a:srgbClr>
          </a:solidFill>
          <a:ln w="12700">
            <a:solidFill>
              <a:srgbClr val="FFB787">
                <a:alpha val="0"/>
              </a:srgbClr>
            </a:solidFill>
            <a:prstDash val="solid"/>
          </a:ln>
        </p:spPr>
      </p:sp>
      <p:sp>
        <p:nvSpPr>
          <p:cNvPr id="24" name="Shape 20"/>
          <p:cNvSpPr/>
          <p:nvPr/>
        </p:nvSpPr>
        <p:spPr>
          <a:xfrm>
            <a:off x="731520" y="4663440"/>
            <a:ext cx="5577840" cy="1554480"/>
          </a:xfrm>
          <a:prstGeom prst="roundRect">
            <a:avLst>
              <a:gd name="adj" fmla="val 4706"/>
            </a:avLst>
          </a:prstGeom>
          <a:solidFill>
            <a:srgbClr val="10182B"/>
          </a:solidFill>
          <a:ln w="12700">
            <a:solidFill>
              <a:srgbClr val="2A3A5C"/>
            </a:solidFill>
            <a:prstDash val="solid"/>
          </a:ln>
        </p:spPr>
      </p:sp>
      <p:sp>
        <p:nvSpPr>
          <p:cNvPr id="25" name="Text 21"/>
          <p:cNvSpPr txBox="1"/>
          <p:nvPr/>
        </p:nvSpPr>
        <p:spPr>
          <a:xfrm>
            <a:off x="914400" y="4791456"/>
            <a:ext cx="5212080" cy="1298448"/>
          </a:xfrm>
          <a:prstGeom prst="rect">
            <a:avLst/>
          </a:prstGeom>
          <a:noFill/>
          <a:ln/>
        </p:spPr>
        <p:txBody>
          <a:bodyPr wrap="square" lIns="0" tIns="0" rIns="0" bIns="0" rtlCol="0" anchor="t"/>
          <a:lstStyle/>
          <a:p>
            <a:pPr indent="0" marL="0">
              <a:buNone/>
            </a:pPr>
            <a:r>
              <a:rPr lang="en-US" sz="1150" dirty="0">
                <a:solidFill>
                  <a:srgbClr val="7EE2B0"/>
                </a:solidFill>
                <a:latin typeface="Consolas" pitchFamily="34" charset="0"/>
                <a:ea typeface="Consolas" pitchFamily="34" charset="-122"/>
                <a:cs typeface="Consolas" pitchFamily="34" charset="-120"/>
              </a:rPr>
              <a:t>pedidos360.auditoria            msgs=0  consumidores=2</a:t>
            </a:r>
            <a:endParaRPr lang="en-US" sz="1150" dirty="0"/>
          </a:p>
          <a:p>
            <a:pPr indent="0" marL="0">
              <a:buNone/>
            </a:pPr>
            <a:r>
              <a:rPr lang="en-US" sz="1150" dirty="0">
                <a:solidFill>
                  <a:srgbClr val="FFB38A"/>
                </a:solidFill>
                <a:latin typeface="Consolas" pitchFamily="34" charset="0"/>
                <a:ea typeface="Consolas" pitchFamily="34" charset="-122"/>
                <a:cs typeface="Consolas" pitchFamily="34" charset="-120"/>
              </a:rPr>
              <a:t>pedidos360.auditoria.dlq        msgs=1  consumidores=0</a:t>
            </a:r>
            <a:endParaRPr lang="en-US" sz="1150" dirty="0"/>
          </a:p>
          <a:p>
            <a:pPr indent="0" marL="0">
              <a:buNone/>
            </a:pPr>
            <a:r>
              <a:rPr lang="en-US" sz="1150" dirty="0">
                <a:solidFill>
                  <a:srgbClr val="7EE2B0"/>
                </a:solidFill>
                <a:latin typeface="Consolas" pitchFamily="34" charset="0"/>
                <a:ea typeface="Consolas" pitchFamily="34" charset="-122"/>
                <a:cs typeface="Consolas" pitchFamily="34" charset="-120"/>
              </a:rPr>
              <a:t>pedidos360.documentos           msgs=0  consumidores=2</a:t>
            </a:r>
            <a:endParaRPr lang="en-US" sz="1150" dirty="0"/>
          </a:p>
          <a:p>
            <a:pPr indent="0" marL="0">
              <a:buNone/>
            </a:pPr>
            <a:r>
              <a:rPr lang="en-US" sz="1150" dirty="0">
                <a:solidFill>
                  <a:srgbClr val="7EE2B0"/>
                </a:solidFill>
                <a:latin typeface="Consolas" pitchFamily="34" charset="0"/>
                <a:ea typeface="Consolas" pitchFamily="34" charset="-122"/>
                <a:cs typeface="Consolas" pitchFamily="34" charset="-120"/>
              </a:rPr>
              <a:t>pedidos360.notificaciones       msgs=0  consumidores=2</a:t>
            </a:r>
            <a:endParaRPr lang="en-US" sz="1150" dirty="0"/>
          </a:p>
          <a:p>
            <a:pPr indent="0" marL="0">
              <a:buNone/>
            </a:pPr>
            <a:r>
              <a:rPr lang="en-US" sz="1150" dirty="0">
                <a:solidFill>
                  <a:srgbClr val="FFB38A"/>
                </a:solidFill>
                <a:latin typeface="Consolas" pitchFamily="34" charset="0"/>
                <a:ea typeface="Consolas" pitchFamily="34" charset="-122"/>
                <a:cs typeface="Consolas" pitchFamily="34" charset="-120"/>
              </a:rPr>
              <a:t>pedidos360.notificaciones.dlq   msgs=1  consumidores=0</a:t>
            </a:r>
            <a:endParaRPr lang="en-US" sz="1150" dirty="0"/>
          </a:p>
          <a:p>
            <a:pPr indent="0" marL="0">
              <a:buNone/>
            </a:pPr>
            <a:r>
              <a:rPr lang="en-US" sz="1150" dirty="0">
                <a:solidFill>
                  <a:srgbClr val="9FB6D9"/>
                </a:solidFill>
                <a:latin typeface="Consolas" pitchFamily="34" charset="0"/>
                <a:ea typeface="Consolas" pitchFamily="34" charset="-122"/>
                <a:cs typeface="Consolas" pitchFamily="34" charset="-120"/>
              </a:rPr>
              <a:t>… 9 colas declaradas por la aplicacion al arrancar</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0607040" y="6419088"/>
            <a:ext cx="1005840" cy="292608"/>
          </a:xfrm>
          <a:prstGeom prst="rect">
            <a:avLst/>
          </a:prstGeom>
          <a:noFill/>
          <a:ln/>
        </p:spPr>
        <p:txBody>
          <a:bodyPr wrap="square" lIns="0" tIns="0" rIns="0" bIns="0" rtlCol="0" anchor="ctr"/>
          <a:lstStyle/>
          <a:p>
            <a:pPr algn="r" indent="0" marL="0">
              <a:buNone/>
            </a:pPr>
            <a:r>
              <a:rPr lang="en-US" sz="1100" dirty="0">
                <a:solidFill>
                  <a:srgbClr val="5B6578"/>
                </a:solidFill>
                <a:latin typeface="Ink Free" pitchFamily="34" charset="0"/>
                <a:ea typeface="Ink Free" pitchFamily="34" charset="-122"/>
                <a:cs typeface="Ink Free" pitchFamily="34" charset="-120"/>
              </a:rPr>
              <a:t>7 / 13</a:t>
            </a:r>
            <a:endParaRPr lang="en-US" sz="1100" dirty="0"/>
          </a:p>
        </p:txBody>
      </p:sp>
      <p:sp>
        <p:nvSpPr>
          <p:cNvPr id="3" name="Text 1"/>
          <p:cNvSpPr txBox="1"/>
          <p:nvPr/>
        </p:nvSpPr>
        <p:spPr>
          <a:xfrm>
            <a:off x="640080" y="256032"/>
            <a:ext cx="6400800" cy="320040"/>
          </a:xfrm>
          <a:prstGeom prst="rect">
            <a:avLst/>
          </a:prstGeom>
          <a:noFill/>
          <a:ln/>
        </p:spPr>
        <p:txBody>
          <a:bodyPr wrap="square" lIns="0" tIns="0" rIns="0" bIns="0" rtlCol="0" anchor="t"/>
          <a:lstStyle/>
          <a:p>
            <a:pPr indent="0" marL="0">
              <a:buNone/>
            </a:pPr>
            <a:r>
              <a:rPr lang="en-US" sz="1500" dirty="0">
                <a:solidFill>
                  <a:srgbClr val="C24E00"/>
                </a:solidFill>
                <a:latin typeface="Ink Free" pitchFamily="34" charset="0"/>
                <a:ea typeface="Ink Free" pitchFamily="34" charset="-122"/>
                <a:cs typeface="Ink Free" pitchFamily="34" charset="-120"/>
              </a:rPr>
              <a:t>Codigo</a:t>
            </a:r>
            <a:endParaRPr lang="en-US" sz="1500" dirty="0"/>
          </a:p>
        </p:txBody>
      </p:sp>
      <p:sp>
        <p:nvSpPr>
          <p:cNvPr id="4" name="Text 2"/>
          <p:cNvSpPr txBox="1"/>
          <p:nvPr/>
        </p:nvSpPr>
        <p:spPr>
          <a:xfrm>
            <a:off x="640080" y="530352"/>
            <a:ext cx="8778240" cy="685800"/>
          </a:xfrm>
          <a:prstGeom prst="rect">
            <a:avLst/>
          </a:prstGeom>
          <a:noFill/>
          <a:ln/>
        </p:spPr>
        <p:txBody>
          <a:bodyPr wrap="square" lIns="0" tIns="0" rIns="0" bIns="0" rtlCol="0" anchor="t"/>
          <a:lstStyle/>
          <a:p>
            <a:pPr indent="0" marL="0">
              <a:buNone/>
            </a:pPr>
            <a:r>
              <a:rPr lang="en-US" sz="3400" dirty="0">
                <a:solidFill>
                  <a:srgbClr val="1B2B4B"/>
                </a:solidFill>
                <a:latin typeface="Ink Free" pitchFamily="34" charset="0"/>
                <a:ea typeface="Ink Free" pitchFamily="34" charset="-122"/>
                <a:cs typeface="Ink Free" pitchFamily="34" charset="-120"/>
              </a:rPr>
              <a:t>Los nombres viven en un solo lugar</a:t>
            </a:r>
            <a:endParaRPr lang="en-US" sz="3400" dirty="0"/>
          </a:p>
        </p:txBody>
      </p:sp>
      <p:sp>
        <p:nvSpPr>
          <p:cNvPr id="5" name="Text 3"/>
          <p:cNvSpPr txBox="1"/>
          <p:nvPr/>
        </p:nvSpPr>
        <p:spPr>
          <a:xfrm>
            <a:off x="640080" y="1207008"/>
            <a:ext cx="8778240" cy="365760"/>
          </a:xfrm>
          <a:prstGeom prst="rect">
            <a:avLst/>
          </a:prstGeom>
          <a:noFill/>
          <a:ln/>
        </p:spPr>
        <p:txBody>
          <a:bodyPr wrap="square" lIns="0" tIns="0" rIns="0" bIns="0" rtlCol="0" anchor="t"/>
          <a:lstStyle/>
          <a:p>
            <a:pPr indent="0" marL="0">
              <a:buNone/>
            </a:pPr>
            <a:r>
              <a:rPr lang="en-US" sz="1300" dirty="0">
                <a:solidFill>
                  <a:srgbClr val="5B6578"/>
                </a:solidFill>
                <a:latin typeface="Segoe UI" pitchFamily="34" charset="0"/>
                <a:ea typeface="Segoe UI" pitchFamily="34" charset="-122"/>
                <a:cs typeface="Segoe UI" pitchFamily="34" charset="-120"/>
              </a:rPr>
              <a:t>application.yml + una clase de configuracion; ninguna clase de negocio escribe el nombre de una cola</a:t>
            </a:r>
            <a:endParaRPr lang="en-US" sz="1300" dirty="0"/>
          </a:p>
        </p:txBody>
      </p:sp>
      <p:sp>
        <p:nvSpPr>
          <p:cNvPr id="6" name="Text 4"/>
          <p:cNvSpPr txBox="1"/>
          <p:nvPr/>
        </p:nvSpPr>
        <p:spPr>
          <a:xfrm>
            <a:off x="10323576" y="402336"/>
            <a:ext cx="1207008" cy="603504"/>
          </a:xfrm>
          <a:prstGeom prst="rect">
            <a:avLst/>
          </a:prstGeom>
          <a:noFill/>
          <a:ln/>
        </p:spPr>
        <p:txBody>
          <a:bodyPr wrap="square" lIns="0" tIns="0" rIns="0" bIns="0" rtlCol="0" anchor="ctr"/>
          <a:lstStyle/>
          <a:p>
            <a:pPr algn="ctr" indent="0" marL="0">
              <a:buNone/>
            </a:pPr>
            <a:r>
              <a:rPr lang="en-US" sz="3000" dirty="0">
                <a:solidFill>
                  <a:srgbClr val="D6453D"/>
                </a:solidFill>
                <a:latin typeface="Ink Free" pitchFamily="34" charset="0"/>
                <a:ea typeface="Ink Free" pitchFamily="34" charset="-122"/>
                <a:cs typeface="Ink Free" pitchFamily="34" charset="-120"/>
              </a:rPr>
              <a:t>12%</a:t>
            </a:r>
            <a:endParaRPr lang="en-US" sz="3000" dirty="0"/>
          </a:p>
        </p:txBody>
      </p:sp>
      <p:sp>
        <p:nvSpPr>
          <p:cNvPr id="7" name="Text 5"/>
          <p:cNvSpPr txBox="1"/>
          <p:nvPr/>
        </p:nvSpPr>
        <p:spPr>
          <a:xfrm>
            <a:off x="9418320" y="1188720"/>
            <a:ext cx="2926080" cy="310896"/>
          </a:xfrm>
          <a:prstGeom prst="rect">
            <a:avLst/>
          </a:prstGeom>
          <a:noFill/>
          <a:ln/>
        </p:spPr>
        <p:txBody>
          <a:bodyPr wrap="square" lIns="0" tIns="0" rIns="0" bIns="0" rtlCol="0" anchor="t"/>
          <a:lstStyle/>
          <a:p>
            <a:pPr algn="ctr" indent="0" marL="0">
              <a:buNone/>
            </a:pPr>
            <a:r>
              <a:rPr lang="en-US" sz="1250" dirty="0">
                <a:solidFill>
                  <a:srgbClr val="D6453D"/>
                </a:solidFill>
                <a:latin typeface="Ink Free" pitchFamily="34" charset="0"/>
                <a:ea typeface="Ink Free" pitchFamily="34" charset="-122"/>
                <a:cs typeface="Ink Free" pitchFamily="34" charset="-120"/>
              </a:rPr>
              <a:t>pauta: nombres centralizados</a:t>
            </a:r>
            <a:endParaRPr lang="en-US" sz="1250" dirty="0"/>
          </a:p>
        </p:txBody>
      </p:sp>
      <p:pic>
        <p:nvPicPr>
          <p:cNvPr id="8" name="Image 0" descr="C:\Users\joshu\AppData\Local\Temp\claude\C--Users-joshu-Desktop-CloudDevRamo\d162bf51-ad36-4a2b-981d-7f5a95d9a76d\scratchpad\ppt4\capas\s7.png">    </p:cNvPr>
          <p:cNvPicPr>
            <a:picLocks noChangeAspect="1"/>
          </p:cNvPicPr>
          <p:nvPr/>
        </p:nvPicPr>
        <p:blipFill>
          <a:blip r:embed="rId2"/>
          <a:stretch>
            <a:fillRect/>
          </a:stretch>
        </p:blipFill>
        <p:spPr>
          <a:xfrm>
            <a:off x="0" y="0"/>
            <a:ext cx="12191695" cy="6858000"/>
          </a:xfrm>
          <a:prstGeom prst="rect">
            <a:avLst/>
          </a:prstGeom>
        </p:spPr>
      </p:pic>
      <p:sp>
        <p:nvSpPr>
          <p:cNvPr id="9" name="Shape 6"/>
          <p:cNvSpPr/>
          <p:nvPr/>
        </p:nvSpPr>
        <p:spPr>
          <a:xfrm>
            <a:off x="731520" y="2057400"/>
            <a:ext cx="5394960" cy="3200400"/>
          </a:xfrm>
          <a:prstGeom prst="roundRect">
            <a:avLst>
              <a:gd name="adj" fmla="val 2286"/>
            </a:avLst>
          </a:prstGeom>
          <a:solidFill>
            <a:srgbClr val="10182B"/>
          </a:solidFill>
          <a:ln w="12700">
            <a:solidFill>
              <a:srgbClr val="2A3A5C"/>
            </a:solidFill>
            <a:prstDash val="solid"/>
          </a:ln>
        </p:spPr>
      </p:sp>
      <p:sp>
        <p:nvSpPr>
          <p:cNvPr id="10" name="Text 7"/>
          <p:cNvSpPr txBox="1"/>
          <p:nvPr/>
        </p:nvSpPr>
        <p:spPr>
          <a:xfrm>
            <a:off x="914400" y="2185416"/>
            <a:ext cx="5029200" cy="2944368"/>
          </a:xfrm>
          <a:prstGeom prst="rect">
            <a:avLst/>
          </a:prstGeom>
          <a:noFill/>
          <a:ln/>
        </p:spPr>
        <p:txBody>
          <a:bodyPr wrap="square" lIns="0" tIns="0" rIns="0" bIns="0" rtlCol="0" anchor="t"/>
          <a:lstStyle/>
          <a:p>
            <a:pPr indent="0" marL="0">
              <a:buNone/>
            </a:pPr>
            <a:r>
              <a:rPr lang="en-US" sz="1150" dirty="0">
                <a:solidFill>
                  <a:srgbClr val="9FB6D9"/>
                </a:solidFill>
                <a:latin typeface="Consolas" pitchFamily="34" charset="0"/>
                <a:ea typeface="Consolas" pitchFamily="34" charset="-122"/>
                <a:cs typeface="Consolas" pitchFamily="34" charset="-120"/>
              </a:rPr>
              <a:t># application.yml</a:t>
            </a:r>
            <a:endParaRPr lang="en-US" sz="1150" dirty="0"/>
          </a:p>
          <a:p>
            <a:pPr indent="0" marL="0">
              <a:buNone/>
            </a:pPr>
            <a:r>
              <a:rPr lang="en-US" sz="1150" dirty="0">
                <a:solidFill>
                  <a:srgbClr val="FFD9A3"/>
                </a:solidFill>
                <a:latin typeface="Consolas" pitchFamily="34" charset="0"/>
                <a:ea typeface="Consolas" pitchFamily="34" charset="-122"/>
                <a:cs typeface="Consolas" pitchFamily="34" charset="-120"/>
              </a:rPr>
              <a:t>pedidos360:</a:t>
            </a:r>
            <a:endParaRPr lang="en-US" sz="1150" dirty="0"/>
          </a:p>
          <a:p>
            <a:pPr indent="0" marL="0">
              <a:buNone/>
            </a:pPr>
            <a:r>
              <a:rPr lang="en-US" sz="1150" dirty="0">
                <a:solidFill>
                  <a:srgbClr val="FFD9A3"/>
                </a:solidFill>
                <a:latin typeface="Consolas" pitchFamily="34" charset="0"/>
                <a:ea typeface="Consolas" pitchFamily="34" charset="-122"/>
                <a:cs typeface="Consolas" pitchFamily="34" charset="-120"/>
              </a:rPr>
              <a:t>  mensajeria:</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    exchange: pedidos360.eventos</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    exchange-comandos: pedidos360.comandos</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    exchange-descarte: pedidos360.eventos.dlx</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    sufijo-dlq: .dlq</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    sufijo-reintento: .retry</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    max-intentos: 3</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    espera-reintento-ms: 5000</a:t>
            </a:r>
            <a:endParaRPr lang="en-US" sz="1150" dirty="0"/>
          </a:p>
          <a:p>
            <a:pPr indent="0" marL="0">
              <a:buNone/>
            </a:pPr>
            <a:r>
              <a:rPr lang="en-US" sz="1150" dirty="0">
                <a:solidFill>
                  <a:srgbClr val="FFD9A3"/>
                </a:solidFill>
                <a:latin typeface="Consolas" pitchFamily="34" charset="0"/>
                <a:ea typeface="Consolas" pitchFamily="34" charset="-122"/>
                <a:cs typeface="Consolas" pitchFamily="34" charset="-120"/>
              </a:rPr>
              <a:t>    rutas:</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      pedido-creado: pedido.creado</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      pedido-confirmado: pedido.confirmado</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      pedido-anulado: auditoria.pedido-anulado</a:t>
            </a:r>
            <a:endParaRPr lang="en-US" sz="1150" dirty="0"/>
          </a:p>
          <a:p>
            <a:pPr indent="0" marL="0">
              <a:buNone/>
            </a:pPr>
            <a:r>
              <a:rPr lang="en-US" sz="1150" dirty="0">
                <a:solidFill>
                  <a:srgbClr val="FFD9A3"/>
                </a:solidFill>
                <a:latin typeface="Consolas" pitchFamily="34" charset="0"/>
                <a:ea typeface="Consolas" pitchFamily="34" charset="-122"/>
                <a:cs typeface="Consolas" pitchFamily="34" charset="-120"/>
              </a:rPr>
              <a:t>    colas:</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      notificaciones: pedidos360.notificaciones</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      documentos: pedidos360.documentos</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      auditoria: pedidos360.auditoria</a:t>
            </a:r>
            <a:endParaRPr lang="en-US" sz="1150" dirty="0"/>
          </a:p>
        </p:txBody>
      </p:sp>
      <p:sp>
        <p:nvSpPr>
          <p:cNvPr id="11" name="Shape 8"/>
          <p:cNvSpPr/>
          <p:nvPr/>
        </p:nvSpPr>
        <p:spPr>
          <a:xfrm>
            <a:off x="6492240" y="2057400"/>
            <a:ext cx="5029200" cy="3200400"/>
          </a:xfrm>
          <a:prstGeom prst="roundRect">
            <a:avLst>
              <a:gd name="adj" fmla="val 2286"/>
            </a:avLst>
          </a:prstGeom>
          <a:solidFill>
            <a:srgbClr val="10182B"/>
          </a:solidFill>
          <a:ln w="12700">
            <a:solidFill>
              <a:srgbClr val="2A3A5C"/>
            </a:solidFill>
            <a:prstDash val="solid"/>
          </a:ln>
        </p:spPr>
      </p:sp>
      <p:sp>
        <p:nvSpPr>
          <p:cNvPr id="12" name="Text 9"/>
          <p:cNvSpPr txBox="1"/>
          <p:nvPr/>
        </p:nvSpPr>
        <p:spPr>
          <a:xfrm>
            <a:off x="6675120" y="2185416"/>
            <a:ext cx="4663440" cy="2944368"/>
          </a:xfrm>
          <a:prstGeom prst="rect">
            <a:avLst/>
          </a:prstGeom>
          <a:noFill/>
          <a:ln/>
        </p:spPr>
        <p:txBody>
          <a:bodyPr wrap="square" lIns="0" tIns="0" rIns="0" bIns="0" rtlCol="0" anchor="t"/>
          <a:lstStyle/>
          <a:p>
            <a:pPr indent="0" marL="0">
              <a:buNone/>
            </a:pPr>
            <a:r>
              <a:rPr lang="en-US" sz="1150" dirty="0">
                <a:solidFill>
                  <a:srgbClr val="9FB6D9"/>
                </a:solidFill>
                <a:latin typeface="Consolas" pitchFamily="34" charset="0"/>
                <a:ea typeface="Consolas" pitchFamily="34" charset="-122"/>
                <a:cs typeface="Consolas" pitchFamily="34" charset="-120"/>
              </a:rPr>
              <a:t>// TopologiaMensajeriaConfig.java</a:t>
            </a:r>
            <a:endParaRPr lang="en-US" sz="1150" dirty="0"/>
          </a:p>
          <a:p>
            <a:pPr indent="0" marL="0">
              <a:buNone/>
            </a:pPr>
            <a:r>
              <a:rPr lang="en-US" sz="1150" dirty="0">
                <a:solidFill>
                  <a:srgbClr val="FFD9A3"/>
                </a:solidFill>
                <a:latin typeface="Consolas" pitchFamily="34" charset="0"/>
                <a:ea typeface="Consolas" pitchFamily="34" charset="-122"/>
                <a:cs typeface="Consolas" pitchFamily="34" charset="-120"/>
              </a:rPr>
              <a:t>@Bean</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public Queue colaAuditoria() {</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  return colaPrincipal(</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      propiedades.cola(CASO_AUDITORIA));</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a:t>
            </a:r>
            <a:endParaRPr lang="en-US" sz="1150" dirty="0"/>
          </a:p>
          <a:p>
            <a:pPr indent="0" marL="0">
              <a:buNone/>
            </a:pPr>
            <a:endParaRPr lang="en-US" sz="1150" dirty="0"/>
          </a:p>
          <a:p>
            <a:pPr indent="0" marL="0">
              <a:buNone/>
            </a:pPr>
            <a:r>
              <a:rPr lang="en-US" sz="1150" dirty="0">
                <a:solidFill>
                  <a:srgbClr val="FFD9A3"/>
                </a:solidFill>
                <a:latin typeface="Consolas" pitchFamily="34" charset="0"/>
                <a:ea typeface="Consolas" pitchFamily="34" charset="-122"/>
                <a:cs typeface="Consolas" pitchFamily="34" charset="-120"/>
              </a:rPr>
              <a:t>@Bean</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public Binding bindingAuditoria…() {</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  return BindingBuilder</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      .bind(colaAuditoria())</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      .to(exchangeComandos())</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      .with(propiedades.ruta(</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          PedidoAnuladoEvento.NOMBRE));</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a:t>
            </a:r>
            <a:endParaRPr lang="en-US" sz="1150" dirty="0"/>
          </a:p>
          <a:p>
            <a:pPr indent="0" marL="0">
              <a:buNone/>
            </a:pPr>
            <a:endParaRPr lang="en-US" sz="1150" dirty="0"/>
          </a:p>
          <a:p>
            <a:pPr indent="0" marL="0">
              <a:buNone/>
            </a:pPr>
            <a:r>
              <a:rPr lang="en-US" sz="1150" dirty="0">
                <a:solidFill>
                  <a:srgbClr val="9FB6D9"/>
                </a:solidFill>
                <a:latin typeface="Consolas" pitchFamily="34" charset="0"/>
                <a:ea typeface="Consolas" pitchFamily="34" charset="-122"/>
                <a:cs typeface="Consolas" pitchFamily="34" charset="-120"/>
              </a:rPr>
              <a:t>// 19 beans: Queue, Exchange y Binding</a:t>
            </a:r>
            <a:endParaRPr lang="en-US" sz="1150" dirty="0"/>
          </a:p>
          <a:p>
            <a:pPr indent="0" marL="0">
              <a:buNone/>
            </a:pPr>
            <a:r>
              <a:rPr lang="en-US" sz="1150" dirty="0">
                <a:solidFill>
                  <a:srgbClr val="9FB6D9"/>
                </a:solidFill>
                <a:latin typeface="Consolas" pitchFamily="34" charset="0"/>
                <a:ea typeface="Consolas" pitchFamily="34" charset="-122"/>
                <a:cs typeface="Consolas" pitchFamily="34" charset="-120"/>
              </a:rPr>
              <a:t>// uno por cada ruta de mensajeria</a:t>
            </a:r>
            <a:endParaRPr lang="en-US" sz="1150" dirty="0"/>
          </a:p>
        </p:txBody>
      </p:sp>
      <p:sp>
        <p:nvSpPr>
          <p:cNvPr id="13" name="Shape 10"/>
          <p:cNvSpPr/>
          <p:nvPr/>
        </p:nvSpPr>
        <p:spPr>
          <a:xfrm rot="48000">
            <a:off x="731520" y="5440680"/>
            <a:ext cx="10789920" cy="868680"/>
          </a:xfrm>
          <a:prstGeom prst="rect">
            <a:avLst/>
          </a:prstGeom>
          <a:solidFill>
            <a:srgbClr val="FFEB7A"/>
          </a:solidFill>
          <a:ln w="12700">
            <a:solidFill>
              <a:srgbClr val="FFEB7A"/>
            </a:solidFill>
            <a:prstDash val="solid"/>
          </a:ln>
          <a:effectLst>
            <a:outerShdw sx="100000" sy="100000" kx="0" ky="0" algn="bl" rotWithShape="0" blurRad="101600" dist="50800" dir="3000000">
              <a:srgbClr val="000000">
                <a:alpha val="30000"/>
              </a:srgbClr>
            </a:outerShdw>
          </a:effectLst>
        </p:spPr>
      </p:sp>
      <p:sp>
        <p:nvSpPr>
          <p:cNvPr id="14" name="Text 11"/>
          <p:cNvSpPr txBox="1"/>
          <p:nvPr/>
        </p:nvSpPr>
        <p:spPr>
          <a:xfrm rot="48000">
            <a:off x="896112" y="5550408"/>
            <a:ext cx="10460736" cy="649224"/>
          </a:xfrm>
          <a:prstGeom prst="rect">
            <a:avLst/>
          </a:prstGeom>
          <a:noFill/>
          <a:ln/>
        </p:spPr>
        <p:txBody>
          <a:bodyPr wrap="square" lIns="0" tIns="0" rIns="0" bIns="0" rtlCol="0" anchor="t"/>
          <a:lstStyle/>
          <a:p>
            <a:pPr indent="0" marL="0">
              <a:buNone/>
            </a:pPr>
            <a:r>
              <a:rPr lang="en-US" sz="1600" b="1" dirty="0">
                <a:solidFill>
                  <a:srgbClr val="3B2F12"/>
                </a:solidFill>
                <a:latin typeface="Ink Free" pitchFamily="34" charset="0"/>
                <a:ea typeface="Ink Free" pitchFamily="34" charset="-122"/>
                <a:cs typeface="Ink Free" pitchFamily="34" charset="-120"/>
              </a:rPr>
              <a:t>Decir</a:t>
            </a:r>
            <a:endParaRPr lang="en-US" sz="1600" dirty="0"/>
          </a:p>
          <a:p>
            <a:pPr indent="0" marL="0">
              <a:spcAft>
                <a:spcPts val="200"/>
              </a:spcAft>
              <a:buNone/>
            </a:pPr>
            <a:r>
              <a:rPr lang="en-US" sz="1400" dirty="0">
                <a:solidFill>
                  <a:srgbClr val="2E2A1E"/>
                </a:solidFill>
                <a:latin typeface="Ink Free" pitchFamily="34" charset="0"/>
                <a:ea typeface="Ink Free" pitchFamily="34" charset="-122"/>
                <a:cs typeface="Ink Free" pitchFamily="34" charset="-120"/>
              </a:rPr>
              <a:t>Cambiar el nombre de una cola es editar una linea del yml: no hay un solo nombre suelto en el codigo de negocio.</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0607040" y="6419088"/>
            <a:ext cx="1005840" cy="292608"/>
          </a:xfrm>
          <a:prstGeom prst="rect">
            <a:avLst/>
          </a:prstGeom>
          <a:noFill/>
          <a:ln/>
        </p:spPr>
        <p:txBody>
          <a:bodyPr wrap="square" lIns="0" tIns="0" rIns="0" bIns="0" rtlCol="0" anchor="ctr"/>
          <a:lstStyle/>
          <a:p>
            <a:pPr algn="r" indent="0" marL="0">
              <a:buNone/>
            </a:pPr>
            <a:r>
              <a:rPr lang="en-US" sz="1100" dirty="0">
                <a:solidFill>
                  <a:srgbClr val="5B6578"/>
                </a:solidFill>
                <a:latin typeface="Ink Free" pitchFamily="34" charset="0"/>
                <a:ea typeface="Ink Free" pitchFamily="34" charset="-122"/>
                <a:cs typeface="Ink Free" pitchFamily="34" charset="-120"/>
              </a:rPr>
              <a:t>8 / 13</a:t>
            </a:r>
            <a:endParaRPr lang="en-US" sz="1100" dirty="0"/>
          </a:p>
        </p:txBody>
      </p:sp>
      <p:sp>
        <p:nvSpPr>
          <p:cNvPr id="3" name="Text 1"/>
          <p:cNvSpPr txBox="1"/>
          <p:nvPr/>
        </p:nvSpPr>
        <p:spPr>
          <a:xfrm>
            <a:off x="640080" y="256032"/>
            <a:ext cx="6400800" cy="320040"/>
          </a:xfrm>
          <a:prstGeom prst="rect">
            <a:avLst/>
          </a:prstGeom>
          <a:noFill/>
          <a:ln/>
        </p:spPr>
        <p:txBody>
          <a:bodyPr wrap="square" lIns="0" tIns="0" rIns="0" bIns="0" rtlCol="0" anchor="t"/>
          <a:lstStyle/>
          <a:p>
            <a:pPr indent="0" marL="0">
              <a:buNone/>
            </a:pPr>
            <a:r>
              <a:rPr lang="en-US" sz="1500" dirty="0">
                <a:solidFill>
                  <a:srgbClr val="C24E00"/>
                </a:solidFill>
                <a:latin typeface="Ink Free" pitchFamily="34" charset="0"/>
                <a:ea typeface="Ink Free" pitchFamily="34" charset="-122"/>
                <a:cs typeface="Ink Free" pitchFamily="34" charset="-120"/>
              </a:rPr>
              <a:t>Codigo</a:t>
            </a:r>
            <a:endParaRPr lang="en-US" sz="1500" dirty="0"/>
          </a:p>
        </p:txBody>
      </p:sp>
      <p:sp>
        <p:nvSpPr>
          <p:cNvPr id="4" name="Text 2"/>
          <p:cNvSpPr txBox="1"/>
          <p:nvPr/>
        </p:nvSpPr>
        <p:spPr>
          <a:xfrm>
            <a:off x="640080" y="530352"/>
            <a:ext cx="8778240" cy="685800"/>
          </a:xfrm>
          <a:prstGeom prst="rect">
            <a:avLst/>
          </a:prstGeom>
          <a:noFill/>
          <a:ln/>
        </p:spPr>
        <p:txBody>
          <a:bodyPr wrap="square" lIns="0" tIns="0" rIns="0" bIns="0" rtlCol="0" anchor="t"/>
          <a:lstStyle/>
          <a:p>
            <a:pPr indent="0" marL="0">
              <a:buNone/>
            </a:pPr>
            <a:r>
              <a:rPr lang="en-US" sz="3400" dirty="0">
                <a:solidFill>
                  <a:srgbClr val="1B2B4B"/>
                </a:solidFill>
                <a:latin typeface="Ink Free" pitchFamily="34" charset="0"/>
                <a:ea typeface="Ink Free" pitchFamily="34" charset="-122"/>
                <a:cs typeface="Ink Free" pitchFamily="34" charset="-120"/>
              </a:rPr>
              <a:t>ACK manual: confirmar, reintentar o descartar</a:t>
            </a:r>
            <a:endParaRPr lang="en-US" sz="3400" dirty="0"/>
          </a:p>
        </p:txBody>
      </p:sp>
      <p:sp>
        <p:nvSpPr>
          <p:cNvPr id="5" name="Text 3"/>
          <p:cNvSpPr txBox="1"/>
          <p:nvPr/>
        </p:nvSpPr>
        <p:spPr>
          <a:xfrm>
            <a:off x="640080" y="1207008"/>
            <a:ext cx="8778240" cy="365760"/>
          </a:xfrm>
          <a:prstGeom prst="rect">
            <a:avLst/>
          </a:prstGeom>
          <a:noFill/>
          <a:ln/>
        </p:spPr>
        <p:txBody>
          <a:bodyPr wrap="square" lIns="0" tIns="0" rIns="0" bIns="0" rtlCol="0" anchor="t"/>
          <a:lstStyle/>
          <a:p>
            <a:pPr indent="0" marL="0">
              <a:buNone/>
            </a:pPr>
            <a:r>
              <a:rPr lang="en-US" sz="1300" dirty="0">
                <a:solidFill>
                  <a:srgbClr val="5B6578"/>
                </a:solidFill>
                <a:latin typeface="Segoe UI" pitchFamily="34" charset="0"/>
                <a:ea typeface="Segoe UI" pitchFamily="34" charset="-122"/>
                <a:cs typeface="Segoe UI" pitchFamily="34" charset="-120"/>
              </a:rPr>
              <a:t>Cada consumidor decide explicitamente; un mensaje nunca vuelve en bucle a la misma cola</a:t>
            </a:r>
            <a:endParaRPr lang="en-US" sz="1300" dirty="0"/>
          </a:p>
        </p:txBody>
      </p:sp>
      <p:sp>
        <p:nvSpPr>
          <p:cNvPr id="6" name="Text 4"/>
          <p:cNvSpPr txBox="1"/>
          <p:nvPr/>
        </p:nvSpPr>
        <p:spPr>
          <a:xfrm>
            <a:off x="10323576" y="402336"/>
            <a:ext cx="1207008" cy="603504"/>
          </a:xfrm>
          <a:prstGeom prst="rect">
            <a:avLst/>
          </a:prstGeom>
          <a:noFill/>
          <a:ln/>
        </p:spPr>
        <p:txBody>
          <a:bodyPr wrap="square" lIns="0" tIns="0" rIns="0" bIns="0" rtlCol="0" anchor="ctr"/>
          <a:lstStyle/>
          <a:p>
            <a:pPr algn="ctr" indent="0" marL="0">
              <a:buNone/>
            </a:pPr>
            <a:r>
              <a:rPr lang="en-US" sz="3000" dirty="0">
                <a:solidFill>
                  <a:srgbClr val="D6453D"/>
                </a:solidFill>
                <a:latin typeface="Ink Free" pitchFamily="34" charset="0"/>
                <a:ea typeface="Ink Free" pitchFamily="34" charset="-122"/>
                <a:cs typeface="Ink Free" pitchFamily="34" charset="-120"/>
              </a:rPr>
              <a:t>20%</a:t>
            </a:r>
            <a:endParaRPr lang="en-US" sz="3000" dirty="0"/>
          </a:p>
        </p:txBody>
      </p:sp>
      <p:sp>
        <p:nvSpPr>
          <p:cNvPr id="7" name="Text 5"/>
          <p:cNvSpPr txBox="1"/>
          <p:nvPr/>
        </p:nvSpPr>
        <p:spPr>
          <a:xfrm>
            <a:off x="9418320" y="1188720"/>
            <a:ext cx="2926080" cy="310896"/>
          </a:xfrm>
          <a:prstGeom prst="rect">
            <a:avLst/>
          </a:prstGeom>
          <a:noFill/>
          <a:ln/>
        </p:spPr>
        <p:txBody>
          <a:bodyPr wrap="square" lIns="0" tIns="0" rIns="0" bIns="0" rtlCol="0" anchor="t"/>
          <a:lstStyle/>
          <a:p>
            <a:pPr algn="ctr" indent="0" marL="0">
              <a:buNone/>
            </a:pPr>
            <a:r>
              <a:rPr lang="en-US" sz="1250" dirty="0">
                <a:solidFill>
                  <a:srgbClr val="D6453D"/>
                </a:solidFill>
                <a:latin typeface="Ink Free" pitchFamily="34" charset="0"/>
                <a:ea typeface="Ink Free" pitchFamily="34" charset="-122"/>
                <a:cs typeface="Ink Free" pitchFamily="34" charset="-120"/>
              </a:rPr>
              <a:t>pauta: ACK y manejo de errores</a:t>
            </a:r>
            <a:endParaRPr lang="en-US" sz="1250" dirty="0"/>
          </a:p>
        </p:txBody>
      </p:sp>
      <p:pic>
        <p:nvPicPr>
          <p:cNvPr id="8" name="Image 0" descr="C:\Users\joshu\AppData\Local\Temp\claude\C--Users-joshu-Desktop-CloudDevRamo\d162bf51-ad36-4a2b-981d-7f5a95d9a76d\scratchpad\ppt4\capas\s8.png">    </p:cNvPr>
          <p:cNvPicPr>
            <a:picLocks noChangeAspect="1"/>
          </p:cNvPicPr>
          <p:nvPr/>
        </p:nvPicPr>
        <p:blipFill>
          <a:blip r:embed="rId2"/>
          <a:stretch>
            <a:fillRect/>
          </a:stretch>
        </p:blipFill>
        <p:spPr>
          <a:xfrm>
            <a:off x="0" y="0"/>
            <a:ext cx="12191695" cy="6858000"/>
          </a:xfrm>
          <a:prstGeom prst="rect">
            <a:avLst/>
          </a:prstGeom>
        </p:spPr>
      </p:pic>
      <p:sp>
        <p:nvSpPr>
          <p:cNvPr id="9" name="Text 6"/>
          <p:cNvSpPr txBox="1"/>
          <p:nvPr/>
        </p:nvSpPr>
        <p:spPr>
          <a:xfrm>
            <a:off x="2377440" y="2331720"/>
            <a:ext cx="2194560" cy="365760"/>
          </a:xfrm>
          <a:prstGeom prst="rect">
            <a:avLst/>
          </a:prstGeom>
          <a:noFill/>
          <a:ln/>
        </p:spPr>
        <p:txBody>
          <a:bodyPr wrap="square" lIns="0" tIns="0" rIns="0" bIns="0" rtlCol="0" anchor="t"/>
          <a:lstStyle/>
          <a:p>
            <a:pPr algn="ctr" indent="0" marL="0">
              <a:buNone/>
            </a:pPr>
            <a:r>
              <a:rPr lang="en-US" sz="1700" dirty="0">
                <a:solidFill>
                  <a:srgbClr val="1B2B4B"/>
                </a:solidFill>
                <a:latin typeface="Ink Free" pitchFamily="34" charset="0"/>
                <a:ea typeface="Ink Free" pitchFamily="34" charset="-122"/>
                <a:cs typeface="Ink Free" pitchFamily="34" charset="-120"/>
              </a:rPr>
              <a:t>procesar(evento)</a:t>
            </a:r>
            <a:endParaRPr lang="en-US" sz="1700" dirty="0"/>
          </a:p>
        </p:txBody>
      </p:sp>
      <p:sp>
        <p:nvSpPr>
          <p:cNvPr id="10" name="Text 7"/>
          <p:cNvSpPr txBox="1"/>
          <p:nvPr/>
        </p:nvSpPr>
        <p:spPr>
          <a:xfrm>
            <a:off x="868680" y="3291840"/>
            <a:ext cx="1371600" cy="731520"/>
          </a:xfrm>
          <a:prstGeom prst="rect">
            <a:avLst/>
          </a:prstGeom>
          <a:noFill/>
          <a:ln/>
        </p:spPr>
        <p:txBody>
          <a:bodyPr wrap="square" lIns="0" tIns="0" rIns="0" bIns="0" rtlCol="0" anchor="t"/>
          <a:lstStyle/>
          <a:p>
            <a:pPr indent="0" marL="0">
              <a:buNone/>
            </a:pPr>
            <a:r>
              <a:rPr lang="en-US" sz="1400" dirty="0">
                <a:solidFill>
                  <a:srgbClr val="1E8A57"/>
                </a:solidFill>
                <a:latin typeface="Ink Free" pitchFamily="34" charset="0"/>
                <a:ea typeface="Ink Free" pitchFamily="34" charset="-122"/>
                <a:cs typeface="Ink Free" pitchFamily="34" charset="-120"/>
              </a:rPr>
              <a:t>todo bien</a:t>
            </a:r>
            <a:endParaRPr lang="en-US" sz="1400" dirty="0"/>
          </a:p>
          <a:p>
            <a:pPr indent="0" marL="0">
              <a:buNone/>
            </a:pPr>
            <a:r>
              <a:rPr lang="en-US" sz="1400" dirty="0">
                <a:solidFill>
                  <a:srgbClr val="1E8A57"/>
                </a:solidFill>
                <a:latin typeface="Ink Free" pitchFamily="34" charset="0"/>
                <a:ea typeface="Ink Free" pitchFamily="34" charset="-122"/>
                <a:cs typeface="Ink Free" pitchFamily="34" charset="-120"/>
              </a:rPr>
              <a:t>basicAck</a:t>
            </a:r>
            <a:endParaRPr lang="en-US" sz="1400" dirty="0"/>
          </a:p>
        </p:txBody>
      </p:sp>
      <p:sp>
        <p:nvSpPr>
          <p:cNvPr id="11" name="Text 8"/>
          <p:cNvSpPr txBox="1"/>
          <p:nvPr/>
        </p:nvSpPr>
        <p:spPr>
          <a:xfrm>
            <a:off x="3017520" y="3703320"/>
            <a:ext cx="2103120" cy="914400"/>
          </a:xfrm>
          <a:prstGeom prst="rect">
            <a:avLst/>
          </a:prstGeom>
          <a:noFill/>
          <a:ln/>
        </p:spPr>
        <p:txBody>
          <a:bodyPr wrap="square" lIns="0" tIns="0" rIns="0" bIns="0" rtlCol="0" anchor="t"/>
          <a:lstStyle/>
          <a:p>
            <a:pPr indent="0" marL="0">
              <a:buNone/>
            </a:pPr>
            <a:r>
              <a:rPr lang="en-US" sz="1350" dirty="0">
                <a:solidFill>
                  <a:srgbClr val="B85F00"/>
                </a:solidFill>
                <a:latin typeface="Ink Free" pitchFamily="34" charset="0"/>
                <a:ea typeface="Ink Free" pitchFamily="34" charset="-122"/>
                <a:cs typeface="Ink Free" pitchFamily="34" charset="-120"/>
              </a:rPr>
              <a:t>error recuperable</a:t>
            </a:r>
            <a:endParaRPr lang="en-US" sz="1350" dirty="0"/>
          </a:p>
          <a:p>
            <a:pPr indent="0" marL="0">
              <a:buNone/>
            </a:pPr>
            <a:r>
              <a:rPr lang="en-US" sz="1350" dirty="0">
                <a:solidFill>
                  <a:srgbClr val="B85F00"/>
                </a:solidFill>
                <a:latin typeface="Ink Free" pitchFamily="34" charset="0"/>
                <a:ea typeface="Ink Free" pitchFamily="34" charset="-122"/>
                <a:cs typeface="Ink Free" pitchFamily="34" charset="-120"/>
              </a:rPr>
              <a:t>→ cola .retry (5 s)</a:t>
            </a:r>
            <a:endParaRPr lang="en-US" sz="1350" dirty="0"/>
          </a:p>
          <a:p>
            <a:pPr indent="0" marL="0">
              <a:buNone/>
            </a:pPr>
            <a:r>
              <a:rPr lang="en-US" sz="1350" dirty="0">
                <a:solidFill>
                  <a:srgbClr val="B85F00"/>
                </a:solidFill>
                <a:latin typeface="Ink Free" pitchFamily="34" charset="0"/>
                <a:ea typeface="Ink Free" pitchFamily="34" charset="-122"/>
                <a:cs typeface="Ink Free" pitchFamily="34" charset="-120"/>
              </a:rPr>
              <a:t>hasta 3 intentos</a:t>
            </a:r>
            <a:endParaRPr lang="en-US" sz="1350" dirty="0"/>
          </a:p>
        </p:txBody>
      </p:sp>
      <p:sp>
        <p:nvSpPr>
          <p:cNvPr id="12" name="Text 9"/>
          <p:cNvSpPr txBox="1"/>
          <p:nvPr/>
        </p:nvSpPr>
        <p:spPr>
          <a:xfrm>
            <a:off x="4206240" y="4526280"/>
            <a:ext cx="1463040" cy="731520"/>
          </a:xfrm>
          <a:prstGeom prst="rect">
            <a:avLst/>
          </a:prstGeom>
          <a:noFill/>
          <a:ln/>
        </p:spPr>
        <p:txBody>
          <a:bodyPr wrap="square" lIns="0" tIns="0" rIns="0" bIns="0" rtlCol="0" anchor="t"/>
          <a:lstStyle/>
          <a:p>
            <a:pPr indent="0" marL="0">
              <a:buNone/>
            </a:pPr>
            <a:r>
              <a:rPr lang="en-US" sz="1350" dirty="0">
                <a:solidFill>
                  <a:srgbClr val="D6453D"/>
                </a:solidFill>
                <a:latin typeface="Ink Free" pitchFamily="34" charset="0"/>
                <a:ea typeface="Ink Free" pitchFamily="34" charset="-122"/>
                <a:cs typeface="Ink Free" pitchFamily="34" charset="-120"/>
              </a:rPr>
              <a:t>error no recuperable</a:t>
            </a:r>
            <a:endParaRPr lang="en-US" sz="1350" dirty="0"/>
          </a:p>
          <a:p>
            <a:pPr indent="0" marL="0">
              <a:buNone/>
            </a:pPr>
            <a:r>
              <a:rPr lang="en-US" sz="1350" dirty="0">
                <a:solidFill>
                  <a:srgbClr val="D6453D"/>
                </a:solidFill>
                <a:latin typeface="Ink Free" pitchFamily="34" charset="0"/>
                <a:ea typeface="Ink Free" pitchFamily="34" charset="-122"/>
                <a:cs typeface="Ink Free" pitchFamily="34" charset="-120"/>
              </a:rPr>
              <a:t>basicNack → .dlq</a:t>
            </a:r>
            <a:endParaRPr lang="en-US" sz="1350" dirty="0"/>
          </a:p>
        </p:txBody>
      </p:sp>
      <p:sp>
        <p:nvSpPr>
          <p:cNvPr id="13" name="Shape 10"/>
          <p:cNvSpPr/>
          <p:nvPr/>
        </p:nvSpPr>
        <p:spPr>
          <a:xfrm>
            <a:off x="6217920" y="2057400"/>
            <a:ext cx="5303520" cy="2468880"/>
          </a:xfrm>
          <a:prstGeom prst="roundRect">
            <a:avLst>
              <a:gd name="adj" fmla="val 2963"/>
            </a:avLst>
          </a:prstGeom>
          <a:solidFill>
            <a:srgbClr val="10182B"/>
          </a:solidFill>
          <a:ln w="12700">
            <a:solidFill>
              <a:srgbClr val="2A3A5C"/>
            </a:solidFill>
            <a:prstDash val="solid"/>
          </a:ln>
        </p:spPr>
      </p:sp>
      <p:sp>
        <p:nvSpPr>
          <p:cNvPr id="14" name="Text 11"/>
          <p:cNvSpPr txBox="1"/>
          <p:nvPr/>
        </p:nvSpPr>
        <p:spPr>
          <a:xfrm>
            <a:off x="6400800" y="2185416"/>
            <a:ext cx="4937760" cy="2212848"/>
          </a:xfrm>
          <a:prstGeom prst="rect">
            <a:avLst/>
          </a:prstGeom>
          <a:noFill/>
          <a:ln/>
        </p:spPr>
        <p:txBody>
          <a:bodyPr wrap="square" lIns="0" tIns="0" rIns="0" bIns="0" rtlCol="0" anchor="t"/>
          <a:lstStyle/>
          <a:p>
            <a:pPr indent="0" marL="0">
              <a:buNone/>
            </a:pPr>
            <a:r>
              <a:rPr lang="en-US" sz="1150" dirty="0">
                <a:solidFill>
                  <a:srgbClr val="9FB6D9"/>
                </a:solidFill>
                <a:latin typeface="Consolas" pitchFamily="34" charset="0"/>
                <a:ea typeface="Consolas" pitchFamily="34" charset="-122"/>
                <a:cs typeface="Consolas" pitchFamily="34" charset="-120"/>
              </a:rPr>
              <a:t>// GestorConsumo.java</a:t>
            </a:r>
            <a:endParaRPr lang="en-US" sz="1150" dirty="0"/>
          </a:p>
          <a:p>
            <a:pPr indent="0" marL="0">
              <a:buNone/>
            </a:pPr>
            <a:r>
              <a:rPr lang="en-US" sz="1150" dirty="0">
                <a:solidFill>
                  <a:srgbClr val="FFD9A3"/>
                </a:solidFill>
                <a:latin typeface="Consolas" pitchFamily="34" charset="0"/>
                <a:ea typeface="Consolas" pitchFamily="34" charset="-122"/>
                <a:cs typeface="Consolas" pitchFamily="34" charset="-120"/>
              </a:rPr>
              <a:t>catch (EventoNoProcesableException e) {</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  // evento invalido: reintentar daria igual</a:t>
            </a:r>
            <a:endParaRPr lang="en-US" sz="1150" dirty="0"/>
          </a:p>
          <a:p>
            <a:pPr indent="0" marL="0">
              <a:buNone/>
            </a:pPr>
            <a:r>
              <a:rPr lang="en-US" sz="1150" dirty="0">
                <a:solidFill>
                  <a:srgbClr val="FFB38A"/>
                </a:solidFill>
                <a:latin typeface="Consolas" pitchFamily="34" charset="0"/>
                <a:ea typeface="Consolas" pitchFamily="34" charset="-122"/>
                <a:cs typeface="Consolas" pitchFamily="34" charset="-120"/>
              </a:rPr>
              <a:t>  canal.basicNack(etiqueta, false, false);</a:t>
            </a:r>
            <a:endParaRPr lang="en-US" sz="1150" dirty="0"/>
          </a:p>
          <a:p>
            <a:pPr indent="0" marL="0">
              <a:buNone/>
            </a:pPr>
            <a:r>
              <a:rPr lang="en-US" sz="1150" dirty="0">
                <a:solidFill>
                  <a:srgbClr val="FFD9A3"/>
                </a:solidFill>
                <a:latin typeface="Consolas" pitchFamily="34" charset="0"/>
                <a:ea typeface="Consolas" pitchFamily="34" charset="-122"/>
                <a:cs typeface="Consolas" pitchFamily="34" charset="-120"/>
              </a:rPr>
              <a:t>} catch (RuntimeException e) {</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  int intentos = intentosPrevios(mensaje) + 1;</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  if (intentos &gt;= propiedades.getMaxIntentos())</a:t>
            </a:r>
            <a:endParaRPr lang="en-US" sz="1150" dirty="0"/>
          </a:p>
          <a:p>
            <a:pPr indent="0" marL="0">
              <a:buNone/>
            </a:pPr>
            <a:r>
              <a:rPr lang="en-US" sz="1150" dirty="0">
                <a:solidFill>
                  <a:srgbClr val="FFB38A"/>
                </a:solidFill>
                <a:latin typeface="Consolas" pitchFamily="34" charset="0"/>
                <a:ea typeface="Consolas" pitchFamily="34" charset="-122"/>
                <a:cs typeface="Consolas" pitchFamily="34" charset="-120"/>
              </a:rPr>
              <a:t>    canal.basicNack(etiqueta, false, false);</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  else {</a:t>
            </a:r>
            <a:endParaRPr lang="en-US" sz="1150" dirty="0"/>
          </a:p>
          <a:p>
            <a:pPr indent="0" marL="0">
              <a:buNone/>
            </a:pPr>
            <a:r>
              <a:rPr lang="en-US" sz="1150" dirty="0">
                <a:solidFill>
                  <a:srgbClr val="7EE2B0"/>
                </a:solidFill>
                <a:latin typeface="Consolas" pitchFamily="34" charset="0"/>
                <a:ea typeface="Consolas" pitchFamily="34" charset="-122"/>
                <a:cs typeface="Consolas" pitchFamily="34" charset="-120"/>
              </a:rPr>
              <a:t>    rabbitTemplate.send("", colaReintento, m);</a:t>
            </a:r>
            <a:endParaRPr lang="en-US" sz="1150" dirty="0"/>
          </a:p>
          <a:p>
            <a:pPr indent="0" marL="0">
              <a:buNone/>
            </a:pPr>
            <a:r>
              <a:rPr lang="en-US" sz="1150" dirty="0">
                <a:solidFill>
                  <a:srgbClr val="7EE2B0"/>
                </a:solidFill>
                <a:latin typeface="Consolas" pitchFamily="34" charset="0"/>
                <a:ea typeface="Consolas" pitchFamily="34" charset="-122"/>
                <a:cs typeface="Consolas" pitchFamily="34" charset="-120"/>
              </a:rPr>
              <a:t>    canal.basicAck(etiqueta, false);</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  }</a:t>
            </a:r>
            <a:endParaRPr lang="en-US" sz="1150" dirty="0"/>
          </a:p>
          <a:p>
            <a:pPr indent="0" marL="0">
              <a:buNone/>
            </a:pPr>
            <a:r>
              <a:rPr lang="en-US" sz="1150" dirty="0">
                <a:solidFill>
                  <a:srgbClr val="D8E2F2"/>
                </a:solidFill>
                <a:latin typeface="Consolas" pitchFamily="34" charset="0"/>
                <a:ea typeface="Consolas" pitchFamily="34" charset="-122"/>
                <a:cs typeface="Consolas" pitchFamily="34" charset="-120"/>
              </a:rPr>
              <a:t>}</a:t>
            </a:r>
            <a:endParaRPr lang="en-US" sz="1150" dirty="0"/>
          </a:p>
        </p:txBody>
      </p:sp>
      <p:sp>
        <p:nvSpPr>
          <p:cNvPr id="15" name="Shape 12"/>
          <p:cNvSpPr/>
          <p:nvPr/>
        </p:nvSpPr>
        <p:spPr>
          <a:xfrm rot="-72000">
            <a:off x="6217920" y="4709160"/>
            <a:ext cx="5303520" cy="1554480"/>
          </a:xfrm>
          <a:prstGeom prst="rect">
            <a:avLst/>
          </a:prstGeom>
          <a:solidFill>
            <a:srgbClr val="CDEFD9"/>
          </a:solidFill>
          <a:ln w="12700">
            <a:solidFill>
              <a:srgbClr val="CDEFD9"/>
            </a:solidFill>
            <a:prstDash val="solid"/>
          </a:ln>
          <a:effectLst>
            <a:outerShdw sx="100000" sy="100000" kx="0" ky="0" algn="bl" rotWithShape="0" blurRad="101600" dist="50800" dir="3000000">
              <a:srgbClr val="000000">
                <a:alpha val="30000"/>
              </a:srgbClr>
            </a:outerShdw>
          </a:effectLst>
        </p:spPr>
      </p:sp>
      <p:sp>
        <p:nvSpPr>
          <p:cNvPr id="16" name="Text 13"/>
          <p:cNvSpPr txBox="1"/>
          <p:nvPr/>
        </p:nvSpPr>
        <p:spPr>
          <a:xfrm rot="-72000">
            <a:off x="6382512" y="4818888"/>
            <a:ext cx="4974336" cy="1335024"/>
          </a:xfrm>
          <a:prstGeom prst="rect">
            <a:avLst/>
          </a:prstGeom>
          <a:noFill/>
          <a:ln/>
        </p:spPr>
        <p:txBody>
          <a:bodyPr wrap="square" lIns="0" tIns="0" rIns="0" bIns="0" rtlCol="0" anchor="t"/>
          <a:lstStyle/>
          <a:p>
            <a:pPr indent="0" marL="0">
              <a:buNone/>
            </a:pPr>
            <a:r>
              <a:rPr lang="en-US" sz="1600" b="1" dirty="0">
                <a:solidFill>
                  <a:srgbClr val="3B2F12"/>
                </a:solidFill>
                <a:latin typeface="Ink Free" pitchFamily="34" charset="0"/>
                <a:ea typeface="Ink Free" pitchFamily="34" charset="-122"/>
                <a:cs typeface="Ink Free" pitchFamily="34" charset="-120"/>
              </a:rPr>
              <a:t>Ademas</a:t>
            </a:r>
            <a:endParaRPr lang="en-US" sz="1600" dirty="0"/>
          </a:p>
          <a:p>
            <a:pPr indent="0" marL="0">
              <a:spcAft>
                <a:spcPts val="200"/>
              </a:spcAft>
              <a:buNone/>
            </a:pPr>
            <a:r>
              <a:rPr lang="en-US" sz="1400" dirty="0">
                <a:solidFill>
                  <a:srgbClr val="2E2A1E"/>
                </a:solidFill>
                <a:latin typeface="Ink Free" pitchFamily="34" charset="0"/>
                <a:ea typeface="Ink Free" pitchFamily="34" charset="-122"/>
                <a:cs typeface="Ink Free" pitchFamily="34" charset="-120"/>
              </a:rPr>
              <a:t>Los consumidores son idempotentes: guardan el eventoId,</a:t>
            </a:r>
            <a:endParaRPr lang="en-US" sz="1600" dirty="0"/>
          </a:p>
          <a:p>
            <a:pPr indent="0" marL="0">
              <a:spcAft>
                <a:spcPts val="200"/>
              </a:spcAft>
              <a:buNone/>
            </a:pPr>
            <a:r>
              <a:rPr lang="en-US" sz="1400" dirty="0">
                <a:solidFill>
                  <a:srgbClr val="2E2A1E"/>
                </a:solidFill>
                <a:latin typeface="Ink Free" pitchFamily="34" charset="0"/>
                <a:ea typeface="Ink Free" pitchFamily="34" charset="-122"/>
                <a:cs typeface="Ink Free" pitchFamily="34" charset="-120"/>
              </a:rPr>
              <a:t>asi que una entrega repetida no duplica el aviso.</a:t>
            </a:r>
            <a:endParaRPr lang="en-US" sz="1600" dirty="0"/>
          </a:p>
          <a:p>
            <a:pPr indent="0" marL="0">
              <a:spcAft>
                <a:spcPts val="200"/>
              </a:spcAft>
              <a:buNone/>
            </a:pPr>
            <a:r>
              <a:rPr lang="en-US" sz="1400" dirty="0">
                <a:solidFill>
                  <a:srgbClr val="2E2A1E"/>
                </a:solidFill>
                <a:latin typeface="Ink Free" pitchFamily="34" charset="0"/>
                <a:ea typeface="Ink Free" pitchFamily="34" charset="-122"/>
                <a:cs typeface="Ink Free" pitchFamily="34" charset="-120"/>
              </a:rPr>
              <a:t>6 pruebas cubren ACK, reintento, DLQ y contador.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0607040" y="6419088"/>
            <a:ext cx="1005840" cy="292608"/>
          </a:xfrm>
          <a:prstGeom prst="rect">
            <a:avLst/>
          </a:prstGeom>
          <a:noFill/>
          <a:ln/>
        </p:spPr>
        <p:txBody>
          <a:bodyPr wrap="square" lIns="0" tIns="0" rIns="0" bIns="0" rtlCol="0" anchor="ctr"/>
          <a:lstStyle/>
          <a:p>
            <a:pPr algn="r" indent="0" marL="0">
              <a:buNone/>
            </a:pPr>
            <a:r>
              <a:rPr lang="en-US" sz="1100" dirty="0">
                <a:solidFill>
                  <a:srgbClr val="5B6578"/>
                </a:solidFill>
                <a:latin typeface="Ink Free" pitchFamily="34" charset="0"/>
                <a:ea typeface="Ink Free" pitchFamily="34" charset="-122"/>
                <a:cs typeface="Ink Free" pitchFamily="34" charset="-120"/>
              </a:rPr>
              <a:t>9 / 13</a:t>
            </a:r>
            <a:endParaRPr lang="en-US" sz="1100" dirty="0"/>
          </a:p>
        </p:txBody>
      </p:sp>
      <p:sp>
        <p:nvSpPr>
          <p:cNvPr id="3" name="Text 1"/>
          <p:cNvSpPr txBox="1"/>
          <p:nvPr/>
        </p:nvSpPr>
        <p:spPr>
          <a:xfrm>
            <a:off x="640080" y="256032"/>
            <a:ext cx="6400800" cy="320040"/>
          </a:xfrm>
          <a:prstGeom prst="rect">
            <a:avLst/>
          </a:prstGeom>
          <a:noFill/>
          <a:ln/>
        </p:spPr>
        <p:txBody>
          <a:bodyPr wrap="square" lIns="0" tIns="0" rIns="0" bIns="0" rtlCol="0" anchor="t"/>
          <a:lstStyle/>
          <a:p>
            <a:pPr indent="0" marL="0">
              <a:buNone/>
            </a:pPr>
            <a:r>
              <a:rPr lang="en-US" sz="1500" dirty="0">
                <a:solidFill>
                  <a:srgbClr val="C24E00"/>
                </a:solidFill>
                <a:latin typeface="Ink Free" pitchFamily="34" charset="0"/>
                <a:ea typeface="Ink Free" pitchFamily="34" charset="-122"/>
                <a:cs typeface="Ink Free" pitchFamily="34" charset="-120"/>
              </a:rPr>
              <a:t>Evidencia</a:t>
            </a:r>
            <a:endParaRPr lang="en-US" sz="1500" dirty="0"/>
          </a:p>
        </p:txBody>
      </p:sp>
      <p:sp>
        <p:nvSpPr>
          <p:cNvPr id="4" name="Text 2"/>
          <p:cNvSpPr txBox="1"/>
          <p:nvPr/>
        </p:nvSpPr>
        <p:spPr>
          <a:xfrm>
            <a:off x="640080" y="530352"/>
            <a:ext cx="8778240" cy="685800"/>
          </a:xfrm>
          <a:prstGeom prst="rect">
            <a:avLst/>
          </a:prstGeom>
          <a:noFill/>
          <a:ln/>
        </p:spPr>
        <p:txBody>
          <a:bodyPr wrap="square" lIns="0" tIns="0" rIns="0" bIns="0" rtlCol="0" anchor="t"/>
          <a:lstStyle/>
          <a:p>
            <a:pPr indent="0" marL="0">
              <a:buNone/>
            </a:pPr>
            <a:r>
              <a:rPr lang="en-US" sz="3400" dirty="0">
                <a:solidFill>
                  <a:srgbClr val="1B2B4B"/>
                </a:solidFill>
                <a:latin typeface="Ink Free" pitchFamily="34" charset="0"/>
                <a:ea typeface="Ink Free" pitchFamily="34" charset="-122"/>
                <a:cs typeface="Ink Free" pitchFamily="34" charset="-120"/>
              </a:rPr>
              <a:t>La DLQ funcionando</a:t>
            </a:r>
            <a:endParaRPr lang="en-US" sz="3400" dirty="0"/>
          </a:p>
        </p:txBody>
      </p:sp>
      <p:sp>
        <p:nvSpPr>
          <p:cNvPr id="5" name="Text 3"/>
          <p:cNvSpPr txBox="1"/>
          <p:nvPr/>
        </p:nvSpPr>
        <p:spPr>
          <a:xfrm>
            <a:off x="640080" y="1207008"/>
            <a:ext cx="8778240" cy="365760"/>
          </a:xfrm>
          <a:prstGeom prst="rect">
            <a:avLst/>
          </a:prstGeom>
          <a:noFill/>
          <a:ln/>
        </p:spPr>
        <p:txBody>
          <a:bodyPr wrap="square" lIns="0" tIns="0" rIns="0" bIns="0" rtlCol="0" anchor="t"/>
          <a:lstStyle/>
          <a:p>
            <a:pPr indent="0" marL="0">
              <a:buNone/>
            </a:pPr>
            <a:r>
              <a:rPr lang="en-US" sz="1300" dirty="0">
                <a:solidFill>
                  <a:srgbClr val="5B6578"/>
                </a:solidFill>
                <a:latin typeface="Segoe UI" pitchFamily="34" charset="0"/>
                <a:ea typeface="Segoe UI" pitchFamily="34" charset="-122"/>
                <a:cs typeface="Segoe UI" pitchFamily="34" charset="-120"/>
              </a:rPr>
              <a:t>Un evento invalido no rompe el consumidor: se descarta, queda registrado y la cola sigue limpia</a:t>
            </a:r>
            <a:endParaRPr lang="en-US" sz="1300" dirty="0"/>
          </a:p>
        </p:txBody>
      </p:sp>
      <p:sp>
        <p:nvSpPr>
          <p:cNvPr id="6" name="Text 4"/>
          <p:cNvSpPr txBox="1"/>
          <p:nvPr/>
        </p:nvSpPr>
        <p:spPr>
          <a:xfrm>
            <a:off x="10323576" y="402336"/>
            <a:ext cx="1207008" cy="603504"/>
          </a:xfrm>
          <a:prstGeom prst="rect">
            <a:avLst/>
          </a:prstGeom>
          <a:noFill/>
          <a:ln/>
        </p:spPr>
        <p:txBody>
          <a:bodyPr wrap="square" lIns="0" tIns="0" rIns="0" bIns="0" rtlCol="0" anchor="ctr"/>
          <a:lstStyle/>
          <a:p>
            <a:pPr algn="ctr" indent="0" marL="0">
              <a:buNone/>
            </a:pPr>
            <a:r>
              <a:rPr lang="en-US" sz="3000" dirty="0">
                <a:solidFill>
                  <a:srgbClr val="D6453D"/>
                </a:solidFill>
                <a:latin typeface="Ink Free" pitchFamily="34" charset="0"/>
                <a:ea typeface="Ink Free" pitchFamily="34" charset="-122"/>
                <a:cs typeface="Ink Free" pitchFamily="34" charset="-120"/>
              </a:rPr>
              <a:t>✓</a:t>
            </a:r>
            <a:endParaRPr lang="en-US" sz="3000" dirty="0"/>
          </a:p>
        </p:txBody>
      </p:sp>
      <p:sp>
        <p:nvSpPr>
          <p:cNvPr id="7" name="Text 5"/>
          <p:cNvSpPr txBox="1"/>
          <p:nvPr/>
        </p:nvSpPr>
        <p:spPr>
          <a:xfrm>
            <a:off x="9418320" y="1188720"/>
            <a:ext cx="2926080" cy="310896"/>
          </a:xfrm>
          <a:prstGeom prst="rect">
            <a:avLst/>
          </a:prstGeom>
          <a:noFill/>
          <a:ln/>
        </p:spPr>
        <p:txBody>
          <a:bodyPr wrap="square" lIns="0" tIns="0" rIns="0" bIns="0" rtlCol="0" anchor="t"/>
          <a:lstStyle/>
          <a:p>
            <a:pPr algn="ctr" indent="0" marL="0">
              <a:buNone/>
            </a:pPr>
            <a:r>
              <a:rPr lang="en-US" sz="1250" dirty="0">
                <a:solidFill>
                  <a:srgbClr val="D6453D"/>
                </a:solidFill>
                <a:latin typeface="Ink Free" pitchFamily="34" charset="0"/>
                <a:ea typeface="Ink Free" pitchFamily="34" charset="-122"/>
                <a:cs typeface="Ink Free" pitchFamily="34" charset="-120"/>
              </a:rPr>
              <a:t>pauta: DLQ funcionando</a:t>
            </a:r>
            <a:endParaRPr lang="en-US" sz="1250" dirty="0"/>
          </a:p>
        </p:txBody>
      </p:sp>
      <p:pic>
        <p:nvPicPr>
          <p:cNvPr id="8" name="Image 0" descr="C:\Users\joshu\AppData\Local\Temp\claude\C--Users-joshu-Desktop-CloudDevRamo\d162bf51-ad36-4a2b-981d-7f5a95d9a76d\scratchpad\ppt4\capas\s9.png">    </p:cNvPr>
          <p:cNvPicPr>
            <a:picLocks noChangeAspect="1"/>
          </p:cNvPicPr>
          <p:nvPr/>
        </p:nvPicPr>
        <p:blipFill>
          <a:blip r:embed="rId2"/>
          <a:stretch>
            <a:fillRect/>
          </a:stretch>
        </p:blipFill>
        <p:spPr>
          <a:xfrm>
            <a:off x="0" y="0"/>
            <a:ext cx="12191695" cy="6858000"/>
          </a:xfrm>
          <a:prstGeom prst="rect">
            <a:avLst/>
          </a:prstGeom>
        </p:spPr>
      </p:pic>
      <p:sp>
        <p:nvSpPr>
          <p:cNvPr id="9" name="Shape 6"/>
          <p:cNvSpPr/>
          <p:nvPr/>
        </p:nvSpPr>
        <p:spPr>
          <a:xfrm>
            <a:off x="731520" y="2057400"/>
            <a:ext cx="6400800" cy="2103120"/>
          </a:xfrm>
          <a:prstGeom prst="roundRect">
            <a:avLst>
              <a:gd name="adj" fmla="val 3478"/>
            </a:avLst>
          </a:prstGeom>
          <a:solidFill>
            <a:srgbClr val="10182B"/>
          </a:solidFill>
          <a:ln w="12700">
            <a:solidFill>
              <a:srgbClr val="2A3A5C"/>
            </a:solidFill>
            <a:prstDash val="solid"/>
          </a:ln>
        </p:spPr>
      </p:sp>
      <p:sp>
        <p:nvSpPr>
          <p:cNvPr id="10" name="Text 7"/>
          <p:cNvSpPr txBox="1"/>
          <p:nvPr/>
        </p:nvSpPr>
        <p:spPr>
          <a:xfrm>
            <a:off x="914400" y="2185416"/>
            <a:ext cx="6035040" cy="1847088"/>
          </a:xfrm>
          <a:prstGeom prst="rect">
            <a:avLst/>
          </a:prstGeom>
          <a:noFill/>
          <a:ln/>
        </p:spPr>
        <p:txBody>
          <a:bodyPr wrap="square" lIns="0" tIns="0" rIns="0" bIns="0" rtlCol="0" anchor="t"/>
          <a:lstStyle/>
          <a:p>
            <a:pPr indent="0" marL="0">
              <a:buNone/>
            </a:pPr>
            <a:r>
              <a:rPr lang="en-US" sz="1150" dirty="0">
                <a:solidFill>
                  <a:srgbClr val="9FB6D9"/>
                </a:solidFill>
                <a:latin typeface="Consolas" pitchFamily="34" charset="0"/>
                <a:ea typeface="Consolas" pitchFamily="34" charset="-122"/>
                <a:cs typeface="Consolas" pitchFamily="34" charset="-120"/>
              </a:rPr>
              <a:t>$ ./infra/local/probar-mensajeria.sh</a:t>
            </a:r>
            <a:endParaRPr lang="en-US" sz="1150" dirty="0"/>
          </a:p>
          <a:p>
            <a:pPr indent="0" marL="0">
              <a:buNone/>
            </a:pPr>
            <a:endParaRPr lang="en-US" sz="1150" dirty="0"/>
          </a:p>
          <a:p>
            <a:pPr indent="0" marL="0">
              <a:buNone/>
            </a:pPr>
            <a:r>
              <a:rPr lang="en-US" sz="1150" dirty="0">
                <a:solidFill>
                  <a:srgbClr val="7EE2B0"/>
                </a:solidFill>
                <a:latin typeface="Consolas" pitchFamily="34" charset="0"/>
                <a:ea typeface="Consolas" pitchFamily="34" charset="-122"/>
                <a:cs typeface="Consolas" pitchFamily="34" charset="-120"/>
              </a:rPr>
              <a:t>Pedido creado              pedido.creado             enrutado</a:t>
            </a:r>
            <a:endParaRPr lang="en-US" sz="1150" dirty="0"/>
          </a:p>
          <a:p>
            <a:pPr indent="0" marL="0">
              <a:buNone/>
            </a:pPr>
            <a:r>
              <a:rPr lang="en-US" sz="1150" dirty="0">
                <a:solidFill>
                  <a:srgbClr val="7EE2B0"/>
                </a:solidFill>
                <a:latin typeface="Consolas" pitchFamily="34" charset="0"/>
                <a:ea typeface="Consolas" pitchFamily="34" charset="-122"/>
                <a:cs typeface="Consolas" pitchFamily="34" charset="-120"/>
              </a:rPr>
              <a:t>Pedido confirmado          pedido.confirmado         enrutado</a:t>
            </a:r>
            <a:endParaRPr lang="en-US" sz="1150" dirty="0"/>
          </a:p>
          <a:p>
            <a:pPr indent="0" marL="0">
              <a:buNone/>
            </a:pPr>
            <a:r>
              <a:rPr lang="en-US" sz="1150" dirty="0">
                <a:solidFill>
                  <a:srgbClr val="7EE2B0"/>
                </a:solidFill>
                <a:latin typeface="Consolas" pitchFamily="34" charset="0"/>
                <a:ea typeface="Consolas" pitchFamily="34" charset="-122"/>
                <a:cs typeface="Consolas" pitchFamily="34" charset="-120"/>
              </a:rPr>
              <a:t>Cambio de estado           pedido.estado-cambiado    enrutado</a:t>
            </a:r>
            <a:endParaRPr lang="en-US" sz="1150" dirty="0"/>
          </a:p>
          <a:p>
            <a:pPr indent="0" marL="0">
              <a:buNone/>
            </a:pPr>
            <a:r>
              <a:rPr lang="en-US" sz="1150" dirty="0">
                <a:solidFill>
                  <a:srgbClr val="7EE2B0"/>
                </a:solidFill>
                <a:latin typeface="Consolas" pitchFamily="34" charset="0"/>
                <a:ea typeface="Consolas" pitchFamily="34" charset="-122"/>
                <a:cs typeface="Consolas" pitchFamily="34" charset="-120"/>
              </a:rPr>
              <a:t>Pedido anulado (DIRECT)    auditoria.pedido-anulado  enrutado</a:t>
            </a:r>
            <a:endParaRPr lang="en-US" sz="1150" dirty="0"/>
          </a:p>
          <a:p>
            <a:pPr indent="0" marL="0">
              <a:buNone/>
            </a:pPr>
            <a:r>
              <a:rPr lang="en-US" sz="1150" dirty="0">
                <a:solidFill>
                  <a:srgbClr val="FFB38A"/>
                </a:solidFill>
                <a:latin typeface="Consolas" pitchFamily="34" charset="0"/>
                <a:ea typeface="Consolas" pitchFamily="34" charset="-122"/>
                <a:cs typeface="Consolas" pitchFamily="34" charset="-120"/>
              </a:rPr>
              <a:t>Pedido creado SIN numero   pedido.creado             enrutado</a:t>
            </a:r>
            <a:endParaRPr lang="en-US" sz="1150" dirty="0"/>
          </a:p>
          <a:p>
            <a:pPr indent="0" marL="0">
              <a:buNone/>
            </a:pPr>
            <a:r>
              <a:rPr lang="en-US" sz="1150" dirty="0">
                <a:solidFill>
                  <a:srgbClr val="FFB38A"/>
                </a:solidFill>
                <a:latin typeface="Consolas" pitchFamily="34" charset="0"/>
                <a:ea typeface="Consolas" pitchFamily="34" charset="-122"/>
                <a:cs typeface="Consolas" pitchFamily="34" charset="-120"/>
              </a:rPr>
              <a:t>Anulacion SIN responsable  auditoria.pedido-anulado  enrutado</a:t>
            </a:r>
            <a:endParaRPr lang="en-US" sz="1150" dirty="0"/>
          </a:p>
        </p:txBody>
      </p:sp>
      <p:sp>
        <p:nvSpPr>
          <p:cNvPr id="11" name="Shape 8"/>
          <p:cNvSpPr/>
          <p:nvPr/>
        </p:nvSpPr>
        <p:spPr>
          <a:xfrm>
            <a:off x="731520" y="4343400"/>
            <a:ext cx="6400800" cy="1920240"/>
          </a:xfrm>
          <a:prstGeom prst="roundRect">
            <a:avLst>
              <a:gd name="adj" fmla="val 3810"/>
            </a:avLst>
          </a:prstGeom>
          <a:solidFill>
            <a:srgbClr val="10182B"/>
          </a:solidFill>
          <a:ln w="12700">
            <a:solidFill>
              <a:srgbClr val="2A3A5C"/>
            </a:solidFill>
            <a:prstDash val="solid"/>
          </a:ln>
        </p:spPr>
      </p:sp>
      <p:sp>
        <p:nvSpPr>
          <p:cNvPr id="12" name="Text 9"/>
          <p:cNvSpPr txBox="1"/>
          <p:nvPr/>
        </p:nvSpPr>
        <p:spPr>
          <a:xfrm>
            <a:off x="914400" y="4471416"/>
            <a:ext cx="6035040" cy="1664208"/>
          </a:xfrm>
          <a:prstGeom prst="rect">
            <a:avLst/>
          </a:prstGeom>
          <a:noFill/>
          <a:ln/>
        </p:spPr>
        <p:txBody>
          <a:bodyPr wrap="square" lIns="0" tIns="0" rIns="0" bIns="0" rtlCol="0" anchor="t"/>
          <a:lstStyle/>
          <a:p>
            <a:pPr indent="0" marL="0">
              <a:buNone/>
            </a:pPr>
            <a:r>
              <a:rPr lang="en-US" sz="1150" dirty="0">
                <a:solidFill>
                  <a:srgbClr val="FF8A80"/>
                </a:solidFill>
                <a:latin typeface="Consolas" pitchFamily="34" charset="0"/>
                <a:ea typeface="Consolas" pitchFamily="34" charset="-122"/>
                <a:cs typeface="Consolas" pitchFamily="34" charset="-120"/>
              </a:rPr>
              <a:t>ERROR GestorConsumo - Evento no procesable en</a:t>
            </a:r>
            <a:endParaRPr lang="en-US" sz="1150" dirty="0"/>
          </a:p>
          <a:p>
            <a:pPr indent="0" marL="0">
              <a:buNone/>
            </a:pPr>
            <a:r>
              <a:rPr lang="en-US" sz="1150" dirty="0">
                <a:solidFill>
                  <a:srgbClr val="FF8A80"/>
                </a:solidFill>
                <a:latin typeface="Consolas" pitchFamily="34" charset="0"/>
                <a:ea typeface="Consolas" pitchFamily="34" charset="-122"/>
                <a:cs typeface="Consolas" pitchFamily="34" charset="-120"/>
              </a:rPr>
              <a:t>pedidos360.notificaciones: El evento llego sin numero</a:t>
            </a:r>
            <a:endParaRPr lang="en-US" sz="1150" dirty="0"/>
          </a:p>
          <a:p>
            <a:pPr indent="0" marL="0">
              <a:buNone/>
            </a:pPr>
            <a:r>
              <a:rPr lang="en-US" sz="1150" dirty="0">
                <a:solidFill>
                  <a:srgbClr val="FF8A80"/>
                </a:solidFill>
                <a:latin typeface="Consolas" pitchFamily="34" charset="0"/>
                <a:ea typeface="Consolas" pitchFamily="34" charset="-122"/>
                <a:cs typeface="Consolas" pitchFamily="34" charset="-120"/>
              </a:rPr>
              <a:t>de pedido. Se envia a pedidos360.notificaciones.dlq</a:t>
            </a:r>
            <a:endParaRPr lang="en-US" sz="1150" dirty="0"/>
          </a:p>
          <a:p>
            <a:pPr indent="0" marL="0">
              <a:buNone/>
            </a:pPr>
            <a:endParaRPr lang="en-US" sz="1150" dirty="0"/>
          </a:p>
          <a:p>
            <a:pPr indent="0" marL="0">
              <a:buNone/>
            </a:pPr>
            <a:r>
              <a:rPr lang="en-US" sz="1150" dirty="0">
                <a:solidFill>
                  <a:srgbClr val="7EE2B0"/>
                </a:solidFill>
                <a:latin typeface="Consolas" pitchFamily="34" charset="0"/>
                <a:ea typeface="Consolas" pitchFamily="34" charset="-122"/>
                <a:cs typeface="Consolas" pitchFamily="34" charset="-120"/>
              </a:rPr>
              <a:t>INFO AuditoriaService - Auditoria: pedido PED-DEMO</a:t>
            </a:r>
            <a:endParaRPr lang="en-US" sz="1150" dirty="0"/>
          </a:p>
          <a:p>
            <a:pPr indent="0" marL="0">
              <a:buNone/>
            </a:pPr>
            <a:r>
              <a:rPr lang="en-US" sz="1150" dirty="0">
                <a:solidFill>
                  <a:srgbClr val="7EE2B0"/>
                </a:solidFill>
                <a:latin typeface="Consolas" pitchFamily="34" charset="0"/>
                <a:ea typeface="Consolas" pitchFamily="34" charset="-122"/>
                <a:cs typeface="Consolas" pitchFamily="34" charset="-120"/>
              </a:rPr>
              <a:t>anulado por SofiaTroncoso (estado previo DESPACHADO)</a:t>
            </a:r>
            <a:endParaRPr lang="en-US" sz="1150" dirty="0"/>
          </a:p>
        </p:txBody>
      </p:sp>
      <p:sp>
        <p:nvSpPr>
          <p:cNvPr id="13" name="Shape 10"/>
          <p:cNvSpPr/>
          <p:nvPr/>
        </p:nvSpPr>
        <p:spPr>
          <a:xfrm rot="60000">
            <a:off x="7424928" y="2075688"/>
            <a:ext cx="4169664" cy="1286784"/>
          </a:xfrm>
          <a:prstGeom prst="rect">
            <a:avLst/>
          </a:prstGeom>
          <a:solidFill>
            <a:srgbClr val="FFFFFF"/>
          </a:solidFill>
          <a:ln w="6350">
            <a:solidFill>
              <a:srgbClr val="D9D9D9"/>
            </a:solidFill>
            <a:prstDash val="solid"/>
          </a:ln>
          <a:effectLst>
            <a:outerShdw sx="100000" sy="100000" kx="0" ky="0" algn="bl" rotWithShape="0" blurRad="88900" dist="38100" dir="3600000">
              <a:srgbClr val="000000">
                <a:alpha val="28000"/>
              </a:srgbClr>
            </a:outerShdw>
          </a:effectLst>
        </p:spPr>
      </p:sp>
      <p:pic>
        <p:nvPicPr>
          <p:cNvPr id="14" name="Image 1" descr="C:\Users\joshu\Desktop\CloudDevRamo\docs\evidencia\rabbit-04-dlq.png">    </p:cNvPr>
          <p:cNvPicPr>
            <a:picLocks noChangeAspect="1"/>
          </p:cNvPicPr>
          <p:nvPr/>
        </p:nvPicPr>
        <p:blipFill>
          <a:blip r:embed="rId3"/>
          <a:stretch>
            <a:fillRect/>
          </a:stretch>
        </p:blipFill>
        <p:spPr>
          <a:xfrm rot="60000">
            <a:off x="7498080" y="2148840"/>
            <a:ext cx="4023360" cy="1140480"/>
          </a:xfrm>
          <a:prstGeom prst="rect">
            <a:avLst/>
          </a:prstGeom>
        </p:spPr>
      </p:pic>
      <p:sp>
        <p:nvSpPr>
          <p:cNvPr id="15" name="Shape 11"/>
          <p:cNvSpPr/>
          <p:nvPr/>
        </p:nvSpPr>
        <p:spPr>
          <a:xfrm rot="-120000">
            <a:off x="9098280" y="1965960"/>
            <a:ext cx="822960" cy="246888"/>
          </a:xfrm>
          <a:prstGeom prst="rect">
            <a:avLst/>
          </a:prstGeom>
          <a:solidFill>
            <a:srgbClr val="FFB787">
              <a:alpha val="75000"/>
            </a:srgbClr>
          </a:solidFill>
          <a:ln w="12700">
            <a:solidFill>
              <a:srgbClr val="FFB787">
                <a:alpha val="0"/>
              </a:srgbClr>
            </a:solidFill>
            <a:prstDash val="solid"/>
          </a:ln>
        </p:spPr>
      </p:sp>
      <p:sp>
        <p:nvSpPr>
          <p:cNvPr id="16" name="Text 12"/>
          <p:cNvSpPr txBox="1"/>
          <p:nvPr/>
        </p:nvSpPr>
        <p:spPr>
          <a:xfrm>
            <a:off x="7498080" y="3291840"/>
            <a:ext cx="4023360" cy="365760"/>
          </a:xfrm>
          <a:prstGeom prst="rect">
            <a:avLst/>
          </a:prstGeom>
          <a:noFill/>
          <a:ln/>
        </p:spPr>
        <p:txBody>
          <a:bodyPr wrap="square" lIns="0" tIns="0" rIns="0" bIns="0" rtlCol="0" anchor="t"/>
          <a:lstStyle/>
          <a:p>
            <a:pPr indent="0" marL="0">
              <a:buNone/>
            </a:pPr>
            <a:r>
              <a:rPr lang="en-US" sz="1300" dirty="0">
                <a:solidFill>
                  <a:srgbClr val="5B6578"/>
                </a:solidFill>
                <a:latin typeface="Ink Free" pitchFamily="34" charset="0"/>
                <a:ea typeface="Ink Free" pitchFamily="34" charset="-122"/>
                <a:cs typeface="Ink Free" pitchFamily="34" charset="-120"/>
              </a:rPr>
              <a:t>la DLQ con los mensajes descartados</a:t>
            </a:r>
            <a:endParaRPr lang="en-US" sz="1300" dirty="0"/>
          </a:p>
        </p:txBody>
      </p:sp>
      <p:sp>
        <p:nvSpPr>
          <p:cNvPr id="17" name="Shape 13"/>
          <p:cNvSpPr/>
          <p:nvPr/>
        </p:nvSpPr>
        <p:spPr>
          <a:xfrm rot="90000">
            <a:off x="7498080" y="3931920"/>
            <a:ext cx="4023360" cy="2331720"/>
          </a:xfrm>
          <a:prstGeom prst="rect">
            <a:avLst/>
          </a:prstGeom>
          <a:solidFill>
            <a:srgbClr val="FFEB7A"/>
          </a:solidFill>
          <a:ln w="12700">
            <a:solidFill>
              <a:srgbClr val="FFEB7A"/>
            </a:solidFill>
            <a:prstDash val="solid"/>
          </a:ln>
          <a:effectLst>
            <a:outerShdw sx="100000" sy="100000" kx="0" ky="0" algn="bl" rotWithShape="0" blurRad="101600" dist="50800" dir="3000000">
              <a:srgbClr val="000000">
                <a:alpha val="30000"/>
              </a:srgbClr>
            </a:outerShdw>
          </a:effectLst>
        </p:spPr>
      </p:sp>
      <p:sp>
        <p:nvSpPr>
          <p:cNvPr id="18" name="Text 14"/>
          <p:cNvSpPr txBox="1"/>
          <p:nvPr/>
        </p:nvSpPr>
        <p:spPr>
          <a:xfrm rot="90000">
            <a:off x="7662672" y="4041648"/>
            <a:ext cx="3694176" cy="2112264"/>
          </a:xfrm>
          <a:prstGeom prst="rect">
            <a:avLst/>
          </a:prstGeom>
          <a:noFill/>
          <a:ln/>
        </p:spPr>
        <p:txBody>
          <a:bodyPr wrap="square" lIns="0" tIns="0" rIns="0" bIns="0" rtlCol="0" anchor="t"/>
          <a:lstStyle/>
          <a:p>
            <a:pPr indent="0" marL="0">
              <a:buNone/>
            </a:pPr>
            <a:r>
              <a:rPr lang="en-US" sz="1600" b="1" dirty="0">
                <a:solidFill>
                  <a:srgbClr val="3B2F12"/>
                </a:solidFill>
                <a:latin typeface="Ink Free" pitchFamily="34" charset="0"/>
                <a:ea typeface="Ink Free" pitchFamily="34" charset="-122"/>
                <a:cs typeface="Ink Free" pitchFamily="34" charset="-120"/>
              </a:rPr>
              <a:t>En vivo</a:t>
            </a:r>
            <a:endParaRPr lang="en-US" sz="1600" dirty="0"/>
          </a:p>
          <a:p>
            <a:pPr indent="0" marL="0">
              <a:spcAft>
                <a:spcPts val="200"/>
              </a:spcAft>
              <a:buNone/>
            </a:pPr>
            <a:r>
              <a:rPr lang="en-US" sz="1400" dirty="0">
                <a:solidFill>
                  <a:srgbClr val="2E2A1E"/>
                </a:solidFill>
                <a:latin typeface="Ink Free" pitchFamily="34" charset="0"/>
                <a:ea typeface="Ink Free" pitchFamily="34" charset="-122"/>
                <a:cs typeface="Ink Free" pitchFamily="34" charset="-120"/>
              </a:rPr>
              <a:t>Publicar desde la consola un evento con</a:t>
            </a:r>
            <a:endParaRPr lang="en-US" sz="1600" dirty="0"/>
          </a:p>
          <a:p>
            <a:pPr indent="0" marL="0">
              <a:spcAft>
                <a:spcPts val="200"/>
              </a:spcAft>
              <a:buNone/>
            </a:pPr>
            <a:r>
              <a:rPr lang="en-US" sz="1400" dirty="0">
                <a:solidFill>
                  <a:srgbClr val="2E2A1E"/>
                </a:solidFill>
                <a:latin typeface="Ink Free" pitchFamily="34" charset="0"/>
                <a:ea typeface="Ink Free" pitchFamily="34" charset="-122"/>
                <a:cs typeface="Ink Free" pitchFamily="34" charset="-120"/>
              </a:rPr>
              <a:t>pedidoNumero vacio y mostrar como cae</a:t>
            </a:r>
            <a:endParaRPr lang="en-US" sz="1600" dirty="0"/>
          </a:p>
          <a:p>
            <a:pPr indent="0" marL="0">
              <a:spcAft>
                <a:spcPts val="200"/>
              </a:spcAft>
              <a:buNone/>
            </a:pPr>
            <a:r>
              <a:rPr lang="en-US" sz="1400" dirty="0">
                <a:solidFill>
                  <a:srgbClr val="2E2A1E"/>
                </a:solidFill>
                <a:latin typeface="Ink Free" pitchFamily="34" charset="0"/>
                <a:ea typeface="Ink Free" pitchFamily="34" charset="-122"/>
                <a:cs typeface="Ink Free" pitchFamily="34" charset="-120"/>
              </a:rPr>
              <a:t>en la DLQ, con el motivo en el log.</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0607040" y="6419088"/>
            <a:ext cx="1005840" cy="292608"/>
          </a:xfrm>
          <a:prstGeom prst="rect">
            <a:avLst/>
          </a:prstGeom>
          <a:noFill/>
          <a:ln/>
        </p:spPr>
        <p:txBody>
          <a:bodyPr wrap="square" lIns="0" tIns="0" rIns="0" bIns="0" rtlCol="0" anchor="ctr"/>
          <a:lstStyle/>
          <a:p>
            <a:pPr algn="r" indent="0" marL="0">
              <a:buNone/>
            </a:pPr>
            <a:r>
              <a:rPr lang="en-US" sz="1100" dirty="0">
                <a:solidFill>
                  <a:srgbClr val="5B6578"/>
                </a:solidFill>
                <a:latin typeface="Ink Free" pitchFamily="34" charset="0"/>
                <a:ea typeface="Ink Free" pitchFamily="34" charset="-122"/>
                <a:cs typeface="Ink Free" pitchFamily="34" charset="-120"/>
              </a:rPr>
              <a:t>10 / 13</a:t>
            </a:r>
            <a:endParaRPr lang="en-US" sz="1100" dirty="0"/>
          </a:p>
        </p:txBody>
      </p:sp>
      <p:sp>
        <p:nvSpPr>
          <p:cNvPr id="3" name="Text 1"/>
          <p:cNvSpPr txBox="1"/>
          <p:nvPr/>
        </p:nvSpPr>
        <p:spPr>
          <a:xfrm>
            <a:off x="640080" y="256032"/>
            <a:ext cx="6400800" cy="320040"/>
          </a:xfrm>
          <a:prstGeom prst="rect">
            <a:avLst/>
          </a:prstGeom>
          <a:noFill/>
          <a:ln/>
        </p:spPr>
        <p:txBody>
          <a:bodyPr wrap="square" lIns="0" tIns="0" rIns="0" bIns="0" rtlCol="0" anchor="t"/>
          <a:lstStyle/>
          <a:p>
            <a:pPr indent="0" marL="0">
              <a:buNone/>
            </a:pPr>
            <a:r>
              <a:rPr lang="en-US" sz="1500" dirty="0">
                <a:solidFill>
                  <a:srgbClr val="C24E00"/>
                </a:solidFill>
                <a:latin typeface="Ink Free" pitchFamily="34" charset="0"/>
                <a:ea typeface="Ink Free" pitchFamily="34" charset="-122"/>
                <a:cs typeface="Ink Free" pitchFamily="34" charset="-120"/>
              </a:rPr>
              <a:t>Microservicio administrador</a:t>
            </a:r>
            <a:endParaRPr lang="en-US" sz="1500" dirty="0"/>
          </a:p>
        </p:txBody>
      </p:sp>
      <p:sp>
        <p:nvSpPr>
          <p:cNvPr id="4" name="Text 2"/>
          <p:cNvSpPr txBox="1"/>
          <p:nvPr/>
        </p:nvSpPr>
        <p:spPr>
          <a:xfrm>
            <a:off x="640080" y="530352"/>
            <a:ext cx="8778240" cy="685800"/>
          </a:xfrm>
          <a:prstGeom prst="rect">
            <a:avLst/>
          </a:prstGeom>
          <a:noFill/>
          <a:ln/>
        </p:spPr>
        <p:txBody>
          <a:bodyPr wrap="square" lIns="0" tIns="0" rIns="0" bIns="0" rtlCol="0" anchor="t"/>
          <a:lstStyle/>
          <a:p>
            <a:pPr indent="0" marL="0">
              <a:buNone/>
            </a:pPr>
            <a:r>
              <a:rPr lang="en-US" sz="3400" dirty="0">
                <a:solidFill>
                  <a:srgbClr val="1B2B4B"/>
                </a:solidFill>
                <a:latin typeface="Ink Free" pitchFamily="34" charset="0"/>
                <a:ea typeface="Ink Free" pitchFamily="34" charset="-122"/>
                <a:cs typeface="Ink Free" pitchFamily="34" charset="-120"/>
              </a:rPr>
              <a:t>Crear y eliminar colas por REST</a:t>
            </a:r>
            <a:endParaRPr lang="en-US" sz="3400" dirty="0"/>
          </a:p>
        </p:txBody>
      </p:sp>
      <p:sp>
        <p:nvSpPr>
          <p:cNvPr id="5" name="Text 3"/>
          <p:cNvSpPr txBox="1"/>
          <p:nvPr/>
        </p:nvSpPr>
        <p:spPr>
          <a:xfrm>
            <a:off x="640080" y="1207008"/>
            <a:ext cx="8778240" cy="365760"/>
          </a:xfrm>
          <a:prstGeom prst="rect">
            <a:avLst/>
          </a:prstGeom>
          <a:noFill/>
          <a:ln/>
        </p:spPr>
        <p:txBody>
          <a:bodyPr wrap="square" lIns="0" tIns="0" rIns="0" bIns="0" rtlCol="0" anchor="t"/>
          <a:lstStyle/>
          <a:p>
            <a:pPr indent="0" marL="0">
              <a:buNone/>
            </a:pPr>
            <a:r>
              <a:rPr lang="en-US" sz="1300" dirty="0">
                <a:solidFill>
                  <a:srgbClr val="5B6578"/>
                </a:solidFill>
                <a:latin typeface="Segoe UI" pitchFamily="34" charset="0"/>
                <a:ea typeface="Segoe UI" pitchFamily="34" charset="-122"/>
                <a:cs typeface="Segoe UI" pitchFamily="34" charset="-120"/>
              </a:rPr>
              <a:t>ms-mensajeria (:8085) · logica encapsulada en RabbitAdminService · DTO validados</a:t>
            </a:r>
            <a:endParaRPr lang="en-US" sz="1300" dirty="0"/>
          </a:p>
        </p:txBody>
      </p:sp>
      <p:sp>
        <p:nvSpPr>
          <p:cNvPr id="6" name="Text 4"/>
          <p:cNvSpPr txBox="1"/>
          <p:nvPr/>
        </p:nvSpPr>
        <p:spPr>
          <a:xfrm>
            <a:off x="10323576" y="402336"/>
            <a:ext cx="1207008" cy="603504"/>
          </a:xfrm>
          <a:prstGeom prst="rect">
            <a:avLst/>
          </a:prstGeom>
          <a:noFill/>
          <a:ln/>
        </p:spPr>
        <p:txBody>
          <a:bodyPr wrap="square" lIns="0" tIns="0" rIns="0" bIns="0" rtlCol="0" anchor="ctr"/>
          <a:lstStyle/>
          <a:p>
            <a:pPr algn="ctr" indent="0" marL="0">
              <a:buNone/>
            </a:pPr>
            <a:r>
              <a:rPr lang="en-US" sz="3000" dirty="0">
                <a:solidFill>
                  <a:srgbClr val="D6453D"/>
                </a:solidFill>
                <a:latin typeface="Ink Free" pitchFamily="34" charset="0"/>
                <a:ea typeface="Ink Free" pitchFamily="34" charset="-122"/>
                <a:cs typeface="Ink Free" pitchFamily="34" charset="-120"/>
              </a:rPr>
              <a:t>13%</a:t>
            </a:r>
            <a:endParaRPr lang="en-US" sz="3000" dirty="0"/>
          </a:p>
        </p:txBody>
      </p:sp>
      <p:sp>
        <p:nvSpPr>
          <p:cNvPr id="7" name="Text 5"/>
          <p:cNvSpPr txBox="1"/>
          <p:nvPr/>
        </p:nvSpPr>
        <p:spPr>
          <a:xfrm>
            <a:off x="9418320" y="1188720"/>
            <a:ext cx="2926080" cy="310896"/>
          </a:xfrm>
          <a:prstGeom prst="rect">
            <a:avLst/>
          </a:prstGeom>
          <a:noFill/>
          <a:ln/>
        </p:spPr>
        <p:txBody>
          <a:bodyPr wrap="square" lIns="0" tIns="0" rIns="0" bIns="0" rtlCol="0" anchor="t"/>
          <a:lstStyle/>
          <a:p>
            <a:pPr algn="ctr" indent="0" marL="0">
              <a:buNone/>
            </a:pPr>
            <a:r>
              <a:rPr lang="en-US" sz="1250" dirty="0">
                <a:solidFill>
                  <a:srgbClr val="D6453D"/>
                </a:solidFill>
                <a:latin typeface="Ink Free" pitchFamily="34" charset="0"/>
                <a:ea typeface="Ink Free" pitchFamily="34" charset="-122"/>
                <a:cs typeface="Ink Free" pitchFamily="34" charset="-120"/>
              </a:rPr>
              <a:t>pauta: endpoints REST</a:t>
            </a:r>
            <a:endParaRPr lang="en-US" sz="1250" dirty="0"/>
          </a:p>
        </p:txBody>
      </p:sp>
      <p:pic>
        <p:nvPicPr>
          <p:cNvPr id="8" name="Image 0" descr="C:\Users\joshu\AppData\Local\Temp\claude\C--Users-joshu-Desktop-CloudDevRamo\d162bf51-ad36-4a2b-981d-7f5a95d9a76d\scratchpad\ppt4\capas\s10.png">    </p:cNvPr>
          <p:cNvPicPr>
            <a:picLocks noChangeAspect="1"/>
          </p:cNvPicPr>
          <p:nvPr/>
        </p:nvPicPr>
        <p:blipFill>
          <a:blip r:embed="rId2"/>
          <a:stretch>
            <a:fillRect/>
          </a:stretch>
        </p:blipFill>
        <p:spPr>
          <a:xfrm>
            <a:off x="0" y="0"/>
            <a:ext cx="12191695" cy="6858000"/>
          </a:xfrm>
          <a:prstGeom prst="rect">
            <a:avLst/>
          </a:prstGeom>
        </p:spPr>
      </p:pic>
      <p:sp>
        <p:nvSpPr>
          <p:cNvPr id="9" name="Text 6"/>
          <p:cNvSpPr txBox="1"/>
          <p:nvPr/>
        </p:nvSpPr>
        <p:spPr>
          <a:xfrm>
            <a:off x="731520" y="2103120"/>
            <a:ext cx="777240" cy="365760"/>
          </a:xfrm>
          <a:prstGeom prst="rect">
            <a:avLst/>
          </a:prstGeom>
          <a:noFill/>
          <a:ln/>
        </p:spPr>
        <p:txBody>
          <a:bodyPr wrap="square" lIns="0" tIns="0" rIns="0" bIns="0" rtlCol="0" anchor="ctr"/>
          <a:lstStyle/>
          <a:p>
            <a:pPr indent="0" marL="0">
              <a:buNone/>
            </a:pPr>
            <a:r>
              <a:rPr lang="en-US" sz="1100" b="1" dirty="0">
                <a:solidFill>
                  <a:srgbClr val="0063B1"/>
                </a:solidFill>
                <a:latin typeface="Consolas" pitchFamily="34" charset="0"/>
                <a:ea typeface="Consolas" pitchFamily="34" charset="-122"/>
                <a:cs typeface="Consolas" pitchFamily="34" charset="-120"/>
              </a:rPr>
              <a:t>GET</a:t>
            </a:r>
            <a:endParaRPr lang="en-US" sz="1100" dirty="0"/>
          </a:p>
        </p:txBody>
      </p:sp>
      <p:sp>
        <p:nvSpPr>
          <p:cNvPr id="10" name="Text 7"/>
          <p:cNvSpPr txBox="1"/>
          <p:nvPr/>
        </p:nvSpPr>
        <p:spPr>
          <a:xfrm>
            <a:off x="1554480" y="2103120"/>
            <a:ext cx="3566160" cy="365760"/>
          </a:xfrm>
          <a:prstGeom prst="rect">
            <a:avLst/>
          </a:prstGeom>
          <a:noFill/>
          <a:ln/>
        </p:spPr>
        <p:txBody>
          <a:bodyPr wrap="square" lIns="0" tIns="0" rIns="0" bIns="0" rtlCol="0" anchor="ctr"/>
          <a:lstStyle/>
          <a:p>
            <a:pPr indent="0" marL="0">
              <a:buNone/>
            </a:pPr>
            <a:r>
              <a:rPr lang="en-US" sz="1100" dirty="0">
                <a:solidFill>
                  <a:srgbClr val="1B2B4B"/>
                </a:solidFill>
                <a:latin typeface="Consolas" pitchFamily="34" charset="0"/>
                <a:ea typeface="Consolas" pitchFamily="34" charset="-122"/>
                <a:cs typeface="Consolas" pitchFamily="34" charset="-120"/>
              </a:rPr>
              <a:t>/api/v1/mensajeria/colas</a:t>
            </a:r>
            <a:endParaRPr lang="en-US" sz="1100" dirty="0"/>
          </a:p>
        </p:txBody>
      </p:sp>
      <p:sp>
        <p:nvSpPr>
          <p:cNvPr id="11" name="Text 8"/>
          <p:cNvSpPr txBox="1"/>
          <p:nvPr/>
        </p:nvSpPr>
        <p:spPr>
          <a:xfrm>
            <a:off x="5212080" y="2103120"/>
            <a:ext cx="3108960" cy="365760"/>
          </a:xfrm>
          <a:prstGeom prst="rect">
            <a:avLst/>
          </a:prstGeom>
          <a:noFill/>
          <a:ln/>
        </p:spPr>
        <p:txBody>
          <a:bodyPr wrap="square" lIns="0" tIns="0" rIns="0" bIns="0" rtlCol="0" anchor="ctr"/>
          <a:lstStyle/>
          <a:p>
            <a:pPr indent="0" marL="0">
              <a:buNone/>
            </a:pPr>
            <a:r>
              <a:rPr lang="en-US" sz="1100" dirty="0">
                <a:solidFill>
                  <a:srgbClr val="5B6578"/>
                </a:solidFill>
                <a:latin typeface="Segoe UI" pitchFamily="34" charset="0"/>
                <a:ea typeface="Segoe UI" pitchFamily="34" charset="-122"/>
                <a:cs typeface="Segoe UI" pitchFamily="34" charset="-120"/>
              </a:rPr>
              <a:t>lista con mensajes y consumidores</a:t>
            </a:r>
            <a:endParaRPr lang="en-US" sz="1100" dirty="0"/>
          </a:p>
        </p:txBody>
      </p:sp>
      <p:sp>
        <p:nvSpPr>
          <p:cNvPr id="12" name="Text 9"/>
          <p:cNvSpPr txBox="1"/>
          <p:nvPr/>
        </p:nvSpPr>
        <p:spPr>
          <a:xfrm>
            <a:off x="731520" y="2651760"/>
            <a:ext cx="777240" cy="365760"/>
          </a:xfrm>
          <a:prstGeom prst="rect">
            <a:avLst/>
          </a:prstGeom>
          <a:noFill/>
          <a:ln/>
        </p:spPr>
        <p:txBody>
          <a:bodyPr wrap="square" lIns="0" tIns="0" rIns="0" bIns="0" rtlCol="0" anchor="ctr"/>
          <a:lstStyle/>
          <a:p>
            <a:pPr indent="0" marL="0">
              <a:buNone/>
            </a:pPr>
            <a:r>
              <a:rPr lang="en-US" sz="1100" b="1" dirty="0">
                <a:solidFill>
                  <a:srgbClr val="1E8A57"/>
                </a:solidFill>
                <a:latin typeface="Consolas" pitchFamily="34" charset="0"/>
                <a:ea typeface="Consolas" pitchFamily="34" charset="-122"/>
                <a:cs typeface="Consolas" pitchFamily="34" charset="-120"/>
              </a:rPr>
              <a:t>POST</a:t>
            </a:r>
            <a:endParaRPr lang="en-US" sz="1100" dirty="0"/>
          </a:p>
        </p:txBody>
      </p:sp>
      <p:sp>
        <p:nvSpPr>
          <p:cNvPr id="13" name="Text 10"/>
          <p:cNvSpPr txBox="1"/>
          <p:nvPr/>
        </p:nvSpPr>
        <p:spPr>
          <a:xfrm>
            <a:off x="1554480" y="2651760"/>
            <a:ext cx="3566160" cy="365760"/>
          </a:xfrm>
          <a:prstGeom prst="rect">
            <a:avLst/>
          </a:prstGeom>
          <a:noFill/>
          <a:ln/>
        </p:spPr>
        <p:txBody>
          <a:bodyPr wrap="square" lIns="0" tIns="0" rIns="0" bIns="0" rtlCol="0" anchor="ctr"/>
          <a:lstStyle/>
          <a:p>
            <a:pPr indent="0" marL="0">
              <a:buNone/>
            </a:pPr>
            <a:r>
              <a:rPr lang="en-US" sz="1100" dirty="0">
                <a:solidFill>
                  <a:srgbClr val="1B2B4B"/>
                </a:solidFill>
                <a:latin typeface="Consolas" pitchFamily="34" charset="0"/>
                <a:ea typeface="Consolas" pitchFamily="34" charset="-122"/>
                <a:cs typeface="Consolas" pitchFamily="34" charset="-120"/>
              </a:rPr>
              <a:t>/api/v1/mensajeria/colas</a:t>
            </a:r>
            <a:endParaRPr lang="en-US" sz="1100" dirty="0"/>
          </a:p>
        </p:txBody>
      </p:sp>
      <p:sp>
        <p:nvSpPr>
          <p:cNvPr id="14" name="Text 11"/>
          <p:cNvSpPr txBox="1"/>
          <p:nvPr/>
        </p:nvSpPr>
        <p:spPr>
          <a:xfrm>
            <a:off x="5212080" y="2651760"/>
            <a:ext cx="3108960" cy="365760"/>
          </a:xfrm>
          <a:prstGeom prst="rect">
            <a:avLst/>
          </a:prstGeom>
          <a:noFill/>
          <a:ln/>
        </p:spPr>
        <p:txBody>
          <a:bodyPr wrap="square" lIns="0" tIns="0" rIns="0" bIns="0" rtlCol="0" anchor="ctr"/>
          <a:lstStyle/>
          <a:p>
            <a:pPr indent="0" marL="0">
              <a:buNone/>
            </a:pPr>
            <a:r>
              <a:rPr lang="en-US" sz="1100" dirty="0">
                <a:solidFill>
                  <a:srgbClr val="5B6578"/>
                </a:solidFill>
                <a:latin typeface="Segoe UI" pitchFamily="34" charset="0"/>
                <a:ea typeface="Segoe UI" pitchFamily="34" charset="-122"/>
                <a:cs typeface="Segoe UI" pitchFamily="34" charset="-120"/>
              </a:rPr>
              <a:t>crea la cola, opcionalmente con su DLQ</a:t>
            </a:r>
            <a:endParaRPr lang="en-US" sz="1100" dirty="0"/>
          </a:p>
        </p:txBody>
      </p:sp>
      <p:sp>
        <p:nvSpPr>
          <p:cNvPr id="15" name="Text 12"/>
          <p:cNvSpPr txBox="1"/>
          <p:nvPr/>
        </p:nvSpPr>
        <p:spPr>
          <a:xfrm>
            <a:off x="731520" y="3200400"/>
            <a:ext cx="777240" cy="365760"/>
          </a:xfrm>
          <a:prstGeom prst="rect">
            <a:avLst/>
          </a:prstGeom>
          <a:noFill/>
          <a:ln/>
        </p:spPr>
        <p:txBody>
          <a:bodyPr wrap="square" lIns="0" tIns="0" rIns="0" bIns="0" rtlCol="0" anchor="ctr"/>
          <a:lstStyle/>
          <a:p>
            <a:pPr indent="0" marL="0">
              <a:buNone/>
            </a:pPr>
            <a:r>
              <a:rPr lang="en-US" sz="1100" b="1" dirty="0">
                <a:solidFill>
                  <a:srgbClr val="D6453D"/>
                </a:solidFill>
                <a:latin typeface="Consolas" pitchFamily="34" charset="0"/>
                <a:ea typeface="Consolas" pitchFamily="34" charset="-122"/>
                <a:cs typeface="Consolas" pitchFamily="34" charset="-120"/>
              </a:rPr>
              <a:t>DELETE</a:t>
            </a:r>
            <a:endParaRPr lang="en-US" sz="1100" dirty="0"/>
          </a:p>
        </p:txBody>
      </p:sp>
      <p:sp>
        <p:nvSpPr>
          <p:cNvPr id="16" name="Text 13"/>
          <p:cNvSpPr txBox="1"/>
          <p:nvPr/>
        </p:nvSpPr>
        <p:spPr>
          <a:xfrm>
            <a:off x="1554480" y="3200400"/>
            <a:ext cx="3566160" cy="365760"/>
          </a:xfrm>
          <a:prstGeom prst="rect">
            <a:avLst/>
          </a:prstGeom>
          <a:noFill/>
          <a:ln/>
        </p:spPr>
        <p:txBody>
          <a:bodyPr wrap="square" lIns="0" tIns="0" rIns="0" bIns="0" rtlCol="0" anchor="ctr"/>
          <a:lstStyle/>
          <a:p>
            <a:pPr indent="0" marL="0">
              <a:buNone/>
            </a:pPr>
            <a:r>
              <a:rPr lang="en-US" sz="1100" dirty="0">
                <a:solidFill>
                  <a:srgbClr val="1B2B4B"/>
                </a:solidFill>
                <a:latin typeface="Consolas" pitchFamily="34" charset="0"/>
                <a:ea typeface="Consolas" pitchFamily="34" charset="-122"/>
                <a:cs typeface="Consolas" pitchFamily="34" charset="-120"/>
              </a:rPr>
              <a:t>/api/v1/mensajeria/colas/{nombre}</a:t>
            </a:r>
            <a:endParaRPr lang="en-US" sz="1100" dirty="0"/>
          </a:p>
        </p:txBody>
      </p:sp>
      <p:sp>
        <p:nvSpPr>
          <p:cNvPr id="17" name="Text 14"/>
          <p:cNvSpPr txBox="1"/>
          <p:nvPr/>
        </p:nvSpPr>
        <p:spPr>
          <a:xfrm>
            <a:off x="5212080" y="3200400"/>
            <a:ext cx="3108960" cy="365760"/>
          </a:xfrm>
          <a:prstGeom prst="rect">
            <a:avLst/>
          </a:prstGeom>
          <a:noFill/>
          <a:ln/>
        </p:spPr>
        <p:txBody>
          <a:bodyPr wrap="square" lIns="0" tIns="0" rIns="0" bIns="0" rtlCol="0" anchor="ctr"/>
          <a:lstStyle/>
          <a:p>
            <a:pPr indent="0" marL="0">
              <a:buNone/>
            </a:pPr>
            <a:r>
              <a:rPr lang="en-US" sz="1100" dirty="0">
                <a:solidFill>
                  <a:srgbClr val="5B6578"/>
                </a:solidFill>
                <a:latin typeface="Segoe UI" pitchFamily="34" charset="0"/>
                <a:ea typeface="Segoe UI" pitchFamily="34" charset="-122"/>
                <a:cs typeface="Segoe UI" pitchFamily="34" charset="-120"/>
              </a:rPr>
              <a:t>elimina (la topologia del sistema esta protegida)</a:t>
            </a:r>
            <a:endParaRPr lang="en-US" sz="1100" dirty="0"/>
          </a:p>
        </p:txBody>
      </p:sp>
      <p:sp>
        <p:nvSpPr>
          <p:cNvPr id="18" name="Text 15"/>
          <p:cNvSpPr txBox="1"/>
          <p:nvPr/>
        </p:nvSpPr>
        <p:spPr>
          <a:xfrm>
            <a:off x="731520" y="3749040"/>
            <a:ext cx="777240" cy="365760"/>
          </a:xfrm>
          <a:prstGeom prst="rect">
            <a:avLst/>
          </a:prstGeom>
          <a:noFill/>
          <a:ln/>
        </p:spPr>
        <p:txBody>
          <a:bodyPr wrap="square" lIns="0" tIns="0" rIns="0" bIns="0" rtlCol="0" anchor="ctr"/>
          <a:lstStyle/>
          <a:p>
            <a:pPr indent="0" marL="0">
              <a:buNone/>
            </a:pPr>
            <a:r>
              <a:rPr lang="en-US" sz="1100" b="1" dirty="0">
                <a:solidFill>
                  <a:srgbClr val="1E8A57"/>
                </a:solidFill>
                <a:latin typeface="Consolas" pitchFamily="34" charset="0"/>
                <a:ea typeface="Consolas" pitchFamily="34" charset="-122"/>
                <a:cs typeface="Consolas" pitchFamily="34" charset="-120"/>
              </a:rPr>
              <a:t>POST</a:t>
            </a:r>
            <a:endParaRPr lang="en-US" sz="1100" dirty="0"/>
          </a:p>
        </p:txBody>
      </p:sp>
      <p:sp>
        <p:nvSpPr>
          <p:cNvPr id="19" name="Text 16"/>
          <p:cNvSpPr txBox="1"/>
          <p:nvPr/>
        </p:nvSpPr>
        <p:spPr>
          <a:xfrm>
            <a:off x="1554480" y="3749040"/>
            <a:ext cx="3566160" cy="365760"/>
          </a:xfrm>
          <a:prstGeom prst="rect">
            <a:avLst/>
          </a:prstGeom>
          <a:noFill/>
          <a:ln/>
        </p:spPr>
        <p:txBody>
          <a:bodyPr wrap="square" lIns="0" tIns="0" rIns="0" bIns="0" rtlCol="0" anchor="ctr"/>
          <a:lstStyle/>
          <a:p>
            <a:pPr indent="0" marL="0">
              <a:buNone/>
            </a:pPr>
            <a:r>
              <a:rPr lang="en-US" sz="1100" dirty="0">
                <a:solidFill>
                  <a:srgbClr val="1B2B4B"/>
                </a:solidFill>
                <a:latin typeface="Consolas" pitchFamily="34" charset="0"/>
                <a:ea typeface="Consolas" pitchFamily="34" charset="-122"/>
                <a:cs typeface="Consolas" pitchFamily="34" charset="-120"/>
              </a:rPr>
              <a:t>/api/v1/mensajeria/exchanges</a:t>
            </a:r>
            <a:endParaRPr lang="en-US" sz="1100" dirty="0"/>
          </a:p>
        </p:txBody>
      </p:sp>
      <p:sp>
        <p:nvSpPr>
          <p:cNvPr id="20" name="Text 17"/>
          <p:cNvSpPr txBox="1"/>
          <p:nvPr/>
        </p:nvSpPr>
        <p:spPr>
          <a:xfrm>
            <a:off x="5212080" y="3749040"/>
            <a:ext cx="3108960" cy="365760"/>
          </a:xfrm>
          <a:prstGeom prst="rect">
            <a:avLst/>
          </a:prstGeom>
          <a:noFill/>
          <a:ln/>
        </p:spPr>
        <p:txBody>
          <a:bodyPr wrap="square" lIns="0" tIns="0" rIns="0" bIns="0" rtlCol="0" anchor="ctr"/>
          <a:lstStyle/>
          <a:p>
            <a:pPr indent="0" marL="0">
              <a:buNone/>
            </a:pPr>
            <a:r>
              <a:rPr lang="en-US" sz="1100" dirty="0">
                <a:solidFill>
                  <a:srgbClr val="5B6578"/>
                </a:solidFill>
                <a:latin typeface="Segoe UI" pitchFamily="34" charset="0"/>
                <a:ea typeface="Segoe UI" pitchFamily="34" charset="-122"/>
                <a:cs typeface="Segoe UI" pitchFamily="34" charset="-120"/>
              </a:rPr>
              <a:t>direct, topic, fanout o headers</a:t>
            </a:r>
            <a:endParaRPr lang="en-US" sz="1100" dirty="0"/>
          </a:p>
        </p:txBody>
      </p:sp>
      <p:sp>
        <p:nvSpPr>
          <p:cNvPr id="21" name="Text 18"/>
          <p:cNvSpPr txBox="1"/>
          <p:nvPr/>
        </p:nvSpPr>
        <p:spPr>
          <a:xfrm>
            <a:off x="731520" y="4297680"/>
            <a:ext cx="777240" cy="365760"/>
          </a:xfrm>
          <a:prstGeom prst="rect">
            <a:avLst/>
          </a:prstGeom>
          <a:noFill/>
          <a:ln/>
        </p:spPr>
        <p:txBody>
          <a:bodyPr wrap="square" lIns="0" tIns="0" rIns="0" bIns="0" rtlCol="0" anchor="ctr"/>
          <a:lstStyle/>
          <a:p>
            <a:pPr indent="0" marL="0">
              <a:buNone/>
            </a:pPr>
            <a:r>
              <a:rPr lang="en-US" sz="1100" b="1" dirty="0">
                <a:solidFill>
                  <a:srgbClr val="1E8A57"/>
                </a:solidFill>
                <a:latin typeface="Consolas" pitchFamily="34" charset="0"/>
                <a:ea typeface="Consolas" pitchFamily="34" charset="-122"/>
                <a:cs typeface="Consolas" pitchFamily="34" charset="-120"/>
              </a:rPr>
              <a:t>POST</a:t>
            </a:r>
            <a:endParaRPr lang="en-US" sz="1100" dirty="0"/>
          </a:p>
        </p:txBody>
      </p:sp>
      <p:sp>
        <p:nvSpPr>
          <p:cNvPr id="22" name="Text 19"/>
          <p:cNvSpPr txBox="1"/>
          <p:nvPr/>
        </p:nvSpPr>
        <p:spPr>
          <a:xfrm>
            <a:off x="1554480" y="4297680"/>
            <a:ext cx="3566160" cy="365760"/>
          </a:xfrm>
          <a:prstGeom prst="rect">
            <a:avLst/>
          </a:prstGeom>
          <a:noFill/>
          <a:ln/>
        </p:spPr>
        <p:txBody>
          <a:bodyPr wrap="square" lIns="0" tIns="0" rIns="0" bIns="0" rtlCol="0" anchor="ctr"/>
          <a:lstStyle/>
          <a:p>
            <a:pPr indent="0" marL="0">
              <a:buNone/>
            </a:pPr>
            <a:r>
              <a:rPr lang="en-US" sz="1100" dirty="0">
                <a:solidFill>
                  <a:srgbClr val="1B2B4B"/>
                </a:solidFill>
                <a:latin typeface="Consolas" pitchFamily="34" charset="0"/>
                <a:ea typeface="Consolas" pitchFamily="34" charset="-122"/>
                <a:cs typeface="Consolas" pitchFamily="34" charset="-120"/>
              </a:rPr>
              <a:t>/api/v1/mensajeria/bindings</a:t>
            </a:r>
            <a:endParaRPr lang="en-US" sz="1100" dirty="0"/>
          </a:p>
        </p:txBody>
      </p:sp>
      <p:sp>
        <p:nvSpPr>
          <p:cNvPr id="23" name="Text 20"/>
          <p:cNvSpPr txBox="1"/>
          <p:nvPr/>
        </p:nvSpPr>
        <p:spPr>
          <a:xfrm>
            <a:off x="5212080" y="4297680"/>
            <a:ext cx="3108960" cy="365760"/>
          </a:xfrm>
          <a:prstGeom prst="rect">
            <a:avLst/>
          </a:prstGeom>
          <a:noFill/>
          <a:ln/>
        </p:spPr>
        <p:txBody>
          <a:bodyPr wrap="square" lIns="0" tIns="0" rIns="0" bIns="0" rtlCol="0" anchor="ctr"/>
          <a:lstStyle/>
          <a:p>
            <a:pPr indent="0" marL="0">
              <a:buNone/>
            </a:pPr>
            <a:r>
              <a:rPr lang="en-US" sz="1100" dirty="0">
                <a:solidFill>
                  <a:srgbClr val="5B6578"/>
                </a:solidFill>
                <a:latin typeface="Segoe UI" pitchFamily="34" charset="0"/>
                <a:ea typeface="Segoe UI" pitchFamily="34" charset="-122"/>
                <a:cs typeface="Segoe UI" pitchFamily="34" charset="-120"/>
              </a:rPr>
              <a:t>enlaza cola y exchange</a:t>
            </a:r>
            <a:endParaRPr lang="en-US" sz="1100" dirty="0"/>
          </a:p>
        </p:txBody>
      </p:sp>
      <p:sp>
        <p:nvSpPr>
          <p:cNvPr id="24" name="Text 21"/>
          <p:cNvSpPr txBox="1"/>
          <p:nvPr/>
        </p:nvSpPr>
        <p:spPr>
          <a:xfrm>
            <a:off x="731520" y="4846320"/>
            <a:ext cx="777240" cy="365760"/>
          </a:xfrm>
          <a:prstGeom prst="rect">
            <a:avLst/>
          </a:prstGeom>
          <a:noFill/>
          <a:ln/>
        </p:spPr>
        <p:txBody>
          <a:bodyPr wrap="square" lIns="0" tIns="0" rIns="0" bIns="0" rtlCol="0" anchor="ctr"/>
          <a:lstStyle/>
          <a:p>
            <a:pPr indent="0" marL="0">
              <a:buNone/>
            </a:pPr>
            <a:r>
              <a:rPr lang="en-US" sz="1100" b="1" dirty="0">
                <a:solidFill>
                  <a:srgbClr val="0063B1"/>
                </a:solidFill>
                <a:latin typeface="Consolas" pitchFamily="34" charset="0"/>
                <a:ea typeface="Consolas" pitchFamily="34" charset="-122"/>
                <a:cs typeface="Consolas" pitchFamily="34" charset="-120"/>
              </a:rPr>
              <a:t>GET</a:t>
            </a:r>
            <a:endParaRPr lang="en-US" sz="1100" dirty="0"/>
          </a:p>
        </p:txBody>
      </p:sp>
      <p:sp>
        <p:nvSpPr>
          <p:cNvPr id="25" name="Text 22"/>
          <p:cNvSpPr txBox="1"/>
          <p:nvPr/>
        </p:nvSpPr>
        <p:spPr>
          <a:xfrm>
            <a:off x="1554480" y="4846320"/>
            <a:ext cx="3566160" cy="365760"/>
          </a:xfrm>
          <a:prstGeom prst="rect">
            <a:avLst/>
          </a:prstGeom>
          <a:noFill/>
          <a:ln/>
        </p:spPr>
        <p:txBody>
          <a:bodyPr wrap="square" lIns="0" tIns="0" rIns="0" bIns="0" rtlCol="0" anchor="ctr"/>
          <a:lstStyle/>
          <a:p>
            <a:pPr indent="0" marL="0">
              <a:buNone/>
            </a:pPr>
            <a:r>
              <a:rPr lang="en-US" sz="1100" dirty="0">
                <a:solidFill>
                  <a:srgbClr val="1B2B4B"/>
                </a:solidFill>
                <a:latin typeface="Consolas" pitchFamily="34" charset="0"/>
                <a:ea typeface="Consolas" pitchFamily="34" charset="-122"/>
                <a:cs typeface="Consolas" pitchFamily="34" charset="-120"/>
              </a:rPr>
              <a:t>/api/v1/mensajeria/topologia</a:t>
            </a:r>
            <a:endParaRPr lang="en-US" sz="1100" dirty="0"/>
          </a:p>
        </p:txBody>
      </p:sp>
      <p:sp>
        <p:nvSpPr>
          <p:cNvPr id="26" name="Text 23"/>
          <p:cNvSpPr txBox="1"/>
          <p:nvPr/>
        </p:nvSpPr>
        <p:spPr>
          <a:xfrm>
            <a:off x="5212080" y="4846320"/>
            <a:ext cx="3108960" cy="365760"/>
          </a:xfrm>
          <a:prstGeom prst="rect">
            <a:avLst/>
          </a:prstGeom>
          <a:noFill/>
          <a:ln/>
        </p:spPr>
        <p:txBody>
          <a:bodyPr wrap="square" lIns="0" tIns="0" rIns="0" bIns="0" rtlCol="0" anchor="ctr"/>
          <a:lstStyle/>
          <a:p>
            <a:pPr indent="0" marL="0">
              <a:buNone/>
            </a:pPr>
            <a:r>
              <a:rPr lang="en-US" sz="1100" dirty="0">
                <a:solidFill>
                  <a:srgbClr val="5B6578"/>
                </a:solidFill>
                <a:latin typeface="Segoe UI" pitchFamily="34" charset="0"/>
                <a:ea typeface="Segoe UI" pitchFamily="34" charset="-122"/>
                <a:cs typeface="Segoe UI" pitchFamily="34" charset="-120"/>
              </a:rPr>
              <a:t>lo que declara la aplicacion</a:t>
            </a:r>
            <a:endParaRPr lang="en-US" sz="1100" dirty="0"/>
          </a:p>
        </p:txBody>
      </p:sp>
      <p:sp>
        <p:nvSpPr>
          <p:cNvPr id="27" name="Shape 24"/>
          <p:cNvSpPr/>
          <p:nvPr/>
        </p:nvSpPr>
        <p:spPr>
          <a:xfrm>
            <a:off x="731520" y="5486400"/>
            <a:ext cx="7589520" cy="822960"/>
          </a:xfrm>
          <a:prstGeom prst="roundRect">
            <a:avLst>
              <a:gd name="adj" fmla="val 8889"/>
            </a:avLst>
          </a:prstGeom>
          <a:solidFill>
            <a:srgbClr val="10182B"/>
          </a:solidFill>
          <a:ln w="12700">
            <a:solidFill>
              <a:srgbClr val="2A3A5C"/>
            </a:solidFill>
            <a:prstDash val="solid"/>
          </a:ln>
        </p:spPr>
      </p:sp>
      <p:sp>
        <p:nvSpPr>
          <p:cNvPr id="28" name="Text 25"/>
          <p:cNvSpPr txBox="1"/>
          <p:nvPr/>
        </p:nvSpPr>
        <p:spPr>
          <a:xfrm>
            <a:off x="914400" y="5614416"/>
            <a:ext cx="7223760" cy="566928"/>
          </a:xfrm>
          <a:prstGeom prst="rect">
            <a:avLst/>
          </a:prstGeom>
          <a:noFill/>
          <a:ln/>
        </p:spPr>
        <p:txBody>
          <a:bodyPr wrap="square" lIns="0" tIns="0" rIns="0" bIns="0" rtlCol="0" anchor="t"/>
          <a:lstStyle/>
          <a:p>
            <a:pPr indent="0" marL="0">
              <a:buNone/>
            </a:pPr>
            <a:r>
              <a:rPr lang="en-US" sz="1150" dirty="0">
                <a:solidFill>
                  <a:srgbClr val="FFB38A"/>
                </a:solidFill>
                <a:latin typeface="Consolas" pitchFamily="34" charset="0"/>
                <a:ea typeface="Consolas" pitchFamily="34" charset="-122"/>
                <a:cs typeface="Consolas" pitchFamily="34" charset="-120"/>
              </a:rPr>
              <a:t>$ curl -X POST …/colas -d '{"nombre":"   "}'   →  400 El nombre de la cola es obligatorio</a:t>
            </a:r>
            <a:endParaRPr lang="en-US" sz="1150" dirty="0"/>
          </a:p>
          <a:p>
            <a:pPr indent="0" marL="0">
              <a:buNone/>
            </a:pPr>
            <a:r>
              <a:rPr lang="en-US" sz="1150" dirty="0">
                <a:solidFill>
                  <a:srgbClr val="FFB38A"/>
                </a:solidFill>
                <a:latin typeface="Consolas" pitchFamily="34" charset="0"/>
                <a:ea typeface="Consolas" pitchFamily="34" charset="-122"/>
                <a:cs typeface="Consolas" pitchFamily="34" charset="-120"/>
              </a:rPr>
              <a:t>$ curl -X DELETE …/colas/pedidos360.auditoria   →  409 es parte de la topologia del sistema</a:t>
            </a:r>
            <a:endParaRPr lang="en-US" sz="1150" dirty="0"/>
          </a:p>
        </p:txBody>
      </p:sp>
      <p:sp>
        <p:nvSpPr>
          <p:cNvPr id="29" name="Shape 26"/>
          <p:cNvSpPr/>
          <p:nvPr/>
        </p:nvSpPr>
        <p:spPr>
          <a:xfrm>
            <a:off x="8595360" y="2057400"/>
            <a:ext cx="2926080" cy="1638605"/>
          </a:xfrm>
          <a:prstGeom prst="roundRect">
            <a:avLst>
              <a:gd name="adj" fmla="val 5580"/>
            </a:avLst>
          </a:prstGeom>
          <a:solidFill>
            <a:srgbClr val="FFF6E0"/>
          </a:solidFill>
          <a:ln w="25400">
            <a:solidFill>
              <a:srgbClr val="D9A441"/>
            </a:solidFill>
            <a:prstDash val="dash"/>
          </a:ln>
        </p:spPr>
      </p:sp>
      <p:sp>
        <p:nvSpPr>
          <p:cNvPr id="30" name="Text 27"/>
          <p:cNvSpPr txBox="1"/>
          <p:nvPr/>
        </p:nvSpPr>
        <p:spPr>
          <a:xfrm>
            <a:off x="8823960" y="2240280"/>
            <a:ext cx="2468880" cy="1272845"/>
          </a:xfrm>
          <a:prstGeom prst="rect">
            <a:avLst/>
          </a:prstGeom>
          <a:noFill/>
          <a:ln/>
        </p:spPr>
        <p:txBody>
          <a:bodyPr wrap="square" lIns="0" tIns="0" rIns="0" bIns="0" rtlCol="0" anchor="ctr"/>
          <a:lstStyle/>
          <a:p>
            <a:pPr algn="ctr" indent="0" marL="0">
              <a:buNone/>
            </a:pPr>
            <a:r>
              <a:rPr lang="en-US" sz="1500" b="1" dirty="0">
                <a:solidFill>
                  <a:srgbClr val="8A6100"/>
                </a:solidFill>
                <a:latin typeface="Ink Free" pitchFamily="34" charset="0"/>
                <a:ea typeface="Ink Free" pitchFamily="34" charset="-122"/>
                <a:cs typeface="Ink Free" pitchFamily="34" charset="-120"/>
              </a:rPr>
              <a:t>CAPTURA PENDIENTE
</a:t>
            </a:r>
            <a:pPr algn="ctr" indent="0" marL="0">
              <a:buNone/>
            </a:pPr>
            <a:r>
              <a:rPr lang="en-US" sz="1200" dirty="0">
                <a:solidFill>
                  <a:srgbClr val="8A6100"/>
                </a:solidFill>
                <a:latin typeface="Consolas" pitchFamily="34" charset="0"/>
                <a:ea typeface="Consolas" pitchFamily="34" charset="-122"/>
                <a:cs typeface="Consolas" pitchFamily="34" charset="-120"/>
              </a:rPr>
              <a:t>app-09-mensajeria.png
</a:t>
            </a:r>
            <a:pPr algn="ctr" indent="0" marL="0">
              <a:buNone/>
            </a:pPr>
            <a:r>
              <a:rPr lang="en-US" sz="1200" dirty="0">
                <a:solidFill>
                  <a:srgbClr val="6B5200"/>
                </a:solidFill>
                <a:latin typeface="Segoe UI" pitchFamily="34" charset="0"/>
                <a:ea typeface="Segoe UI" pitchFamily="34" charset="-122"/>
                <a:cs typeface="Segoe UI" pitchFamily="34" charset="-120"/>
              </a:rPr>
              <a:t>Vista Mensajeria del SPA con la topologia y las colas</a:t>
            </a:r>
            <a:endParaRPr lang="en-US" sz="1500" dirty="0"/>
          </a:p>
        </p:txBody>
      </p:sp>
      <p:sp>
        <p:nvSpPr>
          <p:cNvPr id="31" name="Shape 28"/>
          <p:cNvSpPr/>
          <p:nvPr/>
        </p:nvSpPr>
        <p:spPr>
          <a:xfrm rot="90000">
            <a:off x="8595360" y="4480560"/>
            <a:ext cx="2926080" cy="1828800"/>
          </a:xfrm>
          <a:prstGeom prst="rect">
            <a:avLst/>
          </a:prstGeom>
          <a:solidFill>
            <a:srgbClr val="CDEFD9"/>
          </a:solidFill>
          <a:ln w="12700">
            <a:solidFill>
              <a:srgbClr val="CDEFD9"/>
            </a:solidFill>
            <a:prstDash val="solid"/>
          </a:ln>
          <a:effectLst>
            <a:outerShdw sx="100000" sy="100000" kx="0" ky="0" algn="bl" rotWithShape="0" blurRad="101600" dist="50800" dir="3000000">
              <a:srgbClr val="000000">
                <a:alpha val="30000"/>
              </a:srgbClr>
            </a:outerShdw>
          </a:effectLst>
        </p:spPr>
      </p:sp>
      <p:sp>
        <p:nvSpPr>
          <p:cNvPr id="32" name="Text 29"/>
          <p:cNvSpPr txBox="1"/>
          <p:nvPr/>
        </p:nvSpPr>
        <p:spPr>
          <a:xfrm rot="90000">
            <a:off x="8759952" y="4590288"/>
            <a:ext cx="2596896" cy="1609344"/>
          </a:xfrm>
          <a:prstGeom prst="rect">
            <a:avLst/>
          </a:prstGeom>
          <a:noFill/>
          <a:ln/>
        </p:spPr>
        <p:txBody>
          <a:bodyPr wrap="square" lIns="0" tIns="0" rIns="0" bIns="0" rtlCol="0" anchor="t"/>
          <a:lstStyle/>
          <a:p>
            <a:pPr indent="0" marL="0">
              <a:buNone/>
            </a:pPr>
            <a:r>
              <a:rPr lang="en-US" sz="1600" b="1" dirty="0">
                <a:solidFill>
                  <a:srgbClr val="3B2F12"/>
                </a:solidFill>
                <a:latin typeface="Ink Free" pitchFamily="34" charset="0"/>
                <a:ea typeface="Ink Free" pitchFamily="34" charset="-122"/>
                <a:cs typeface="Ink Free" pitchFamily="34" charset="-120"/>
              </a:rPr>
              <a:t>Validacion</a:t>
            </a:r>
            <a:endParaRPr lang="en-US" sz="1600" dirty="0"/>
          </a:p>
          <a:p>
            <a:pPr indent="0" marL="0">
              <a:spcAft>
                <a:spcPts val="200"/>
              </a:spcAft>
              <a:buNone/>
            </a:pPr>
            <a:r>
              <a:rPr lang="en-US" sz="1400" dirty="0">
                <a:solidFill>
                  <a:srgbClr val="2E2A1E"/>
                </a:solidFill>
                <a:latin typeface="Ink Free" pitchFamily="34" charset="0"/>
                <a:ea typeface="Ink Free" pitchFamily="34" charset="-122"/>
                <a:cs typeface="Ink Free" pitchFamily="34" charset="-120"/>
              </a:rPr>
              <a:t>DTO con anotaciones:</a:t>
            </a:r>
            <a:endParaRPr lang="en-US" sz="1600" dirty="0"/>
          </a:p>
          <a:p>
            <a:pPr indent="0" marL="0">
              <a:spcAft>
                <a:spcPts val="200"/>
              </a:spcAft>
              <a:buNone/>
            </a:pPr>
            <a:r>
              <a:rPr lang="en-US" sz="1400" dirty="0">
                <a:solidFill>
                  <a:srgbClr val="2E2A1E"/>
                </a:solidFill>
                <a:latin typeface="Ink Free" pitchFamily="34" charset="0"/>
                <a:ea typeface="Ink Free" pitchFamily="34" charset="-122"/>
                <a:cs typeface="Ink Free" pitchFamily="34" charset="-120"/>
              </a:rPr>
              <a:t>nombre obligatorio, 3 a 120</a:t>
            </a:r>
            <a:endParaRPr lang="en-US" sz="1600" dirty="0"/>
          </a:p>
          <a:p>
            <a:pPr indent="0" marL="0">
              <a:spcAft>
                <a:spcPts val="200"/>
              </a:spcAft>
              <a:buNone/>
            </a:pPr>
            <a:r>
              <a:rPr lang="en-US" sz="1400" dirty="0">
                <a:solidFill>
                  <a:srgbClr val="2E2A1E"/>
                </a:solidFill>
                <a:latin typeface="Ink Free" pitchFamily="34" charset="0"/>
                <a:ea typeface="Ink Free" pitchFamily="34" charset="-122"/>
                <a:cs typeface="Ink Free" pitchFamily="34" charset="-120"/>
              </a:rPr>
              <a:t>caracteres y patron acotado;</a:t>
            </a:r>
            <a:endParaRPr lang="en-US" sz="1600" dirty="0"/>
          </a:p>
          <a:p>
            <a:pPr indent="0" marL="0">
              <a:spcAft>
                <a:spcPts val="200"/>
              </a:spcAft>
              <a:buNone/>
            </a:pPr>
            <a:r>
              <a:rPr lang="en-US" sz="1400" dirty="0">
                <a:solidFill>
                  <a:srgbClr val="2E2A1E"/>
                </a:solidFill>
                <a:latin typeface="Ink Free" pitchFamily="34" charset="0"/>
                <a:ea typeface="Ink Free" pitchFamily="34" charset="-122"/>
                <a:cs typeface="Ink Free" pitchFamily="34" charset="-120"/>
              </a:rPr>
              <a:t>tipo de exchange de una lista</a:t>
            </a:r>
            <a:endParaRPr lang="en-US" sz="1600" dirty="0"/>
          </a:p>
          <a:p>
            <a:pPr indent="0" marL="0">
              <a:spcAft>
                <a:spcPts val="200"/>
              </a:spcAft>
              <a:buNone/>
            </a:pPr>
            <a:r>
              <a:rPr lang="en-US" sz="1400" dirty="0">
                <a:solidFill>
                  <a:srgbClr val="2E2A1E"/>
                </a:solidFill>
                <a:latin typeface="Ink Free" pitchFamily="34" charset="0"/>
                <a:ea typeface="Ink Free" pitchFamily="34" charset="-122"/>
                <a:cs typeface="Ink Free" pitchFamily="34" charset="-120"/>
              </a:rPr>
              <a:t>cerrada; TTL no negativo.</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0607040" y="6419088"/>
            <a:ext cx="1005840" cy="292608"/>
          </a:xfrm>
          <a:prstGeom prst="rect">
            <a:avLst/>
          </a:prstGeom>
          <a:noFill/>
          <a:ln/>
        </p:spPr>
        <p:txBody>
          <a:bodyPr wrap="square" lIns="0" tIns="0" rIns="0" bIns="0" rtlCol="0" anchor="ctr"/>
          <a:lstStyle/>
          <a:p>
            <a:pPr algn="r" indent="0" marL="0">
              <a:buNone/>
            </a:pPr>
            <a:r>
              <a:rPr lang="en-US" sz="1100" dirty="0">
                <a:solidFill>
                  <a:srgbClr val="5B6578"/>
                </a:solidFill>
                <a:latin typeface="Ink Free" pitchFamily="34" charset="0"/>
                <a:ea typeface="Ink Free" pitchFamily="34" charset="-122"/>
                <a:cs typeface="Ink Free" pitchFamily="34" charset="-120"/>
              </a:rPr>
              <a:t>11 / 13</a:t>
            </a:r>
            <a:endParaRPr lang="en-US" sz="1100" dirty="0"/>
          </a:p>
        </p:txBody>
      </p:sp>
      <p:sp>
        <p:nvSpPr>
          <p:cNvPr id="3" name="Text 1"/>
          <p:cNvSpPr txBox="1"/>
          <p:nvPr/>
        </p:nvSpPr>
        <p:spPr>
          <a:xfrm>
            <a:off x="640080" y="256032"/>
            <a:ext cx="6400800" cy="320040"/>
          </a:xfrm>
          <a:prstGeom prst="rect">
            <a:avLst/>
          </a:prstGeom>
          <a:noFill/>
          <a:ln/>
        </p:spPr>
        <p:txBody>
          <a:bodyPr wrap="square" lIns="0" tIns="0" rIns="0" bIns="0" rtlCol="0" anchor="t"/>
          <a:lstStyle/>
          <a:p>
            <a:pPr indent="0" marL="0">
              <a:buNone/>
            </a:pPr>
            <a:r>
              <a:rPr lang="en-US" sz="1500" dirty="0">
                <a:solidFill>
                  <a:srgbClr val="C24E00"/>
                </a:solidFill>
                <a:latin typeface="Ink Free" pitchFamily="34" charset="0"/>
                <a:ea typeface="Ink Free" pitchFamily="34" charset="-122"/>
                <a:cs typeface="Ink Free" pitchFamily="34" charset="-120"/>
              </a:rPr>
              <a:t>Despliegue</a:t>
            </a:r>
            <a:endParaRPr lang="en-US" sz="1500" dirty="0"/>
          </a:p>
        </p:txBody>
      </p:sp>
      <p:sp>
        <p:nvSpPr>
          <p:cNvPr id="4" name="Text 2"/>
          <p:cNvSpPr txBox="1"/>
          <p:nvPr/>
        </p:nvSpPr>
        <p:spPr>
          <a:xfrm>
            <a:off x="640080" y="530352"/>
            <a:ext cx="8778240" cy="685800"/>
          </a:xfrm>
          <a:prstGeom prst="rect">
            <a:avLst/>
          </a:prstGeom>
          <a:noFill/>
          <a:ln/>
        </p:spPr>
        <p:txBody>
          <a:bodyPr wrap="square" lIns="0" tIns="0" rIns="0" bIns="0" rtlCol="0" anchor="t"/>
          <a:lstStyle/>
          <a:p>
            <a:pPr indent="0" marL="0">
              <a:buNone/>
            </a:pPr>
            <a:r>
              <a:rPr lang="en-US" sz="3400" dirty="0">
                <a:solidFill>
                  <a:srgbClr val="1B2B4B"/>
                </a:solidFill>
                <a:latin typeface="Ink Free" pitchFamily="34" charset="0"/>
                <a:ea typeface="Ink Free" pitchFamily="34" charset="-122"/>
                <a:cs typeface="Ink Free" pitchFamily="34" charset="-120"/>
              </a:rPr>
              <a:t>Todo corriendo en la nube</a:t>
            </a:r>
            <a:endParaRPr lang="en-US" sz="3400" dirty="0"/>
          </a:p>
        </p:txBody>
      </p:sp>
      <p:sp>
        <p:nvSpPr>
          <p:cNvPr id="5" name="Text 3"/>
          <p:cNvSpPr txBox="1"/>
          <p:nvPr/>
        </p:nvSpPr>
        <p:spPr>
          <a:xfrm>
            <a:off x="640080" y="1207008"/>
            <a:ext cx="8778240" cy="365760"/>
          </a:xfrm>
          <a:prstGeom prst="rect">
            <a:avLst/>
          </a:prstGeom>
          <a:noFill/>
          <a:ln/>
        </p:spPr>
        <p:txBody>
          <a:bodyPr wrap="square" lIns="0" tIns="0" rIns="0" bIns="0" rtlCol="0" anchor="t"/>
          <a:lstStyle/>
          <a:p>
            <a:pPr indent="0" marL="0">
              <a:buNone/>
            </a:pPr>
            <a:r>
              <a:rPr lang="en-US" sz="1300" dirty="0">
                <a:solidFill>
                  <a:srgbClr val="5B6578"/>
                </a:solidFill>
                <a:latin typeface="Segoe UI" pitchFamily="34" charset="0"/>
                <a:ea typeface="Segoe UI" pitchFamily="34" charset="-122"/>
                <a:cs typeface="Segoe UI" pitchFamily="34" charset="-120"/>
              </a:rPr>
              <a:t>docker compose levanta el cluster dentro del EC2; el frontend sigue en Amplify y el gateway valida el JWT</a:t>
            </a:r>
            <a:endParaRPr lang="en-US" sz="1300" dirty="0"/>
          </a:p>
        </p:txBody>
      </p:sp>
      <p:sp>
        <p:nvSpPr>
          <p:cNvPr id="6" name="Text 4"/>
          <p:cNvSpPr txBox="1"/>
          <p:nvPr/>
        </p:nvSpPr>
        <p:spPr>
          <a:xfrm>
            <a:off x="10323576" y="402336"/>
            <a:ext cx="1207008" cy="603504"/>
          </a:xfrm>
          <a:prstGeom prst="rect">
            <a:avLst/>
          </a:prstGeom>
          <a:noFill/>
          <a:ln/>
        </p:spPr>
        <p:txBody>
          <a:bodyPr wrap="square" lIns="0" tIns="0" rIns="0" bIns="0" rtlCol="0" anchor="ctr"/>
          <a:lstStyle/>
          <a:p>
            <a:pPr algn="ctr" indent="0" marL="0">
              <a:buNone/>
            </a:pPr>
            <a:r>
              <a:rPr lang="en-US" sz="3000" dirty="0">
                <a:solidFill>
                  <a:srgbClr val="D6453D"/>
                </a:solidFill>
                <a:latin typeface="Ink Free" pitchFamily="34" charset="0"/>
                <a:ea typeface="Ink Free" pitchFamily="34" charset="-122"/>
                <a:cs typeface="Ink Free" pitchFamily="34" charset="-120"/>
              </a:rPr>
              <a:t>✓</a:t>
            </a:r>
            <a:endParaRPr lang="en-US" sz="3000" dirty="0"/>
          </a:p>
        </p:txBody>
      </p:sp>
      <p:sp>
        <p:nvSpPr>
          <p:cNvPr id="7" name="Text 5"/>
          <p:cNvSpPr txBox="1"/>
          <p:nvPr/>
        </p:nvSpPr>
        <p:spPr>
          <a:xfrm>
            <a:off x="9418320" y="1188720"/>
            <a:ext cx="2926080" cy="310896"/>
          </a:xfrm>
          <a:prstGeom prst="rect">
            <a:avLst/>
          </a:prstGeom>
          <a:noFill/>
          <a:ln/>
        </p:spPr>
        <p:txBody>
          <a:bodyPr wrap="square" lIns="0" tIns="0" rIns="0" bIns="0" rtlCol="0" anchor="t"/>
          <a:lstStyle/>
          <a:p>
            <a:pPr algn="ctr" indent="0" marL="0">
              <a:buNone/>
            </a:pPr>
            <a:r>
              <a:rPr lang="en-US" sz="1250" dirty="0">
                <a:solidFill>
                  <a:srgbClr val="D6453D"/>
                </a:solidFill>
                <a:latin typeface="Ink Free" pitchFamily="34" charset="0"/>
                <a:ea typeface="Ink Free" pitchFamily="34" charset="-122"/>
                <a:cs typeface="Ink Free" pitchFamily="34" charset="-120"/>
              </a:rPr>
              <a:t>pauta: compose en la nube</a:t>
            </a:r>
            <a:endParaRPr lang="en-US" sz="1250" dirty="0"/>
          </a:p>
        </p:txBody>
      </p:sp>
      <p:pic>
        <p:nvPicPr>
          <p:cNvPr id="8" name="Image 0" descr="C:\Users\joshu\AppData\Local\Temp\claude\C--Users-joshu-Desktop-CloudDevRamo\d162bf51-ad36-4a2b-981d-7f5a95d9a76d\scratchpad\ppt4\capas\s11.png">    </p:cNvPr>
          <p:cNvPicPr>
            <a:picLocks noChangeAspect="1"/>
          </p:cNvPicPr>
          <p:nvPr/>
        </p:nvPicPr>
        <p:blipFill>
          <a:blip r:embed="rId2"/>
          <a:stretch>
            <a:fillRect/>
          </a:stretch>
        </p:blipFill>
        <p:spPr>
          <a:xfrm>
            <a:off x="0" y="0"/>
            <a:ext cx="12191695" cy="6858000"/>
          </a:xfrm>
          <a:prstGeom prst="rect">
            <a:avLst/>
          </a:prstGeom>
        </p:spPr>
      </p:pic>
      <p:sp>
        <p:nvSpPr>
          <p:cNvPr id="9" name="Shape 6"/>
          <p:cNvSpPr/>
          <p:nvPr/>
        </p:nvSpPr>
        <p:spPr>
          <a:xfrm rot="-60000">
            <a:off x="658368" y="1984248"/>
            <a:ext cx="5266944" cy="2497728"/>
          </a:xfrm>
          <a:prstGeom prst="rect">
            <a:avLst/>
          </a:prstGeom>
          <a:solidFill>
            <a:srgbClr val="FFFFFF"/>
          </a:solidFill>
          <a:ln w="6350">
            <a:solidFill>
              <a:srgbClr val="D9D9D9"/>
            </a:solidFill>
            <a:prstDash val="solid"/>
          </a:ln>
          <a:effectLst>
            <a:outerShdw sx="100000" sy="100000" kx="0" ky="0" algn="bl" rotWithShape="0" blurRad="88900" dist="38100" dir="3600000">
              <a:srgbClr val="000000">
                <a:alpha val="28000"/>
              </a:srgbClr>
            </a:outerShdw>
          </a:effectLst>
        </p:spPr>
      </p:sp>
      <p:pic>
        <p:nvPicPr>
          <p:cNvPr id="10" name="Image 1" descr="C:\Users\joshu\Desktop\CloudDevRamo\docs\evidencia\aws-02-ec2-instancia.png">    </p:cNvPr>
          <p:cNvPicPr>
            <a:picLocks noChangeAspect="1"/>
          </p:cNvPicPr>
          <p:nvPr/>
        </p:nvPicPr>
        <p:blipFill>
          <a:blip r:embed="rId3"/>
          <a:stretch>
            <a:fillRect/>
          </a:stretch>
        </p:blipFill>
        <p:spPr>
          <a:xfrm rot="-60000">
            <a:off x="731520" y="2057400"/>
            <a:ext cx="5120640" cy="2351424"/>
          </a:xfrm>
          <a:prstGeom prst="rect">
            <a:avLst/>
          </a:prstGeom>
        </p:spPr>
      </p:pic>
      <p:sp>
        <p:nvSpPr>
          <p:cNvPr id="11" name="Shape 7"/>
          <p:cNvSpPr/>
          <p:nvPr/>
        </p:nvSpPr>
        <p:spPr>
          <a:xfrm rot="-240000">
            <a:off x="2880360" y="1874520"/>
            <a:ext cx="822960" cy="246888"/>
          </a:xfrm>
          <a:prstGeom prst="rect">
            <a:avLst/>
          </a:prstGeom>
          <a:solidFill>
            <a:srgbClr val="FFC46B">
              <a:alpha val="75000"/>
            </a:srgbClr>
          </a:solidFill>
          <a:ln w="12700">
            <a:solidFill>
              <a:srgbClr val="FFC46B">
                <a:alpha val="0"/>
              </a:srgbClr>
            </a:solidFill>
            <a:prstDash val="solid"/>
          </a:ln>
        </p:spPr>
      </p:sp>
      <p:sp>
        <p:nvSpPr>
          <p:cNvPr id="12" name="Shape 8"/>
          <p:cNvSpPr/>
          <p:nvPr/>
        </p:nvSpPr>
        <p:spPr>
          <a:xfrm>
            <a:off x="6217920" y="2057400"/>
            <a:ext cx="5303520" cy="2969971"/>
          </a:xfrm>
          <a:prstGeom prst="roundRect">
            <a:avLst>
              <a:gd name="adj" fmla="val 3079"/>
            </a:avLst>
          </a:prstGeom>
          <a:solidFill>
            <a:srgbClr val="FFF6E0"/>
          </a:solidFill>
          <a:ln w="25400">
            <a:solidFill>
              <a:srgbClr val="D9A441"/>
            </a:solidFill>
            <a:prstDash val="dash"/>
          </a:ln>
        </p:spPr>
      </p:sp>
      <p:sp>
        <p:nvSpPr>
          <p:cNvPr id="13" name="Text 9"/>
          <p:cNvSpPr txBox="1"/>
          <p:nvPr/>
        </p:nvSpPr>
        <p:spPr>
          <a:xfrm>
            <a:off x="6446520" y="2240280"/>
            <a:ext cx="4846320" cy="2604211"/>
          </a:xfrm>
          <a:prstGeom prst="rect">
            <a:avLst/>
          </a:prstGeom>
          <a:noFill/>
          <a:ln/>
        </p:spPr>
        <p:txBody>
          <a:bodyPr wrap="square" lIns="0" tIns="0" rIns="0" bIns="0" rtlCol="0" anchor="ctr"/>
          <a:lstStyle/>
          <a:p>
            <a:pPr algn="ctr" indent="0" marL="0">
              <a:buNone/>
            </a:pPr>
            <a:r>
              <a:rPr lang="en-US" sz="1500" b="1" dirty="0">
                <a:solidFill>
                  <a:srgbClr val="8A6100"/>
                </a:solidFill>
                <a:latin typeface="Ink Free" pitchFamily="34" charset="0"/>
                <a:ea typeface="Ink Free" pitchFamily="34" charset="-122"/>
                <a:cs typeface="Ink Free" pitchFamily="34" charset="-120"/>
              </a:rPr>
              <a:t>CAPTURA PENDIENTE
</a:t>
            </a:r>
            <a:pPr algn="ctr" indent="0" marL="0">
              <a:buNone/>
            </a:pPr>
            <a:r>
              <a:rPr lang="en-US" sz="1200" dirty="0">
                <a:solidFill>
                  <a:srgbClr val="8A6100"/>
                </a:solidFill>
                <a:latin typeface="Consolas" pitchFamily="34" charset="0"/>
                <a:ea typeface="Consolas" pitchFamily="34" charset="-122"/>
                <a:cs typeface="Consolas" pitchFamily="34" charset="-120"/>
              </a:rPr>
              <a:t>aws-13-compose-en-ec2.png
</a:t>
            </a:r>
            <a:pPr algn="ctr" indent="0" marL="0">
              <a:buNone/>
            </a:pPr>
            <a:r>
              <a:rPr lang="en-US" sz="1200" dirty="0">
                <a:solidFill>
                  <a:srgbClr val="6B5200"/>
                </a:solidFill>
                <a:latin typeface="Segoe UI" pitchFamily="34" charset="0"/>
                <a:ea typeface="Segoe UI" pitchFamily="34" charset="-122"/>
                <a:cs typeface="Segoe UI" pitchFamily="34" charset="-120"/>
              </a:rPr>
              <a:t>Terminal SSH en el EC2: docker compose up -d y cluster_status con los dos nodos</a:t>
            </a:r>
            <a:endParaRPr lang="en-US" sz="1500" dirty="0"/>
          </a:p>
        </p:txBody>
      </p:sp>
      <p:sp>
        <p:nvSpPr>
          <p:cNvPr id="14" name="Shape 10"/>
          <p:cNvSpPr/>
          <p:nvPr/>
        </p:nvSpPr>
        <p:spPr>
          <a:xfrm>
            <a:off x="731520" y="4846320"/>
            <a:ext cx="10789920" cy="1417320"/>
          </a:xfrm>
          <a:prstGeom prst="roundRect">
            <a:avLst>
              <a:gd name="adj" fmla="val 5161"/>
            </a:avLst>
          </a:prstGeom>
          <a:solidFill>
            <a:srgbClr val="10182B"/>
          </a:solidFill>
          <a:ln w="12700">
            <a:solidFill>
              <a:srgbClr val="2A3A5C"/>
            </a:solidFill>
            <a:prstDash val="solid"/>
          </a:ln>
        </p:spPr>
      </p:sp>
      <p:sp>
        <p:nvSpPr>
          <p:cNvPr id="15" name="Text 11"/>
          <p:cNvSpPr txBox="1"/>
          <p:nvPr/>
        </p:nvSpPr>
        <p:spPr>
          <a:xfrm>
            <a:off x="914400" y="4974336"/>
            <a:ext cx="10424160" cy="1161288"/>
          </a:xfrm>
          <a:prstGeom prst="rect">
            <a:avLst/>
          </a:prstGeom>
          <a:noFill/>
          <a:ln/>
        </p:spPr>
        <p:txBody>
          <a:bodyPr wrap="square" lIns="0" tIns="0" rIns="0" bIns="0" rtlCol="0" anchor="t"/>
          <a:lstStyle/>
          <a:p>
            <a:pPr indent="0" marL="0">
              <a:buNone/>
            </a:pPr>
            <a:r>
              <a:rPr lang="en-US" sz="1150" dirty="0">
                <a:solidFill>
                  <a:srgbClr val="D8E2F2"/>
                </a:solidFill>
                <a:latin typeface="Consolas" pitchFamily="34" charset="0"/>
                <a:ea typeface="Consolas" pitchFamily="34" charset="-122"/>
                <a:cs typeface="Consolas" pitchFamily="34" charset="-120"/>
              </a:rPr>
              <a:t>$ ssh -i pedidos360-lab.pem ec2-user@&lt;ip&gt;  "cd /opt/pedidos360/infra/rabbitmq &amp;&amp; docker compose up -d"</a:t>
            </a:r>
            <a:endParaRPr lang="en-US" sz="1150" dirty="0"/>
          </a:p>
          <a:p>
            <a:pPr indent="0" marL="0">
              <a:buNone/>
            </a:pPr>
            <a:r>
              <a:rPr lang="en-US" sz="1150" dirty="0">
                <a:solidFill>
                  <a:srgbClr val="7EE2B0"/>
                </a:solidFill>
                <a:latin typeface="Consolas" pitchFamily="34" charset="0"/>
                <a:ea typeface="Consolas" pitchFamily="34" charset="-122"/>
                <a:cs typeface="Consolas" pitchFamily="34" charset="-120"/>
              </a:rPr>
              <a:t>$ docker exec pedidos360-rabbit1 rabbitmqctl cluster_status     →  rabbit@rabbit1, rabbit@rabbit2</a:t>
            </a:r>
            <a:endParaRPr lang="en-US" sz="1150" dirty="0"/>
          </a:p>
          <a:p>
            <a:pPr indent="0" marL="0">
              <a:buNone/>
            </a:pPr>
            <a:r>
              <a:rPr lang="en-US" sz="1150" dirty="0">
                <a:solidFill>
                  <a:srgbClr val="7EE2B0"/>
                </a:solidFill>
                <a:latin typeface="Consolas" pitchFamily="34" charset="0"/>
                <a:ea typeface="Consolas" pitchFamily="34" charset="-122"/>
                <a:cs typeface="Consolas" pitchFamily="34" charset="-120"/>
              </a:rPr>
              <a:t>$ curl https://j9w6eomnw5.execute-api.us-east-1.amazonaws.com/health   →  {"status":"UP"}</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0607040" y="6419088"/>
            <a:ext cx="1005840" cy="292608"/>
          </a:xfrm>
          <a:prstGeom prst="rect">
            <a:avLst/>
          </a:prstGeom>
          <a:noFill/>
          <a:ln/>
        </p:spPr>
        <p:txBody>
          <a:bodyPr wrap="square" lIns="0" tIns="0" rIns="0" bIns="0" rtlCol="0" anchor="ctr"/>
          <a:lstStyle/>
          <a:p>
            <a:pPr algn="r" indent="0" marL="0">
              <a:buNone/>
            </a:pPr>
            <a:r>
              <a:rPr lang="en-US" sz="1100" dirty="0">
                <a:solidFill>
                  <a:srgbClr val="5B6578"/>
                </a:solidFill>
                <a:latin typeface="Ink Free" pitchFamily="34" charset="0"/>
                <a:ea typeface="Ink Free" pitchFamily="34" charset="-122"/>
                <a:cs typeface="Ink Free" pitchFamily="34" charset="-120"/>
              </a:rPr>
              <a:t>12 / 13</a:t>
            </a:r>
            <a:endParaRPr lang="en-US" sz="1100" dirty="0"/>
          </a:p>
        </p:txBody>
      </p:sp>
      <p:sp>
        <p:nvSpPr>
          <p:cNvPr id="3" name="Text 1"/>
          <p:cNvSpPr txBox="1"/>
          <p:nvPr/>
        </p:nvSpPr>
        <p:spPr>
          <a:xfrm>
            <a:off x="640080" y="256032"/>
            <a:ext cx="6400800" cy="320040"/>
          </a:xfrm>
          <a:prstGeom prst="rect">
            <a:avLst/>
          </a:prstGeom>
          <a:noFill/>
          <a:ln/>
        </p:spPr>
        <p:txBody>
          <a:bodyPr wrap="square" lIns="0" tIns="0" rIns="0" bIns="0" rtlCol="0" anchor="t"/>
          <a:lstStyle/>
          <a:p>
            <a:pPr indent="0" marL="0">
              <a:buNone/>
            </a:pPr>
            <a:r>
              <a:rPr lang="en-US" sz="1500" dirty="0">
                <a:solidFill>
                  <a:srgbClr val="C24E00"/>
                </a:solidFill>
                <a:latin typeface="Ink Free" pitchFamily="34" charset="0"/>
                <a:ea typeface="Ink Free" pitchFamily="34" charset="-122"/>
                <a:cs typeface="Ink Free" pitchFamily="34" charset="-120"/>
              </a:rPr>
              <a:t>Repaso</a:t>
            </a:r>
            <a:endParaRPr lang="en-US" sz="1500" dirty="0"/>
          </a:p>
        </p:txBody>
      </p:sp>
      <p:sp>
        <p:nvSpPr>
          <p:cNvPr id="4" name="Text 2"/>
          <p:cNvSpPr txBox="1"/>
          <p:nvPr/>
        </p:nvSpPr>
        <p:spPr>
          <a:xfrm>
            <a:off x="640080" y="530352"/>
            <a:ext cx="8778240" cy="685800"/>
          </a:xfrm>
          <a:prstGeom prst="rect">
            <a:avLst/>
          </a:prstGeom>
          <a:noFill/>
          <a:ln/>
        </p:spPr>
        <p:txBody>
          <a:bodyPr wrap="square" lIns="0" tIns="0" rIns="0" bIns="0" rtlCol="0" anchor="t"/>
          <a:lstStyle/>
          <a:p>
            <a:pPr indent="0" marL="0">
              <a:buNone/>
            </a:pPr>
            <a:r>
              <a:rPr lang="en-US" sz="3400" dirty="0">
                <a:solidFill>
                  <a:srgbClr val="1B2B4B"/>
                </a:solidFill>
                <a:latin typeface="Ink Free" pitchFamily="34" charset="0"/>
                <a:ea typeface="Ink Free" pitchFamily="34" charset="-122"/>
                <a:cs typeface="Ink Free" pitchFamily="34" charset="-120"/>
              </a:rPr>
              <a:t>Lo que ya estaba y sigue funcionando</a:t>
            </a:r>
            <a:endParaRPr lang="en-US" sz="3400" dirty="0"/>
          </a:p>
        </p:txBody>
      </p:sp>
      <p:sp>
        <p:nvSpPr>
          <p:cNvPr id="5" name="Text 3"/>
          <p:cNvSpPr txBox="1"/>
          <p:nvPr/>
        </p:nvSpPr>
        <p:spPr>
          <a:xfrm>
            <a:off x="640080" y="1207008"/>
            <a:ext cx="8778240" cy="365760"/>
          </a:xfrm>
          <a:prstGeom prst="rect">
            <a:avLst/>
          </a:prstGeom>
          <a:noFill/>
          <a:ln/>
        </p:spPr>
        <p:txBody>
          <a:bodyPr wrap="square" lIns="0" tIns="0" rIns="0" bIns="0" rtlCol="0" anchor="t"/>
          <a:lstStyle/>
          <a:p>
            <a:pPr indent="0" marL="0">
              <a:buNone/>
            </a:pPr>
            <a:r>
              <a:rPr lang="en-US" sz="1300" dirty="0">
                <a:solidFill>
                  <a:srgbClr val="5B6578"/>
                </a:solidFill>
                <a:latin typeface="Segoe UI" pitchFamily="34" charset="0"/>
                <a:ea typeface="Segoe UI" pitchFamily="34" charset="-122"/>
                <a:cs typeface="Segoe UI" pitchFamily="34" charset="-120"/>
              </a:rPr>
              <a:t>Identidad, PKCE, validacion JWT en el gateway y despliegue: la mensajeria se monto encima</a:t>
            </a:r>
            <a:endParaRPr lang="en-US" sz="1300" dirty="0"/>
          </a:p>
        </p:txBody>
      </p:sp>
      <p:pic>
        <p:nvPicPr>
          <p:cNvPr id="6" name="Image 0" descr="C:\Users\joshu\AppData\Local\Temp\claude\C--Users-joshu-Desktop-CloudDevRamo\d162bf51-ad36-4a2b-981d-7f5a95d9a76d\scratchpad\ppt4\capas\s12.png">    </p:cNvPr>
          <p:cNvPicPr>
            <a:picLocks noChangeAspect="1"/>
          </p:cNvPicPr>
          <p:nvPr/>
        </p:nvPicPr>
        <p:blipFill>
          <a:blip r:embed="rId2"/>
          <a:stretch>
            <a:fillRect/>
          </a:stretch>
        </p:blipFill>
        <p:spPr>
          <a:xfrm>
            <a:off x="0" y="0"/>
            <a:ext cx="12191695" cy="6858000"/>
          </a:xfrm>
          <a:prstGeom prst="rect">
            <a:avLst/>
          </a:prstGeom>
        </p:spPr>
      </p:pic>
      <p:sp>
        <p:nvSpPr>
          <p:cNvPr id="7" name="Shape 4"/>
          <p:cNvSpPr/>
          <p:nvPr/>
        </p:nvSpPr>
        <p:spPr>
          <a:xfrm rot="-60000">
            <a:off x="658368" y="2029968"/>
            <a:ext cx="3712464" cy="1807640"/>
          </a:xfrm>
          <a:prstGeom prst="rect">
            <a:avLst/>
          </a:prstGeom>
          <a:solidFill>
            <a:srgbClr val="FFFFFF"/>
          </a:solidFill>
          <a:ln w="6350">
            <a:solidFill>
              <a:srgbClr val="D9D9D9"/>
            </a:solidFill>
            <a:prstDash val="solid"/>
          </a:ln>
          <a:effectLst>
            <a:outerShdw sx="100000" sy="100000" kx="0" ky="0" algn="bl" rotWithShape="0" blurRad="88900" dist="38100" dir="3600000">
              <a:srgbClr val="000000">
                <a:alpha val="28000"/>
              </a:srgbClr>
            </a:outerShdw>
          </a:effectLst>
        </p:spPr>
      </p:sp>
      <p:pic>
        <p:nvPicPr>
          <p:cNvPr id="8" name="Image 1" descr="C:\Users\joshu\Desktop\CloudDevRamo\docs\evidencia\az-12-usuarios.png">    </p:cNvPr>
          <p:cNvPicPr>
            <a:picLocks noChangeAspect="1"/>
          </p:cNvPicPr>
          <p:nvPr/>
        </p:nvPicPr>
        <p:blipFill>
          <a:blip r:embed="rId3"/>
          <a:stretch>
            <a:fillRect/>
          </a:stretch>
        </p:blipFill>
        <p:spPr>
          <a:xfrm rot="-60000">
            <a:off x="731520" y="2103120"/>
            <a:ext cx="3566160" cy="1661336"/>
          </a:xfrm>
          <a:prstGeom prst="rect">
            <a:avLst/>
          </a:prstGeom>
        </p:spPr>
      </p:pic>
      <p:sp>
        <p:nvSpPr>
          <p:cNvPr id="9" name="Shape 5"/>
          <p:cNvSpPr/>
          <p:nvPr/>
        </p:nvSpPr>
        <p:spPr>
          <a:xfrm rot="-240000">
            <a:off x="2103120" y="1920240"/>
            <a:ext cx="822960" cy="246888"/>
          </a:xfrm>
          <a:prstGeom prst="rect">
            <a:avLst/>
          </a:prstGeom>
          <a:solidFill>
            <a:srgbClr val="8EC3F0">
              <a:alpha val="75000"/>
            </a:srgbClr>
          </a:solidFill>
          <a:ln w="12700">
            <a:solidFill>
              <a:srgbClr val="8EC3F0">
                <a:alpha val="0"/>
              </a:srgbClr>
            </a:solidFill>
            <a:prstDash val="solid"/>
          </a:ln>
        </p:spPr>
      </p:sp>
      <p:sp>
        <p:nvSpPr>
          <p:cNvPr id="10" name="Shape 6"/>
          <p:cNvSpPr/>
          <p:nvPr/>
        </p:nvSpPr>
        <p:spPr>
          <a:xfrm rot="48000">
            <a:off x="4498848" y="2029968"/>
            <a:ext cx="3712464" cy="1978940"/>
          </a:xfrm>
          <a:prstGeom prst="rect">
            <a:avLst/>
          </a:prstGeom>
          <a:solidFill>
            <a:srgbClr val="FFFFFF"/>
          </a:solidFill>
          <a:ln w="6350">
            <a:solidFill>
              <a:srgbClr val="D9D9D9"/>
            </a:solidFill>
            <a:prstDash val="solid"/>
          </a:ln>
          <a:effectLst>
            <a:outerShdw sx="100000" sy="100000" kx="0" ky="0" algn="bl" rotWithShape="0" blurRad="88900" dist="38100" dir="3600000">
              <a:srgbClr val="000000">
                <a:alpha val="28000"/>
              </a:srgbClr>
            </a:outerShdw>
          </a:effectLst>
        </p:spPr>
      </p:sp>
      <p:pic>
        <p:nvPicPr>
          <p:cNvPr id="11" name="Image 2" descr="C:\Users\joshu\Desktop\CloudDevRamo\docs\evidencia\app-05-pkce.png">    </p:cNvPr>
          <p:cNvPicPr>
            <a:picLocks noChangeAspect="1"/>
          </p:cNvPicPr>
          <p:nvPr/>
        </p:nvPicPr>
        <p:blipFill>
          <a:blip r:embed="rId4"/>
          <a:stretch>
            <a:fillRect/>
          </a:stretch>
        </p:blipFill>
        <p:spPr>
          <a:xfrm rot="48000">
            <a:off x="4572000" y="2103120"/>
            <a:ext cx="3566160" cy="1832636"/>
          </a:xfrm>
          <a:prstGeom prst="rect">
            <a:avLst/>
          </a:prstGeom>
        </p:spPr>
      </p:pic>
      <p:sp>
        <p:nvSpPr>
          <p:cNvPr id="12" name="Shape 7"/>
          <p:cNvSpPr/>
          <p:nvPr/>
        </p:nvSpPr>
        <p:spPr>
          <a:xfrm rot="-132000">
            <a:off x="5943600" y="1920240"/>
            <a:ext cx="822960" cy="246888"/>
          </a:xfrm>
          <a:prstGeom prst="rect">
            <a:avLst/>
          </a:prstGeom>
          <a:solidFill>
            <a:srgbClr val="8EC3F0">
              <a:alpha val="75000"/>
            </a:srgbClr>
          </a:solidFill>
          <a:ln w="12700">
            <a:solidFill>
              <a:srgbClr val="8EC3F0">
                <a:alpha val="0"/>
              </a:srgbClr>
            </a:solidFill>
            <a:prstDash val="solid"/>
          </a:ln>
        </p:spPr>
      </p:sp>
      <p:sp>
        <p:nvSpPr>
          <p:cNvPr id="13" name="Shape 8"/>
          <p:cNvSpPr/>
          <p:nvPr/>
        </p:nvSpPr>
        <p:spPr>
          <a:xfrm rot="-48000">
            <a:off x="8339328" y="2029968"/>
            <a:ext cx="3255264" cy="1459995"/>
          </a:xfrm>
          <a:prstGeom prst="rect">
            <a:avLst/>
          </a:prstGeom>
          <a:solidFill>
            <a:srgbClr val="FFFFFF"/>
          </a:solidFill>
          <a:ln w="6350">
            <a:solidFill>
              <a:srgbClr val="D9D9D9"/>
            </a:solidFill>
            <a:prstDash val="solid"/>
          </a:ln>
          <a:effectLst>
            <a:outerShdw sx="100000" sy="100000" kx="0" ky="0" algn="bl" rotWithShape="0" blurRad="88900" dist="38100" dir="3600000">
              <a:srgbClr val="000000">
                <a:alpha val="28000"/>
              </a:srgbClr>
            </a:outerShdw>
          </a:effectLst>
        </p:spPr>
      </p:sp>
      <p:pic>
        <p:nvPicPr>
          <p:cNvPr id="14" name="Image 3" descr="C:\Users\joshu\Desktop\CloudDevRamo\docs\evidencia\aws-06-autorizador-jwt.png">    </p:cNvPr>
          <p:cNvPicPr>
            <a:picLocks noChangeAspect="1"/>
          </p:cNvPicPr>
          <p:nvPr/>
        </p:nvPicPr>
        <p:blipFill>
          <a:blip r:embed="rId5"/>
          <a:stretch>
            <a:fillRect/>
          </a:stretch>
        </p:blipFill>
        <p:spPr>
          <a:xfrm rot="-48000">
            <a:off x="8412480" y="2103120"/>
            <a:ext cx="3108960" cy="1313691"/>
          </a:xfrm>
          <a:prstGeom prst="rect">
            <a:avLst/>
          </a:prstGeom>
        </p:spPr>
      </p:pic>
      <p:sp>
        <p:nvSpPr>
          <p:cNvPr id="15" name="Shape 9"/>
          <p:cNvSpPr/>
          <p:nvPr/>
        </p:nvSpPr>
        <p:spPr>
          <a:xfrm rot="-228000">
            <a:off x="9555480" y="1920240"/>
            <a:ext cx="822960" cy="246888"/>
          </a:xfrm>
          <a:prstGeom prst="rect">
            <a:avLst/>
          </a:prstGeom>
          <a:solidFill>
            <a:srgbClr val="FFC46B">
              <a:alpha val="75000"/>
            </a:srgbClr>
          </a:solidFill>
          <a:ln w="12700">
            <a:solidFill>
              <a:srgbClr val="FFC46B">
                <a:alpha val="0"/>
              </a:srgbClr>
            </a:solidFill>
            <a:prstDash val="solid"/>
          </a:ln>
        </p:spPr>
      </p:sp>
      <p:sp>
        <p:nvSpPr>
          <p:cNvPr id="16" name="Text 10"/>
          <p:cNvSpPr txBox="1"/>
          <p:nvPr/>
        </p:nvSpPr>
        <p:spPr>
          <a:xfrm>
            <a:off x="731520" y="4206240"/>
            <a:ext cx="3566160" cy="548640"/>
          </a:xfrm>
          <a:prstGeom prst="rect">
            <a:avLst/>
          </a:prstGeom>
          <a:noFill/>
          <a:ln/>
        </p:spPr>
        <p:txBody>
          <a:bodyPr wrap="square" lIns="0" tIns="0" rIns="0" bIns="0" rtlCol="0" anchor="t"/>
          <a:lstStyle/>
          <a:p>
            <a:pPr indent="0" marL="0">
              <a:buNone/>
            </a:pPr>
            <a:r>
              <a:rPr lang="en-US" sz="1350" dirty="0">
                <a:solidFill>
                  <a:srgbClr val="0063B1"/>
                </a:solidFill>
                <a:latin typeface="Ink Free" pitchFamily="34" charset="0"/>
                <a:ea typeface="Ink Free" pitchFamily="34" charset="-122"/>
                <a:cs typeface="Ink Free" pitchFamily="34" charset="-120"/>
              </a:rPr>
              <a:t>Tenant IDaaS con usuarios y roles</a:t>
            </a:r>
            <a:endParaRPr lang="en-US" sz="1350" dirty="0"/>
          </a:p>
        </p:txBody>
      </p:sp>
      <p:sp>
        <p:nvSpPr>
          <p:cNvPr id="17" name="Text 11"/>
          <p:cNvSpPr txBox="1"/>
          <p:nvPr/>
        </p:nvSpPr>
        <p:spPr>
          <a:xfrm>
            <a:off x="4572000" y="4206240"/>
            <a:ext cx="3566160" cy="548640"/>
          </a:xfrm>
          <a:prstGeom prst="rect">
            <a:avLst/>
          </a:prstGeom>
          <a:noFill/>
          <a:ln/>
        </p:spPr>
        <p:txBody>
          <a:bodyPr wrap="square" lIns="0" tIns="0" rIns="0" bIns="0" rtlCol="0" anchor="t"/>
          <a:lstStyle/>
          <a:p>
            <a:pPr indent="0" marL="0">
              <a:buNone/>
            </a:pPr>
            <a:r>
              <a:rPr lang="en-US" sz="1350" dirty="0">
                <a:solidFill>
                  <a:srgbClr val="0063B1"/>
                </a:solidFill>
                <a:latin typeface="Ink Free" pitchFamily="34" charset="0"/>
                <a:ea typeface="Ink Free" pitchFamily="34" charset="-122"/>
                <a:cs typeface="Ink Free" pitchFamily="34" charset="-120"/>
              </a:rPr>
              <a:t>Login OIDC con Authorization Code + PKCE</a:t>
            </a:r>
            <a:endParaRPr lang="en-US" sz="1350" dirty="0"/>
          </a:p>
        </p:txBody>
      </p:sp>
      <p:sp>
        <p:nvSpPr>
          <p:cNvPr id="18" name="Text 12"/>
          <p:cNvSpPr txBox="1"/>
          <p:nvPr/>
        </p:nvSpPr>
        <p:spPr>
          <a:xfrm>
            <a:off x="8412480" y="4206240"/>
            <a:ext cx="3566160" cy="548640"/>
          </a:xfrm>
          <a:prstGeom prst="rect">
            <a:avLst/>
          </a:prstGeom>
          <a:noFill/>
          <a:ln/>
        </p:spPr>
        <p:txBody>
          <a:bodyPr wrap="square" lIns="0" tIns="0" rIns="0" bIns="0" rtlCol="0" anchor="t"/>
          <a:lstStyle/>
          <a:p>
            <a:pPr indent="0" marL="0">
              <a:buNone/>
            </a:pPr>
            <a:r>
              <a:rPr lang="en-US" sz="1350" dirty="0">
                <a:solidFill>
                  <a:srgbClr val="B85F00"/>
                </a:solidFill>
                <a:latin typeface="Ink Free" pitchFamily="34" charset="0"/>
                <a:ea typeface="Ink Free" pitchFamily="34" charset="-122"/>
                <a:cs typeface="Ink Free" pitchFamily="34" charset="-120"/>
              </a:rPr>
              <a:t>API Gateway validando el JWT</a:t>
            </a:r>
            <a:endParaRPr lang="en-US" sz="1350" dirty="0"/>
          </a:p>
        </p:txBody>
      </p:sp>
      <p:sp>
        <p:nvSpPr>
          <p:cNvPr id="19" name="Shape 13"/>
          <p:cNvSpPr/>
          <p:nvPr/>
        </p:nvSpPr>
        <p:spPr>
          <a:xfrm rot="48000">
            <a:off x="731520" y="5029200"/>
            <a:ext cx="10789920" cy="1234440"/>
          </a:xfrm>
          <a:prstGeom prst="rect">
            <a:avLst/>
          </a:prstGeom>
          <a:solidFill>
            <a:srgbClr val="CFE5FA"/>
          </a:solidFill>
          <a:ln w="12700">
            <a:solidFill>
              <a:srgbClr val="CFE5FA"/>
            </a:solidFill>
            <a:prstDash val="solid"/>
          </a:ln>
          <a:effectLst>
            <a:outerShdw sx="100000" sy="100000" kx="0" ky="0" algn="bl" rotWithShape="0" blurRad="101600" dist="50800" dir="3000000">
              <a:srgbClr val="000000">
                <a:alpha val="30000"/>
              </a:srgbClr>
            </a:outerShdw>
          </a:effectLst>
        </p:spPr>
      </p:sp>
      <p:sp>
        <p:nvSpPr>
          <p:cNvPr id="20" name="Text 14"/>
          <p:cNvSpPr txBox="1"/>
          <p:nvPr/>
        </p:nvSpPr>
        <p:spPr>
          <a:xfrm rot="48000">
            <a:off x="896112" y="5138928"/>
            <a:ext cx="10460736" cy="1014984"/>
          </a:xfrm>
          <a:prstGeom prst="rect">
            <a:avLst/>
          </a:prstGeom>
          <a:noFill/>
          <a:ln/>
        </p:spPr>
        <p:txBody>
          <a:bodyPr wrap="square" lIns="0" tIns="0" rIns="0" bIns="0" rtlCol="0" anchor="t"/>
          <a:lstStyle/>
          <a:p>
            <a:pPr indent="0" marL="0">
              <a:buNone/>
            </a:pPr>
            <a:r>
              <a:rPr lang="en-US" sz="1600" b="1" dirty="0">
                <a:solidFill>
                  <a:srgbClr val="3B2F12"/>
                </a:solidFill>
                <a:latin typeface="Ink Free" pitchFamily="34" charset="0"/>
                <a:ea typeface="Ink Free" pitchFamily="34" charset="-122"/>
                <a:cs typeface="Ink Free" pitchFamily="34" charset="-120"/>
              </a:rPr>
              <a:t>Decir</a:t>
            </a:r>
            <a:endParaRPr lang="en-US" sz="1600" dirty="0"/>
          </a:p>
          <a:p>
            <a:pPr indent="0" marL="0">
              <a:spcAft>
                <a:spcPts val="200"/>
              </a:spcAft>
              <a:buNone/>
            </a:pPr>
            <a:r>
              <a:rPr lang="en-US" sz="1400" dirty="0">
                <a:solidFill>
                  <a:srgbClr val="2E2A1E"/>
                </a:solidFill>
                <a:latin typeface="Ink Free" pitchFamily="34" charset="0"/>
                <a:ea typeface="Ink Free" pitchFamily="34" charset="-122"/>
                <a:cs typeface="Ink Free" pitchFamily="34" charset="-120"/>
              </a:rPr>
              <a:t>El token se sigue validando en el gateway y en cada microservicio; los consumidores no exponen HTTP de escritura,</a:t>
            </a:r>
            <a:endParaRPr lang="en-US" sz="1600" dirty="0"/>
          </a:p>
          <a:p>
            <a:pPr indent="0" marL="0">
              <a:spcAft>
                <a:spcPts val="200"/>
              </a:spcAft>
              <a:buNone/>
            </a:pPr>
            <a:r>
              <a:rPr lang="en-US" sz="1400" dirty="0">
                <a:solidFill>
                  <a:srgbClr val="2E2A1E"/>
                </a:solidFill>
                <a:latin typeface="Ink Free" pitchFamily="34" charset="0"/>
                <a:ea typeface="Ink Free" pitchFamily="34" charset="-122"/>
                <a:cs typeface="Ink Free" pitchFamily="34" charset="-120"/>
              </a:rPr>
              <a:t>solo consultan lo que ya generaron. RabbitMQ no abrio ninguna puerta nueva al exterior.</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0607040" y="6419088"/>
            <a:ext cx="1005840" cy="292608"/>
          </a:xfrm>
          <a:prstGeom prst="rect">
            <a:avLst/>
          </a:prstGeom>
          <a:noFill/>
          <a:ln/>
        </p:spPr>
        <p:txBody>
          <a:bodyPr wrap="square" lIns="0" tIns="0" rIns="0" bIns="0" rtlCol="0" anchor="ctr"/>
          <a:lstStyle/>
          <a:p>
            <a:pPr algn="r" indent="0" marL="0">
              <a:buNone/>
            </a:pPr>
            <a:r>
              <a:rPr lang="en-US" sz="1100" dirty="0">
                <a:solidFill>
                  <a:srgbClr val="5B6578"/>
                </a:solidFill>
                <a:latin typeface="Ink Free" pitchFamily="34" charset="0"/>
                <a:ea typeface="Ink Free" pitchFamily="34" charset="-122"/>
                <a:cs typeface="Ink Free" pitchFamily="34" charset="-120"/>
              </a:rPr>
              <a:t>13 / 13</a:t>
            </a:r>
            <a:endParaRPr lang="en-US" sz="1100" dirty="0"/>
          </a:p>
        </p:txBody>
      </p:sp>
      <p:pic>
        <p:nvPicPr>
          <p:cNvPr id="3" name="Image 0" descr="C:\Users\joshu\AppData\Local\Temp\claude\C--Users-joshu-Desktop-CloudDevRamo\d162bf51-ad36-4a2b-981d-7f5a95d9a76d\scratchpad\ppt4\capas\s13.png">    </p:cNvPr>
          <p:cNvPicPr>
            <a:picLocks noChangeAspect="1"/>
          </p:cNvPicPr>
          <p:nvPr/>
        </p:nvPicPr>
        <p:blipFill>
          <a:blip r:embed="rId2"/>
          <a:stretch>
            <a:fillRect/>
          </a:stretch>
        </p:blipFill>
        <p:spPr>
          <a:xfrm>
            <a:off x="0" y="0"/>
            <a:ext cx="12191695" cy="6858000"/>
          </a:xfrm>
          <a:prstGeom prst="rect">
            <a:avLst/>
          </a:prstGeom>
        </p:spPr>
      </p:pic>
      <p:sp>
        <p:nvSpPr>
          <p:cNvPr id="4" name="Text 1"/>
          <p:cNvSpPr txBox="1"/>
          <p:nvPr/>
        </p:nvSpPr>
        <p:spPr>
          <a:xfrm>
            <a:off x="731520" y="731520"/>
            <a:ext cx="7315200" cy="914400"/>
          </a:xfrm>
          <a:prstGeom prst="rect">
            <a:avLst/>
          </a:prstGeom>
          <a:noFill/>
          <a:ln/>
        </p:spPr>
        <p:txBody>
          <a:bodyPr wrap="square" lIns="0" tIns="0" rIns="0" bIns="0" rtlCol="0" anchor="t"/>
          <a:lstStyle/>
          <a:p>
            <a:pPr indent="0" marL="0">
              <a:buNone/>
            </a:pPr>
            <a:r>
              <a:rPr lang="en-US" sz="4600" dirty="0">
                <a:solidFill>
                  <a:srgbClr val="1B2B4B"/>
                </a:solidFill>
                <a:latin typeface="Ink Free" pitchFamily="34" charset="0"/>
                <a:ea typeface="Ink Free" pitchFamily="34" charset="-122"/>
                <a:cs typeface="Ink Free" pitchFamily="34" charset="-120"/>
              </a:rPr>
              <a:t>En resumen</a:t>
            </a:r>
            <a:endParaRPr lang="en-US" sz="4600" dirty="0"/>
          </a:p>
        </p:txBody>
      </p:sp>
      <p:sp>
        <p:nvSpPr>
          <p:cNvPr id="5" name="Text 2"/>
          <p:cNvSpPr txBox="1"/>
          <p:nvPr/>
        </p:nvSpPr>
        <p:spPr>
          <a:xfrm>
            <a:off x="758952" y="1828800"/>
            <a:ext cx="457200" cy="502920"/>
          </a:xfrm>
          <a:prstGeom prst="rect">
            <a:avLst/>
          </a:prstGeom>
          <a:noFill/>
          <a:ln/>
        </p:spPr>
        <p:txBody>
          <a:bodyPr wrap="square" lIns="0" tIns="0" rIns="0" bIns="0" rtlCol="0" anchor="t"/>
          <a:lstStyle/>
          <a:p>
            <a:pPr algn="ctr" indent="0" marL="0">
              <a:buNone/>
            </a:pPr>
            <a:r>
              <a:rPr lang="en-US" sz="2200" dirty="0">
                <a:solidFill>
                  <a:srgbClr val="C24E00"/>
                </a:solidFill>
                <a:latin typeface="Ink Free" pitchFamily="34" charset="0"/>
                <a:ea typeface="Ink Free" pitchFamily="34" charset="-122"/>
                <a:cs typeface="Ink Free" pitchFamily="34" charset="-120"/>
              </a:rPr>
              <a:t>1</a:t>
            </a:r>
            <a:endParaRPr lang="en-US" sz="2200" dirty="0"/>
          </a:p>
        </p:txBody>
      </p:sp>
      <p:sp>
        <p:nvSpPr>
          <p:cNvPr id="6" name="Text 3"/>
          <p:cNvSpPr txBox="1"/>
          <p:nvPr/>
        </p:nvSpPr>
        <p:spPr>
          <a:xfrm>
            <a:off x="1417320" y="1810512"/>
            <a:ext cx="9601200" cy="548640"/>
          </a:xfrm>
          <a:prstGeom prst="rect">
            <a:avLst/>
          </a:prstGeom>
          <a:noFill/>
          <a:ln/>
        </p:spPr>
        <p:txBody>
          <a:bodyPr wrap="square" lIns="0" tIns="0" rIns="0" bIns="0" rtlCol="0" anchor="ctr"/>
          <a:lstStyle/>
          <a:p>
            <a:pPr indent="0" marL="0">
              <a:buNone/>
            </a:pPr>
            <a:r>
              <a:rPr lang="en-US" sz="2200" dirty="0">
                <a:solidFill>
                  <a:srgbClr val="C24E00"/>
                </a:solidFill>
                <a:latin typeface="Ink Free" pitchFamily="34" charset="0"/>
                <a:ea typeface="Ink Free" pitchFamily="34" charset="-122"/>
                <a:cs typeface="Ink Free" pitchFamily="34" charset="-120"/>
              </a:rPr>
              <a:t>Desacoplado de verdad  </a:t>
            </a:r>
            <a:pPr indent="0" marL="0">
              <a:buNone/>
            </a:pPr>
            <a:r>
              <a:rPr lang="en-US" sz="1400" dirty="0">
                <a:solidFill>
                  <a:srgbClr val="1B2B4B"/>
                </a:solidFill>
                <a:latin typeface="Segoe UI" pitchFamily="34" charset="0"/>
                <a:ea typeface="Segoe UI" pitchFamily="34" charset="-122"/>
                <a:cs typeface="Segoe UI" pitchFamily="34" charset="-120"/>
              </a:rPr>
              <a:t>el pedido responde solo; los avisos y tickets viajan por la cola.</a:t>
            </a:r>
            <a:endParaRPr lang="en-US" sz="2200" dirty="0"/>
          </a:p>
        </p:txBody>
      </p:sp>
      <p:sp>
        <p:nvSpPr>
          <p:cNvPr id="7" name="Text 4"/>
          <p:cNvSpPr txBox="1"/>
          <p:nvPr/>
        </p:nvSpPr>
        <p:spPr>
          <a:xfrm>
            <a:off x="758952" y="2697480"/>
            <a:ext cx="457200" cy="502920"/>
          </a:xfrm>
          <a:prstGeom prst="rect">
            <a:avLst/>
          </a:prstGeom>
          <a:noFill/>
          <a:ln/>
        </p:spPr>
        <p:txBody>
          <a:bodyPr wrap="square" lIns="0" tIns="0" rIns="0" bIns="0" rtlCol="0" anchor="t"/>
          <a:lstStyle/>
          <a:p>
            <a:pPr algn="ctr" indent="0" marL="0">
              <a:buNone/>
            </a:pPr>
            <a:r>
              <a:rPr lang="en-US" sz="2200" dirty="0">
                <a:solidFill>
                  <a:srgbClr val="1E8A57"/>
                </a:solidFill>
                <a:latin typeface="Ink Free" pitchFamily="34" charset="0"/>
                <a:ea typeface="Ink Free" pitchFamily="34" charset="-122"/>
                <a:cs typeface="Ink Free" pitchFamily="34" charset="-120"/>
              </a:rPr>
              <a:t>2</a:t>
            </a:r>
            <a:endParaRPr lang="en-US" sz="2200" dirty="0"/>
          </a:p>
        </p:txBody>
      </p:sp>
      <p:sp>
        <p:nvSpPr>
          <p:cNvPr id="8" name="Text 5"/>
          <p:cNvSpPr txBox="1"/>
          <p:nvPr/>
        </p:nvSpPr>
        <p:spPr>
          <a:xfrm>
            <a:off x="1417320" y="2679192"/>
            <a:ext cx="9601200" cy="548640"/>
          </a:xfrm>
          <a:prstGeom prst="rect">
            <a:avLst/>
          </a:prstGeom>
          <a:noFill/>
          <a:ln/>
        </p:spPr>
        <p:txBody>
          <a:bodyPr wrap="square" lIns="0" tIns="0" rIns="0" bIns="0" rtlCol="0" anchor="ctr"/>
          <a:lstStyle/>
          <a:p>
            <a:pPr indent="0" marL="0">
              <a:buNone/>
            </a:pPr>
            <a:r>
              <a:rPr lang="en-US" sz="2200" dirty="0">
                <a:solidFill>
                  <a:srgbClr val="1E8A57"/>
                </a:solidFill>
                <a:latin typeface="Ink Free" pitchFamily="34" charset="0"/>
                <a:ea typeface="Ink Free" pitchFamily="34" charset="-122"/>
                <a:cs typeface="Ink Free" pitchFamily="34" charset="-120"/>
              </a:rPr>
              <a:t>Ningun mensaje se pierde  </a:t>
            </a:r>
            <a:pPr indent="0" marL="0">
              <a:buNone/>
            </a:pPr>
            <a:r>
              <a:rPr lang="en-US" sz="1400" dirty="0">
                <a:solidFill>
                  <a:srgbClr val="1B2B4B"/>
                </a:solidFill>
                <a:latin typeface="Segoe UI" pitchFamily="34" charset="0"/>
                <a:ea typeface="Segoe UI" pitchFamily="34" charset="-122"/>
                <a:cs typeface="Segoe UI" pitchFamily="34" charset="-120"/>
              </a:rPr>
              <a:t>ACK manual, tres intentos y DLQ por cola, con el motivo registrado.</a:t>
            </a:r>
            <a:endParaRPr lang="en-US" sz="2200" dirty="0"/>
          </a:p>
        </p:txBody>
      </p:sp>
      <p:sp>
        <p:nvSpPr>
          <p:cNvPr id="9" name="Text 6"/>
          <p:cNvSpPr txBox="1"/>
          <p:nvPr/>
        </p:nvSpPr>
        <p:spPr>
          <a:xfrm>
            <a:off x="758952" y="3566160"/>
            <a:ext cx="457200" cy="502920"/>
          </a:xfrm>
          <a:prstGeom prst="rect">
            <a:avLst/>
          </a:prstGeom>
          <a:noFill/>
          <a:ln/>
        </p:spPr>
        <p:txBody>
          <a:bodyPr wrap="square" lIns="0" tIns="0" rIns="0" bIns="0" rtlCol="0" anchor="t"/>
          <a:lstStyle/>
          <a:p>
            <a:pPr algn="ctr" indent="0" marL="0">
              <a:buNone/>
            </a:pPr>
            <a:r>
              <a:rPr lang="en-US" sz="2200" dirty="0">
                <a:solidFill>
                  <a:srgbClr val="0063B1"/>
                </a:solidFill>
                <a:latin typeface="Ink Free" pitchFamily="34" charset="0"/>
                <a:ea typeface="Ink Free" pitchFamily="34" charset="-122"/>
                <a:cs typeface="Ink Free" pitchFamily="34" charset="-120"/>
              </a:rPr>
              <a:t>3</a:t>
            </a:r>
            <a:endParaRPr lang="en-US" sz="2200" dirty="0"/>
          </a:p>
        </p:txBody>
      </p:sp>
      <p:sp>
        <p:nvSpPr>
          <p:cNvPr id="10" name="Text 7"/>
          <p:cNvSpPr txBox="1"/>
          <p:nvPr/>
        </p:nvSpPr>
        <p:spPr>
          <a:xfrm>
            <a:off x="1417320" y="3547872"/>
            <a:ext cx="9601200" cy="548640"/>
          </a:xfrm>
          <a:prstGeom prst="rect">
            <a:avLst/>
          </a:prstGeom>
          <a:noFill/>
          <a:ln/>
        </p:spPr>
        <p:txBody>
          <a:bodyPr wrap="square" lIns="0" tIns="0" rIns="0" bIns="0" rtlCol="0" anchor="ctr"/>
          <a:lstStyle/>
          <a:p>
            <a:pPr indent="0" marL="0">
              <a:buNone/>
            </a:pPr>
            <a:r>
              <a:rPr lang="en-US" sz="2200" dirty="0">
                <a:solidFill>
                  <a:srgbClr val="0063B1"/>
                </a:solidFill>
                <a:latin typeface="Ink Free" pitchFamily="34" charset="0"/>
                <a:ea typeface="Ink Free" pitchFamily="34" charset="-122"/>
                <a:cs typeface="Ink Free" pitchFamily="34" charset="-120"/>
              </a:rPr>
              <a:t>Configuracion en un solo lugar  </a:t>
            </a:r>
            <a:pPr indent="0" marL="0">
              <a:buNone/>
            </a:pPr>
            <a:r>
              <a:rPr lang="en-US" sz="1400" dirty="0">
                <a:solidFill>
                  <a:srgbClr val="1B2B4B"/>
                </a:solidFill>
                <a:latin typeface="Segoe UI" pitchFamily="34" charset="0"/>
                <a:ea typeface="Segoe UI" pitchFamily="34" charset="-122"/>
                <a:cs typeface="Segoe UI" pitchFamily="34" charset="-120"/>
              </a:rPr>
              <a:t>nombres en el yml, topologia en beans, negocio sin saber de colas.</a:t>
            </a:r>
            <a:endParaRPr lang="en-US" sz="2200" dirty="0"/>
          </a:p>
        </p:txBody>
      </p:sp>
      <p:sp>
        <p:nvSpPr>
          <p:cNvPr id="11" name="Text 8"/>
          <p:cNvSpPr txBox="1"/>
          <p:nvPr/>
        </p:nvSpPr>
        <p:spPr>
          <a:xfrm>
            <a:off x="7680960" y="3520440"/>
            <a:ext cx="3931920" cy="822960"/>
          </a:xfrm>
          <a:prstGeom prst="rect">
            <a:avLst/>
          </a:prstGeom>
          <a:noFill/>
          <a:ln/>
        </p:spPr>
        <p:txBody>
          <a:bodyPr wrap="square" lIns="0" tIns="0" rIns="0" bIns="0" rtlCol="0" anchor="t"/>
          <a:lstStyle/>
          <a:p>
            <a:pPr algn="r" indent="0" marL="0">
              <a:buNone/>
            </a:pPr>
            <a:r>
              <a:rPr lang="en-US" sz="4400" dirty="0">
                <a:solidFill>
                  <a:srgbClr val="D6453D"/>
                </a:solidFill>
                <a:latin typeface="Ink Free" pitchFamily="34" charset="0"/>
                <a:ea typeface="Ink Free" pitchFamily="34" charset="-122"/>
                <a:cs typeface="Ink Free" pitchFamily="34" charset="-120"/>
              </a:rPr>
              <a:t>¿Preguntas?</a:t>
            </a:r>
            <a:endParaRPr lang="en-US"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Pedidos360 - EP4 Mensajeria con RabbitMQ</dc:title>
  <dc:subject>PptxGenJS Presentation</dc:subject>
  <dc:creator>Joshua Mardones, Sofía Troncoso</dc:creator>
  <cp:lastModifiedBy>Joshua Mardones, Sofía Troncoso</cp:lastModifiedBy>
  <cp:revision>1</cp:revision>
  <dcterms:created xsi:type="dcterms:W3CDTF">2026-10-26T18:45:59Z</dcterms:created>
  <dcterms:modified xsi:type="dcterms:W3CDTF">2026-10-26T18:45:59Z</dcterms:modified>
</cp:coreProperties>
</file>